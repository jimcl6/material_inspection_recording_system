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94" autoAdjust="0"/>
  </p:normalViewPr>
  <p:slideViewPr>
    <p:cSldViewPr snapToGrid="0">
      <p:cViewPr varScale="1">
        <p:scale>
          <a:sx n="83" d="100"/>
          <a:sy n="83" d="100"/>
        </p:scale>
        <p:origin x="10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D9F3EE"/>
                </a:solidFill>
                <a:latin typeface="Aptos"/>
                <a:ea typeface="Aptos"/>
                <a:cs typeface="Aptos"/>
              </a:rPr>
              <a:t>Management takeaway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app is a control system for quality records, not just a storage system.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Management deletion is implemented as account deactivation: the user status becomes inactive and QR access is disabled. This protects historical accountability instead of removing the person from past records.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Recommendation: keep MIRS LAN-only unless management formally approves VPN or zero-trust remote access. Do not expose it directly to the public internet.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Outcome: evidence-based readiness decision before company-wide rollout.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9995A2A-E7BA-4FB6-91F6-CE5550FF4B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6D00E-83C6-47F8-8B06-2298255C25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1B31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778E78-DC7A-422C-8637-16FE7DC4D8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9F3EE"/>
                </a:solidFill>
                <a:latin typeface="Aptos"/>
                <a:ea typeface="Aptos"/>
                <a:cs typeface="Aptos"/>
              </a:rPr>
              <a:t>MANAGEMENT 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DCF2AC-9C8C-4EF1-8B44-9B2DCAEF150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6858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4350" b="1" i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Inspection </a:t>
            </a:r>
            <a:r>
              <a:rPr lang="en-US" sz="4350" b="1" i="0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Checksheet</a:t>
            </a:r>
            <a:endParaRPr sz="4350" b="1" i="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buNone/>
              <a:def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Recording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376B3-7648-4474-ACD7-10B23B90177F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619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 i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Internal web application for controlled inspection records, approval workflows, user accountability, and audit-ready operational data.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2728C4-8689-466B-BE09-D4879ECC433C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1123950" cy="304800"/>
          </a:xfrm>
          <a:prstGeom prst="roundRect">
            <a:avLst>
              <a:gd name="adj" fmla="val 37500"/>
            </a:avLst>
          </a:prstGeom>
          <a:solidFill>
            <a:srgbClr val="D9F3EE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0DC77-B711-481B-BBD2-02883A80ACE5}"/>
              </a:ext>
            </a:extLst>
          </p:cNvPr>
          <p:cNvSpPr>
            <a:spLocks noGrp="1"/>
          </p:cNvSpPr>
          <p:nvPr/>
        </p:nvSpPr>
        <p:spPr>
          <a:xfrm>
            <a:off x="876300" y="435292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Laravel 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DA2F71-1AC5-40F2-9F24-A86E4ED0CC64}"/>
              </a:ext>
            </a:extLst>
          </p:cNvPr>
          <p:cNvSpPr>
            <a:spLocks noGrp="1"/>
          </p:cNvSpPr>
          <p:nvPr/>
        </p:nvSpPr>
        <p:spPr>
          <a:xfrm>
            <a:off x="2019300" y="4286250"/>
            <a:ext cx="1504950" cy="30480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094870-B31E-444E-AE0A-7A37DDDD6070}"/>
              </a:ext>
            </a:extLst>
          </p:cNvPr>
          <p:cNvSpPr>
            <a:spLocks noGrp="1"/>
          </p:cNvSpPr>
          <p:nvPr/>
        </p:nvSpPr>
        <p:spPr>
          <a:xfrm>
            <a:off x="2152650" y="435292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Inertia + Vue 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770D3D-293C-475F-9A10-E58D00D31B89}"/>
              </a:ext>
            </a:extLst>
          </p:cNvPr>
          <p:cNvSpPr>
            <a:spLocks noGrp="1"/>
          </p:cNvSpPr>
          <p:nvPr/>
        </p:nvSpPr>
        <p:spPr>
          <a:xfrm>
            <a:off x="3676650" y="4286250"/>
            <a:ext cx="876300" cy="304800"/>
          </a:xfrm>
          <a:prstGeom prst="roundRect">
            <a:avLst>
              <a:gd name="adj" fmla="val 37500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A5DC10-47E6-4C74-9B00-DB52EAC32061}"/>
              </a:ext>
            </a:extLst>
          </p:cNvPr>
          <p:cNvSpPr>
            <a:spLocks noGrp="1"/>
          </p:cNvSpPr>
          <p:nvPr/>
        </p:nvSpPr>
        <p:spPr>
          <a:xfrm>
            <a:off x="3810000" y="4352925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 i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2400E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F76091-7D8B-4EBD-A565-02CFC844858D}"/>
              </a:ext>
            </a:extLst>
          </p:cNvPr>
          <p:cNvSpPr>
            <a:spLocks noGrp="1"/>
          </p:cNvSpPr>
          <p:nvPr/>
        </p:nvSpPr>
        <p:spPr>
          <a:xfrm>
            <a:off x="4705350" y="4286250"/>
            <a:ext cx="1066800" cy="304800"/>
          </a:xfrm>
          <a:prstGeom prst="roundRect">
            <a:avLst>
              <a:gd name="adj" fmla="val 37500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33EFD2-D4C2-484A-A941-0B0EE5A3D168}"/>
              </a:ext>
            </a:extLst>
          </p:cNvPr>
          <p:cNvSpPr>
            <a:spLocks noGrp="1"/>
          </p:cNvSpPr>
          <p:nvPr/>
        </p:nvSpPr>
        <p:spPr>
          <a:xfrm>
            <a:off x="4838700" y="435292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LAN-ready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12B05C-D9F7-448F-BD3F-EEB8C012A703}"/>
              </a:ext>
            </a:extLst>
          </p:cNvPr>
          <p:cNvSpPr>
            <a:spLocks noGrp="1"/>
          </p:cNvSpPr>
          <p:nvPr/>
        </p:nvSpPr>
        <p:spPr>
          <a:xfrm>
            <a:off x="7620000" y="1352550"/>
            <a:ext cx="3200400" cy="3695700"/>
          </a:xfrm>
          <a:prstGeom prst="roundRect">
            <a:avLst>
              <a:gd name="adj" fmla="val 2381"/>
            </a:avLst>
          </a:prstGeom>
          <a:solidFill>
            <a:srgbClr val="16233A"/>
          </a:solidFill>
          <a:ln w="9525">
            <a:solidFill>
              <a:srgbClr val="273A5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E5BD6E-842D-45AD-8AEA-232FE0074518}"/>
              </a:ext>
            </a:extLst>
          </p:cNvPr>
          <p:cNvSpPr>
            <a:spLocks noGrp="1"/>
          </p:cNvSpPr>
          <p:nvPr/>
        </p:nvSpPr>
        <p:spPr>
          <a:xfrm>
            <a:off x="7943850" y="1714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F3EE"/>
                </a:solidFill>
                <a:latin typeface="Aptos"/>
                <a:ea typeface="Aptos"/>
                <a:cs typeface="Aptos"/>
              </a:rPr>
              <a:t>The message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4FBE60-265B-4F32-96CB-410F3822056B}"/>
              </a:ext>
            </a:extLst>
          </p:cNvPr>
          <p:cNvSpPr>
            <a:spLocks noGrp="1"/>
          </p:cNvSpPr>
          <p:nvPr/>
        </p:nvSpPr>
        <p:spPr>
          <a:xfrm>
            <a:off x="7943850" y="2152650"/>
            <a:ext cx="23622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MIRS turns inspection work from scattered records into a controlled, searchable, permission-based company system.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3B8696-BC8C-4607-B051-C54BE9651ADD}"/>
              </a:ext>
            </a:extLst>
          </p:cNvPr>
          <p:cNvSpPr>
            <a:spLocks noGrp="1"/>
          </p:cNvSpPr>
          <p:nvPr/>
        </p:nvSpPr>
        <p:spPr>
          <a:xfrm>
            <a:off x="7943850" y="3905250"/>
            <a:ext cx="23622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Focus of this deck: purpose, features, controls, rollout, and management questions.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22D071-A6DF-4A54-91CF-DFB423AC184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Prepared for HPI internal management discussion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90369B5-BDDA-4417-9C53-32BEC0186D12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2895600" cy="2724150"/>
          </a:xfrm>
          <a:prstGeom prst="roundRect">
            <a:avLst>
              <a:gd name="adj" fmla="val 2797"/>
            </a:avLst>
          </a:prstGeom>
          <a:solidFill>
            <a:srgbClr val="16233A"/>
          </a:solidFill>
          <a:ln w="0">
            <a:solidFill>
              <a:srgbClr val="273A5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DB6EDD-AC44-4101-8A8A-CFFB2DC347DA}"/>
              </a:ext>
            </a:extLst>
          </p:cNvPr>
          <p:cNvSpPr>
            <a:spLocks noGrp="1"/>
          </p:cNvSpPr>
          <p:nvPr/>
        </p:nvSpPr>
        <p:spPr>
          <a:xfrm>
            <a:off x="8058150" y="2343150"/>
            <a:ext cx="23241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87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ICRS </a:t>
            </a:r>
            <a:r>
              <a:rPr sz="187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centralizes inspection work into a controlled, searchable system.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998059-A8FA-43F2-9CAF-7B853F5FB5EB}"/>
              </a:ext>
            </a:extLst>
          </p:cNvPr>
          <p:cNvSpPr>
            <a:spLocks noGrp="1"/>
          </p:cNvSpPr>
          <p:nvPr/>
        </p:nvSpPr>
        <p:spPr>
          <a:xfrm>
            <a:off x="8058150" y="3657600"/>
            <a:ext cx="838200" cy="285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F4026E-6650-4492-B66E-32EAD5D0D971}"/>
              </a:ext>
            </a:extLst>
          </p:cNvPr>
          <p:cNvSpPr>
            <a:spLocks noGrp="1"/>
          </p:cNvSpPr>
          <p:nvPr/>
        </p:nvSpPr>
        <p:spPr>
          <a:xfrm>
            <a:off x="8058150" y="3905250"/>
            <a:ext cx="2324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Focus of this deck: purpose, features, controls, rollout, and management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447674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AEC2BEF-70F8-4D8A-BB59-6B5FCCC6A3A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80843F-6875-4110-A72C-5F2D8683D1E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operational problem </a:t>
            </a:r>
            <a:r>
              <a:rPr lang="en-US" sz="2550" b="1" i="0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ICRS</a:t>
            </a:r>
            <a:r>
              <a:rPr sz="2550" b="1" i="0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 is designed to solve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920F5-6112-4AE3-83F7-A597BC045BD0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Management does not need another data entry screen. It needs reliable inspection records that can be found, reviewed, governed, and trusted.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82CB2F-2316-455F-A6D5-F0FE8583752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238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7DBB1-53A3-4788-8CA2-ADE9D755FB2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7150" cy="161925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431D27-425B-446B-B2E1-5AF95EF55AE4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Scattered records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40A03-094C-4DE7-918A-FA4660CCF986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Inspection data can be difficult to trace when it lives across paper, spreadsheets, or separate local files.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B32FD3-91D2-4295-BED0-FAB7B4DEA280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3238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7E706-2031-4487-9377-1102ADA4A87B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57150" cy="16192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2BA7AC-8166-4500-961C-0D891B18537B}"/>
              </a:ext>
            </a:extLst>
          </p:cNvPr>
          <p:cNvSpPr>
            <a:spLocks noGrp="1"/>
          </p:cNvSpPr>
          <p:nvPr/>
        </p:nvSpPr>
        <p:spPr>
          <a:xfrm>
            <a:off x="4705350" y="23050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Slow review cycle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12FC7E-D2D8-4814-847D-F611A8AE6B2D}"/>
              </a:ext>
            </a:extLst>
          </p:cNvPr>
          <p:cNvSpPr>
            <a:spLocks noGrp="1"/>
          </p:cNvSpPr>
          <p:nvPr/>
        </p:nvSpPr>
        <p:spPr>
          <a:xfrm>
            <a:off x="4705350" y="26479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Pending items, approvals, and rejections need a consistent workflow instead of manual follow-up.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5DFF5C-3133-4BDC-B839-655AE9A07EF1}"/>
              </a:ext>
            </a:extLst>
          </p:cNvPr>
          <p:cNvSpPr>
            <a:spLocks noGrp="1"/>
          </p:cNvSpPr>
          <p:nvPr/>
        </p:nvSpPr>
        <p:spPr>
          <a:xfrm>
            <a:off x="8267700" y="2095500"/>
            <a:ext cx="3238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93CDDD-5539-4C2F-B99C-662E1243048A}"/>
              </a:ext>
            </a:extLst>
          </p:cNvPr>
          <p:cNvSpPr>
            <a:spLocks noGrp="1"/>
          </p:cNvSpPr>
          <p:nvPr/>
        </p:nvSpPr>
        <p:spPr>
          <a:xfrm>
            <a:off x="8267700" y="2095500"/>
            <a:ext cx="57150" cy="16192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078738-DBA0-4FF4-931A-563DF578A3F1}"/>
              </a:ext>
            </a:extLst>
          </p:cNvPr>
          <p:cNvSpPr>
            <a:spLocks noGrp="1"/>
          </p:cNvSpPr>
          <p:nvPr/>
        </p:nvSpPr>
        <p:spPr>
          <a:xfrm>
            <a:off x="8496300" y="23050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Access risk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1E0645-9DA1-4125-A698-0817AAC5EB38}"/>
              </a:ext>
            </a:extLst>
          </p:cNvPr>
          <p:cNvSpPr>
            <a:spLocks noGrp="1"/>
          </p:cNvSpPr>
          <p:nvPr/>
        </p:nvSpPr>
        <p:spPr>
          <a:xfrm>
            <a:off x="8496300" y="26479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Different users should only see and change the modules and actions that match their role.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B875CD-65F2-40E7-BD4A-24DB9D04DF6F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76200" cy="7620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D374C5-8716-4575-B287-F31E015B3FBB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lang="en-US" sz="1350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ICRS</a:t>
            </a:r>
            <a:r>
              <a:rPr sz="1350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centralizes inspection records into one authenticated web application.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ACBBB29-BE9A-4EF2-99E9-4E93E51CC18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76200" cy="7620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C2A5D7-F72F-4C7C-83B6-EEAC09FB5BEB}"/>
              </a:ext>
            </a:extLst>
          </p:cNvPr>
          <p:cNvSpPr>
            <a:spLocks noGrp="1"/>
          </p:cNvSpPr>
          <p:nvPr/>
        </p:nvSpPr>
        <p:spPr>
          <a:xfrm>
            <a:off x="1066800" y="464820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gives supervisors a structured approval path for selected checksheets.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E4054A-B3B1-4BEA-AC38-962CAFCAC1DB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76200" cy="7620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A067E4-854F-4D3D-8100-73A5BFD13192}"/>
              </a:ext>
            </a:extLst>
          </p:cNvPr>
          <p:cNvSpPr>
            <a:spLocks noGrp="1"/>
          </p:cNvSpPr>
          <p:nvPr/>
        </p:nvSpPr>
        <p:spPr>
          <a:xfrm>
            <a:off x="1066800" y="5048250"/>
            <a:ext cx="704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keeps administrative control over users, departments, positions, roles, and activity logs.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A37F56-E16F-4C9E-AD9F-E79F47DABD61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52858B-6A61-403A-9BFB-BB8C1B4FEC0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EAB9F2-D7FE-4010-BB94-269F25F1E5D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181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1B152A6-B82C-4E68-B5D3-AC9A75DBC21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20F8DD-6482-41F4-A18E-9B9BE09E282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What the application covers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4D8A4-E53C-4F62-A950-04EF3FA85375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Navigation and route inspection show a focused system for inspection records, approval work, user administration, and audit review.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23E4BD-B807-4685-9556-AFE2C5FD15EE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419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1FA4E2-F6DA-4749-82E6-953D0C3FEA36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361950" cy="361950"/>
          </a:xfrm>
          <a:prstGeom prst="ellipse">
            <a:avLst/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6100D-07EF-440E-B8FD-15196265AAA8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A87D4-469A-4859-84CB-9FC73CB2F18E}"/>
              </a:ext>
            </a:extLst>
          </p:cNvPr>
          <p:cNvSpPr>
            <a:spLocks noGrp="1"/>
          </p:cNvSpPr>
          <p:nvPr/>
        </p:nvSpPr>
        <p:spPr>
          <a:xfrm>
            <a:off x="1371600" y="22479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Annealing Checks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94F42B-2C7A-4E1D-8937-E59D9335B4E4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Create, import, review, approve or reject checks.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8628BB-D64F-4AC3-955D-8D725908E816}"/>
              </a:ext>
            </a:extLst>
          </p:cNvPr>
          <p:cNvSpPr>
            <a:spLocks noGrp="1"/>
          </p:cNvSpPr>
          <p:nvPr/>
        </p:nvSpPr>
        <p:spPr>
          <a:xfrm>
            <a:off x="3409950" y="2038350"/>
            <a:ext cx="2419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C99564-4261-47A1-8B41-38DA59D2C142}"/>
              </a:ext>
            </a:extLst>
          </p:cNvPr>
          <p:cNvSpPr>
            <a:spLocks noGrp="1"/>
          </p:cNvSpPr>
          <p:nvPr/>
        </p:nvSpPr>
        <p:spPr>
          <a:xfrm>
            <a:off x="3600450" y="2247900"/>
            <a:ext cx="361950" cy="361950"/>
          </a:xfrm>
          <a:prstGeom prst="ellipse">
            <a:avLst/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DFF3B-F965-4460-BF04-93CE99DC0B50}"/>
              </a:ext>
            </a:extLst>
          </p:cNvPr>
          <p:cNvSpPr>
            <a:spLocks noGrp="1"/>
          </p:cNvSpPr>
          <p:nvPr/>
        </p:nvSpPr>
        <p:spPr>
          <a:xfrm>
            <a:off x="3600450" y="23241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97B076-FCA1-4A36-8438-A322C211644A}"/>
              </a:ext>
            </a:extLst>
          </p:cNvPr>
          <p:cNvSpPr>
            <a:spLocks noGrp="1"/>
          </p:cNvSpPr>
          <p:nvPr/>
        </p:nvSpPr>
        <p:spPr>
          <a:xfrm>
            <a:off x="4095750" y="22479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Temperature Records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7F9C31-63E8-4179-AA94-B27448810DA9}"/>
              </a:ext>
            </a:extLst>
          </p:cNvPr>
          <p:cNvSpPr>
            <a:spLocks noGrp="1"/>
          </p:cNvSpPr>
          <p:nvPr/>
        </p:nvSpPr>
        <p:spPr>
          <a:xfrm>
            <a:off x="3638550" y="27241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Record and import temperature readings.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9922A1-9E0B-4942-9F84-6C861C0399E3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2419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29DBF4-2B51-4161-B40F-F03371B2B9D5}"/>
              </a:ext>
            </a:extLst>
          </p:cNvPr>
          <p:cNvSpPr>
            <a:spLocks noGrp="1"/>
          </p:cNvSpPr>
          <p:nvPr/>
        </p:nvSpPr>
        <p:spPr>
          <a:xfrm>
            <a:off x="6324600" y="2247900"/>
            <a:ext cx="361950" cy="361950"/>
          </a:xfrm>
          <a:prstGeom prst="ellipse">
            <a:avLst/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413DA2-72D8-44F3-8D50-05F47BF27D9A}"/>
              </a:ext>
            </a:extLst>
          </p:cNvPr>
          <p:cNvSpPr>
            <a:spLocks noGrp="1"/>
          </p:cNvSpPr>
          <p:nvPr/>
        </p:nvSpPr>
        <p:spPr>
          <a:xfrm>
            <a:off x="6324600" y="23241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433211-4118-49B8-A171-56223A9D3A2B}"/>
              </a:ext>
            </a:extLst>
          </p:cNvPr>
          <p:cNvSpPr>
            <a:spLocks noGrp="1"/>
          </p:cNvSpPr>
          <p:nvPr/>
        </p:nvSpPr>
        <p:spPr>
          <a:xfrm>
            <a:off x="6819900" y="22479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Torque Records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F1BFA5-61BE-4539-9123-0C7BE489C97E}"/>
              </a:ext>
            </a:extLst>
          </p:cNvPr>
          <p:cNvSpPr>
            <a:spLocks noGrp="1"/>
          </p:cNvSpPr>
          <p:nvPr/>
        </p:nvSpPr>
        <p:spPr>
          <a:xfrm>
            <a:off x="6362700" y="27241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Track torque measurements, import, export.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3F6D13E-930A-4DAB-9FD1-43F1F3239CE3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419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862F95-1CBC-4B53-BB1D-A3716C8A5C8C}"/>
              </a:ext>
            </a:extLst>
          </p:cNvPr>
          <p:cNvSpPr>
            <a:spLocks noGrp="1"/>
          </p:cNvSpPr>
          <p:nvPr/>
        </p:nvSpPr>
        <p:spPr>
          <a:xfrm>
            <a:off x="9048750" y="2247900"/>
            <a:ext cx="361950" cy="361950"/>
          </a:xfrm>
          <a:prstGeom prst="ellipse">
            <a:avLst/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2D0A3E-20C9-41DD-B586-F5287BA5714F}"/>
              </a:ext>
            </a:extLst>
          </p:cNvPr>
          <p:cNvSpPr>
            <a:spLocks noGrp="1"/>
          </p:cNvSpPr>
          <p:nvPr/>
        </p:nvSpPr>
        <p:spPr>
          <a:xfrm>
            <a:off x="9048750" y="23241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57B0DB-1603-425A-9F93-D1A0B238302C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Magnetism Checksheet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F7FBD1-31D5-45FD-B739-A2867AA556B2}"/>
              </a:ext>
            </a:extLst>
          </p:cNvPr>
          <p:cNvSpPr>
            <a:spLocks noGrp="1"/>
          </p:cNvSpPr>
          <p:nvPr/>
        </p:nvSpPr>
        <p:spPr>
          <a:xfrm>
            <a:off x="9086850" y="27241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 magnetism checksheets, batches, checkpoints.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4247FD-AA94-4976-890F-F073F22BDC8B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419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EFFEEE8-B448-4AE1-A872-C49D40F403CB}"/>
              </a:ext>
            </a:extLst>
          </p:cNvPr>
          <p:cNvSpPr>
            <a:spLocks noGrp="1"/>
          </p:cNvSpPr>
          <p:nvPr/>
        </p:nvSpPr>
        <p:spPr>
          <a:xfrm>
            <a:off x="876300" y="3886200"/>
            <a:ext cx="361950" cy="361950"/>
          </a:xfrm>
          <a:prstGeom prst="ellipse">
            <a:avLst/>
          </a:prstGeom>
          <a:solidFill>
            <a:srgbClr val="FEE2E2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B95A59-4F16-4A40-8913-0765D1CD652A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FA93A7-F27E-414F-AF18-4CB00EEA304B}"/>
              </a:ext>
            </a:extLst>
          </p:cNvPr>
          <p:cNvSpPr>
            <a:spLocks noGrp="1"/>
          </p:cNvSpPr>
          <p:nvPr/>
        </p:nvSpPr>
        <p:spPr>
          <a:xfrm>
            <a:off x="1371600" y="38862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Welding Checksheet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97D74C-BB8E-45FE-88F9-CE143C017D48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 welding and material fields with validation rules.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FBCA32E-B708-4B34-8A11-9A1D170E02EA}"/>
              </a:ext>
            </a:extLst>
          </p:cNvPr>
          <p:cNvSpPr>
            <a:spLocks noGrp="1"/>
          </p:cNvSpPr>
          <p:nvPr/>
        </p:nvSpPr>
        <p:spPr>
          <a:xfrm>
            <a:off x="3409950" y="3676650"/>
            <a:ext cx="2419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747281E-9402-4398-9BF0-C46D5E53DA5E}"/>
              </a:ext>
            </a:extLst>
          </p:cNvPr>
          <p:cNvSpPr>
            <a:spLocks noGrp="1"/>
          </p:cNvSpPr>
          <p:nvPr/>
        </p:nvSpPr>
        <p:spPr>
          <a:xfrm>
            <a:off x="3600450" y="3886200"/>
            <a:ext cx="361950" cy="361950"/>
          </a:xfrm>
          <a:prstGeom prst="ellipse">
            <a:avLst/>
          </a:prstGeom>
          <a:solidFill>
            <a:srgbClr val="D9F3EE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7304E8-F1B3-4BE0-A75C-27824DF5731C}"/>
              </a:ext>
            </a:extLst>
          </p:cNvPr>
          <p:cNvSpPr>
            <a:spLocks noGrp="1"/>
          </p:cNvSpPr>
          <p:nvPr/>
        </p:nvSpPr>
        <p:spPr>
          <a:xfrm>
            <a:off x="3600450" y="3962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25111E-8A2E-4648-9653-75C107B30F67}"/>
              </a:ext>
            </a:extLst>
          </p:cNvPr>
          <p:cNvSpPr>
            <a:spLocks noGrp="1"/>
          </p:cNvSpPr>
          <p:nvPr/>
        </p:nvSpPr>
        <p:spPr>
          <a:xfrm>
            <a:off x="4095750" y="38862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Material Monitoring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964311-D6C3-4803-B608-F3EE308A7F97}"/>
              </a:ext>
            </a:extLst>
          </p:cNvPr>
          <p:cNvSpPr>
            <a:spLocks noGrp="1"/>
          </p:cNvSpPr>
          <p:nvPr/>
        </p:nvSpPr>
        <p:spPr>
          <a:xfrm>
            <a:off x="3638550" y="43624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Monitor material lots, parts, and related details.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59370D-7112-4BF6-96BD-5162C7548F97}"/>
              </a:ext>
            </a:extLst>
          </p:cNvPr>
          <p:cNvSpPr>
            <a:spLocks noGrp="1"/>
          </p:cNvSpPr>
          <p:nvPr/>
        </p:nvSpPr>
        <p:spPr>
          <a:xfrm>
            <a:off x="6134100" y="3676650"/>
            <a:ext cx="2419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A7D9133-C27A-494E-A51B-7B48B9E7B54F}"/>
              </a:ext>
            </a:extLst>
          </p:cNvPr>
          <p:cNvSpPr>
            <a:spLocks noGrp="1"/>
          </p:cNvSpPr>
          <p:nvPr/>
        </p:nvSpPr>
        <p:spPr>
          <a:xfrm>
            <a:off x="6324600" y="3886200"/>
            <a:ext cx="361950" cy="361950"/>
          </a:xfrm>
          <a:prstGeom prst="ellipse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495BDD-670C-4BD4-BCB9-E0E363A638ED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E37092-36CF-4327-ACDA-81B960770FF6}"/>
              </a:ext>
            </a:extLst>
          </p:cNvPr>
          <p:cNvSpPr>
            <a:spLocks noGrp="1"/>
          </p:cNvSpPr>
          <p:nvPr/>
        </p:nvSpPr>
        <p:spPr>
          <a:xfrm>
            <a:off x="6819900" y="38862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Modification Logs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E978B6-FA40-482F-8376-F2D3F7C79EB4}"/>
              </a:ext>
            </a:extLst>
          </p:cNvPr>
          <p:cNvSpPr>
            <a:spLocks noGrp="1"/>
          </p:cNvSpPr>
          <p:nvPr/>
        </p:nvSpPr>
        <p:spPr>
          <a:xfrm>
            <a:off x="6362700" y="43624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Record modification history and approvals.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1384C6D-AF20-483B-B480-49DCC5A882F6}"/>
              </a:ext>
            </a:extLst>
          </p:cNvPr>
          <p:cNvSpPr>
            <a:spLocks noGrp="1"/>
          </p:cNvSpPr>
          <p:nvPr/>
        </p:nvSpPr>
        <p:spPr>
          <a:xfrm>
            <a:off x="8858250" y="3676650"/>
            <a:ext cx="24193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8F0178C-2B80-4EB7-80C3-DA0C995481E0}"/>
              </a:ext>
            </a:extLst>
          </p:cNvPr>
          <p:cNvSpPr>
            <a:spLocks noGrp="1"/>
          </p:cNvSpPr>
          <p:nvPr/>
        </p:nvSpPr>
        <p:spPr>
          <a:xfrm>
            <a:off x="9048750" y="3886200"/>
            <a:ext cx="361950" cy="361950"/>
          </a:xfrm>
          <a:prstGeom prst="ellipse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F4592E-D3C9-4C82-81CC-5C205C6D8ACA}"/>
              </a:ext>
            </a:extLst>
          </p:cNvPr>
          <p:cNvSpPr>
            <a:spLocks noGrp="1"/>
          </p:cNvSpPr>
          <p:nvPr/>
        </p:nvSpPr>
        <p:spPr>
          <a:xfrm>
            <a:off x="9048750" y="3962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F6DD16-416B-4942-ADEF-9A11D6D5D2D6}"/>
              </a:ext>
            </a:extLst>
          </p:cNvPr>
          <p:cNvSpPr>
            <a:spLocks noGrp="1"/>
          </p:cNvSpPr>
          <p:nvPr/>
        </p:nvSpPr>
        <p:spPr>
          <a:xfrm>
            <a:off x="9544050" y="38862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9BC46C-81C3-4102-90B3-8AF775E61461}"/>
              </a:ext>
            </a:extLst>
          </p:cNvPr>
          <p:cNvSpPr>
            <a:spLocks noGrp="1"/>
          </p:cNvSpPr>
          <p:nvPr/>
        </p:nvSpPr>
        <p:spPr>
          <a:xfrm>
            <a:off x="9086850" y="43624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Users, QR codes, departments, positions, roles, activity logs.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19EF1E-DD30-4647-AF67-4117CA7096AB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756F26-8CD8-4326-855B-881D4308922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7466585-8F77-4763-8D91-FE18FDB7939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930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64EE281-8A16-4741-BE37-D89D21D086F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OPERATING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17E565-5C49-44AF-A14D-2D53D84DBCE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How a record moves through the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140B5A-105F-45EB-8201-3D4ED7397EF2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application supports both direct entry and import workflows, then uses statuses, approval screens, exports, and logs to create traceability.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426556-D3DE-4747-870B-1AF6745D967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809750" cy="211455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721A8A-E49E-4EC6-93CB-309ACF85B984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D9B80C-3C15-4EF5-B5D6-842AB4581437}"/>
              </a:ext>
            </a:extLst>
          </p:cNvPr>
          <p:cNvSpPr>
            <a:spLocks noGrp="1"/>
          </p:cNvSpPr>
          <p:nvPr/>
        </p:nvSpPr>
        <p:spPr>
          <a:xfrm>
            <a:off x="857250" y="24574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60096-3EFD-4325-9477-25B5BF5803C3}"/>
              </a:ext>
            </a:extLst>
          </p:cNvPr>
          <p:cNvSpPr>
            <a:spLocks noGrp="1"/>
          </p:cNvSpPr>
          <p:nvPr/>
        </p:nvSpPr>
        <p:spPr>
          <a:xfrm>
            <a:off x="1352550" y="2381250"/>
            <a:ext cx="97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Authenticate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9A82C-F07B-40A4-A88A-5C734F13B678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13525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 logs in and sees only permitted modules/actions.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FB4DAA-F699-4BE0-955F-5C1FF6EC6E34}"/>
              </a:ext>
            </a:extLst>
          </p:cNvPr>
          <p:cNvSpPr>
            <a:spLocks noGrp="1"/>
          </p:cNvSpPr>
          <p:nvPr/>
        </p:nvSpPr>
        <p:spPr>
          <a:xfrm>
            <a:off x="2895600" y="2209800"/>
            <a:ext cx="1809750" cy="2114550"/>
          </a:xfrm>
          <a:prstGeom prst="roundRect">
            <a:avLst>
              <a:gd name="adj" fmla="val 4211"/>
            </a:avLst>
          </a:prstGeom>
          <a:solidFill>
            <a:srgbClr val="D9F3EE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5EBF5C-12EA-4E2E-9119-C438CA407FA0}"/>
              </a:ext>
            </a:extLst>
          </p:cNvPr>
          <p:cNvSpPr>
            <a:spLocks noGrp="1"/>
          </p:cNvSpPr>
          <p:nvPr/>
        </p:nvSpPr>
        <p:spPr>
          <a:xfrm>
            <a:off x="3067050" y="2381250"/>
            <a:ext cx="361950" cy="3619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8878A0-5BC3-41A4-8AAA-63908991F337}"/>
              </a:ext>
            </a:extLst>
          </p:cNvPr>
          <p:cNvSpPr>
            <a:spLocks noGrp="1"/>
          </p:cNvSpPr>
          <p:nvPr/>
        </p:nvSpPr>
        <p:spPr>
          <a:xfrm>
            <a:off x="3067050" y="24574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29973E-0F51-4243-A574-FC0F8A61443E}"/>
              </a:ext>
            </a:extLst>
          </p:cNvPr>
          <p:cNvSpPr>
            <a:spLocks noGrp="1"/>
          </p:cNvSpPr>
          <p:nvPr/>
        </p:nvSpPr>
        <p:spPr>
          <a:xfrm>
            <a:off x="3562350" y="2381250"/>
            <a:ext cx="97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Record or import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7E73AF-A385-472E-81E7-2787B6B8F565}"/>
              </a:ext>
            </a:extLst>
          </p:cNvPr>
          <p:cNvSpPr>
            <a:spLocks noGrp="1"/>
          </p:cNvSpPr>
          <p:nvPr/>
        </p:nvSpPr>
        <p:spPr>
          <a:xfrm>
            <a:off x="3124200" y="2876550"/>
            <a:ext cx="13525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Staff creates a </a:t>
            </a:r>
            <a:r>
              <a:rPr sz="1125" b="0" i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checksheet</a:t>
            </a:r>
            <a:r>
              <a:rPr sz="1125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or imports data for supported modules.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86AA2B-F611-4F38-AD7C-40F684F30A0F}"/>
              </a:ext>
            </a:extLst>
          </p:cNvPr>
          <p:cNvSpPr>
            <a:spLocks noGrp="1"/>
          </p:cNvSpPr>
          <p:nvPr/>
        </p:nvSpPr>
        <p:spPr>
          <a:xfrm>
            <a:off x="5105400" y="2209800"/>
            <a:ext cx="1809750" cy="2114550"/>
          </a:xfrm>
          <a:prstGeom prst="roundRect">
            <a:avLst>
              <a:gd name="adj" fmla="val 4211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7E10BB-C206-4048-A922-4DC54DF1015F}"/>
              </a:ext>
            </a:extLst>
          </p:cNvPr>
          <p:cNvSpPr>
            <a:spLocks noGrp="1"/>
          </p:cNvSpPr>
          <p:nvPr/>
        </p:nvSpPr>
        <p:spPr>
          <a:xfrm>
            <a:off x="5276850" y="2381250"/>
            <a:ext cx="361950" cy="361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C0DC11-9830-4295-8AB7-16D333AB2DC3}"/>
              </a:ext>
            </a:extLst>
          </p:cNvPr>
          <p:cNvSpPr>
            <a:spLocks noGrp="1"/>
          </p:cNvSpPr>
          <p:nvPr/>
        </p:nvSpPr>
        <p:spPr>
          <a:xfrm>
            <a:off x="5276850" y="24574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787EA3-34B7-4126-B9B7-886921BC4207}"/>
              </a:ext>
            </a:extLst>
          </p:cNvPr>
          <p:cNvSpPr>
            <a:spLocks noGrp="1"/>
          </p:cNvSpPr>
          <p:nvPr/>
        </p:nvSpPr>
        <p:spPr>
          <a:xfrm>
            <a:off x="5772150" y="2381250"/>
            <a:ext cx="97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Validate and save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CB947D-0358-4997-8AF4-F3E6539FF311}"/>
              </a:ext>
            </a:extLst>
          </p:cNvPr>
          <p:cNvSpPr>
            <a:spLocks noGrp="1"/>
          </p:cNvSpPr>
          <p:nvPr/>
        </p:nvSpPr>
        <p:spPr>
          <a:xfrm>
            <a:off x="5334000" y="2876550"/>
            <a:ext cx="13525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Required fields and module-specific rules control data quality.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387ACE-6F76-44B1-8687-781DA3EB9F9D}"/>
              </a:ext>
            </a:extLst>
          </p:cNvPr>
          <p:cNvSpPr>
            <a:spLocks noGrp="1"/>
          </p:cNvSpPr>
          <p:nvPr/>
        </p:nvSpPr>
        <p:spPr>
          <a:xfrm>
            <a:off x="7315200" y="2209800"/>
            <a:ext cx="1809750" cy="2114550"/>
          </a:xfrm>
          <a:prstGeom prst="roundRect">
            <a:avLst>
              <a:gd name="adj" fmla="val 4211"/>
            </a:avLst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DC1AF11-24A0-4047-BDF9-D97359FF5210}"/>
              </a:ext>
            </a:extLst>
          </p:cNvPr>
          <p:cNvSpPr>
            <a:spLocks noGrp="1"/>
          </p:cNvSpPr>
          <p:nvPr/>
        </p:nvSpPr>
        <p:spPr>
          <a:xfrm>
            <a:off x="7486650" y="2381250"/>
            <a:ext cx="361950" cy="36195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4C25F2-9E58-452E-B219-187FDEB14ADC}"/>
              </a:ext>
            </a:extLst>
          </p:cNvPr>
          <p:cNvSpPr>
            <a:spLocks noGrp="1"/>
          </p:cNvSpPr>
          <p:nvPr/>
        </p:nvSpPr>
        <p:spPr>
          <a:xfrm>
            <a:off x="7486650" y="24574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F72AF7-71F7-494B-A722-D07FEB0750FA}"/>
              </a:ext>
            </a:extLst>
          </p:cNvPr>
          <p:cNvSpPr>
            <a:spLocks noGrp="1"/>
          </p:cNvSpPr>
          <p:nvPr/>
        </p:nvSpPr>
        <p:spPr>
          <a:xfrm>
            <a:off x="7981950" y="2381250"/>
            <a:ext cx="97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Review status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2A9CE-2E52-4377-A524-2644CE649C90}"/>
              </a:ext>
            </a:extLst>
          </p:cNvPr>
          <p:cNvSpPr>
            <a:spLocks noGrp="1"/>
          </p:cNvSpPr>
          <p:nvPr/>
        </p:nvSpPr>
        <p:spPr>
          <a:xfrm>
            <a:off x="7543800" y="2876550"/>
            <a:ext cx="13525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Records can sit in pending, approved, or rejected states where supported.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D6F54-383D-4677-8490-61C49E677769}"/>
              </a:ext>
            </a:extLst>
          </p:cNvPr>
          <p:cNvSpPr>
            <a:spLocks noGrp="1"/>
          </p:cNvSpPr>
          <p:nvPr/>
        </p:nvSpPr>
        <p:spPr>
          <a:xfrm>
            <a:off x="9525000" y="2209800"/>
            <a:ext cx="1809750" cy="2114550"/>
          </a:xfrm>
          <a:prstGeom prst="roundRect">
            <a:avLst>
              <a:gd name="adj" fmla="val 4211"/>
            </a:avLst>
          </a:prstGeom>
          <a:solidFill>
            <a:srgbClr val="E2E8F0"/>
          </a:solidFill>
          <a:ln w="14288">
            <a:solidFill>
              <a:srgbClr val="0B1220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F6E2BA3-6345-46D6-AB97-CF96876AFE93}"/>
              </a:ext>
            </a:extLst>
          </p:cNvPr>
          <p:cNvSpPr>
            <a:spLocks noGrp="1"/>
          </p:cNvSpPr>
          <p:nvPr/>
        </p:nvSpPr>
        <p:spPr>
          <a:xfrm>
            <a:off x="9696450" y="2381250"/>
            <a:ext cx="361950" cy="361950"/>
          </a:xfrm>
          <a:prstGeom prst="ellipse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A35E4D-C1DA-443C-9E72-40FA70A026A6}"/>
              </a:ext>
            </a:extLst>
          </p:cNvPr>
          <p:cNvSpPr>
            <a:spLocks noGrp="1"/>
          </p:cNvSpPr>
          <p:nvPr/>
        </p:nvSpPr>
        <p:spPr>
          <a:xfrm>
            <a:off x="9696450" y="245745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0380B3-C77C-489D-AFAF-1FA41AB0F67D}"/>
              </a:ext>
            </a:extLst>
          </p:cNvPr>
          <p:cNvSpPr>
            <a:spLocks noGrp="1"/>
          </p:cNvSpPr>
          <p:nvPr/>
        </p:nvSpPr>
        <p:spPr>
          <a:xfrm>
            <a:off x="10191750" y="2381250"/>
            <a:ext cx="971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Export and audit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844070-797D-423D-B1FD-5B47582BA7E6}"/>
              </a:ext>
            </a:extLst>
          </p:cNvPr>
          <p:cNvSpPr>
            <a:spLocks noGrp="1"/>
          </p:cNvSpPr>
          <p:nvPr/>
        </p:nvSpPr>
        <p:spPr>
          <a:xfrm>
            <a:off x="9753600" y="2876550"/>
            <a:ext cx="13525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Authorized users export data and review activity/history.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7ABE62F-1A61-4F8D-BDF1-6446C3C8C7D3}"/>
              </a:ext>
            </a:extLst>
          </p:cNvPr>
          <p:cNvSpPr>
            <a:spLocks noGrp="1"/>
          </p:cNvSpPr>
          <p:nvPr/>
        </p:nvSpPr>
        <p:spPr>
          <a:xfrm rot="5400000">
            <a:off x="2571750" y="3105150"/>
            <a:ext cx="228600" cy="228600"/>
          </a:xfrm>
          <a:prstGeom prst="triangle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FDF9F24D-0C5E-4DA6-9A20-8E3C935C3A2F}"/>
              </a:ext>
            </a:extLst>
          </p:cNvPr>
          <p:cNvSpPr>
            <a:spLocks noGrp="1"/>
          </p:cNvSpPr>
          <p:nvPr/>
        </p:nvSpPr>
        <p:spPr>
          <a:xfrm rot="5400000">
            <a:off x="4781550" y="3105150"/>
            <a:ext cx="228600" cy="228600"/>
          </a:xfrm>
          <a:prstGeom prst="triangle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15E0F424-9F60-49FF-8AA7-3D8164F5815E}"/>
              </a:ext>
            </a:extLst>
          </p:cNvPr>
          <p:cNvSpPr>
            <a:spLocks noGrp="1"/>
          </p:cNvSpPr>
          <p:nvPr/>
        </p:nvSpPr>
        <p:spPr>
          <a:xfrm rot="5400000">
            <a:off x="6991350" y="3105150"/>
            <a:ext cx="228600" cy="228600"/>
          </a:xfrm>
          <a:prstGeom prst="triangle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AA6289-BC51-498E-94C0-4ACF8F4C5FC9}"/>
              </a:ext>
            </a:extLst>
          </p:cNvPr>
          <p:cNvSpPr>
            <a:spLocks noGrp="1"/>
          </p:cNvSpPr>
          <p:nvPr/>
        </p:nvSpPr>
        <p:spPr>
          <a:xfrm rot="5400000">
            <a:off x="9201150" y="3105150"/>
            <a:ext cx="228600" cy="228600"/>
          </a:xfrm>
          <a:prstGeom prst="triangle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82C100-0B84-496F-A8B4-46535033DA8C}"/>
              </a:ext>
            </a:extLst>
          </p:cNvPr>
          <p:cNvSpPr>
            <a:spLocks noGrp="1"/>
          </p:cNvSpPr>
          <p:nvPr/>
        </p:nvSpPr>
        <p:spPr>
          <a:xfrm>
            <a:off x="1276350" y="4895850"/>
            <a:ext cx="963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This is the core management narrative: every important inspection action should have a responsible user, a status, and a retrievable record.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6FEE54-7929-4405-A040-5854AB5340FF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709FA5-8582-49CA-9975-83B3BAADB3D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CE2408-3E41-4F0A-B963-6C025BE49AE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1444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FAF723F5-80EC-4625-947A-AEDAE841560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DAILY USER 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80423C-5087-4D85-9F02-002A3FBEE04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What users will actually see and do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F23C24-E08D-43E5-8AC8-3D3DBDE5E50D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en-US" sz="1350" b="0" i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ICRS</a:t>
            </a:r>
            <a:r>
              <a:rPr sz="1350" b="0" i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is organized around a dashboard, permission-aware navigation, module lists, record forms, import screens, approval queues, and recent activity.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40F314-A336-4DB2-94BB-E61E43B0C254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72390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C9F2E-AD2B-4814-B12E-03019A9B7F9D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600200" cy="37147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44918F-F211-4624-88FD-5FF7F3726127}"/>
              </a:ext>
            </a:extLst>
          </p:cNvPr>
          <p:cNvSpPr>
            <a:spLocks noGrp="1"/>
          </p:cNvSpPr>
          <p:nvPr/>
        </p:nvSpPr>
        <p:spPr>
          <a:xfrm>
            <a:off x="895350" y="2247900"/>
            <a:ext cx="118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F3EE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F55B32-020F-4DEC-8DD8-03482F11419D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876300" cy="190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CEB253-52CF-4B24-82A5-40C38BFB16B5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118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Inspection Records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5320A-A158-4628-9E68-CEC660508653}"/>
              </a:ext>
            </a:extLst>
          </p:cNvPr>
          <p:cNvSpPr>
            <a:spLocks noGrp="1"/>
          </p:cNvSpPr>
          <p:nvPr/>
        </p:nvSpPr>
        <p:spPr>
          <a:xfrm>
            <a:off x="895350" y="3200400"/>
            <a:ext cx="876300" cy="1905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E10A7-24FD-4F94-A4B0-B9363CE1A303}"/>
              </a:ext>
            </a:extLst>
          </p:cNvPr>
          <p:cNvSpPr>
            <a:spLocks noGrp="1"/>
          </p:cNvSpPr>
          <p:nvPr/>
        </p:nvSpPr>
        <p:spPr>
          <a:xfrm>
            <a:off x="895350" y="3543300"/>
            <a:ext cx="118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EFA9D7-C6E9-45CF-94FF-AD79201ACA1D}"/>
              </a:ext>
            </a:extLst>
          </p:cNvPr>
          <p:cNvSpPr>
            <a:spLocks noGrp="1"/>
          </p:cNvSpPr>
          <p:nvPr/>
        </p:nvSpPr>
        <p:spPr>
          <a:xfrm>
            <a:off x="895350" y="3848100"/>
            <a:ext cx="876300" cy="1905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A47435-9685-4250-8B64-3AF667F7E5E5}"/>
              </a:ext>
            </a:extLst>
          </p:cNvPr>
          <p:cNvSpPr>
            <a:spLocks noGrp="1"/>
          </p:cNvSpPr>
          <p:nvPr/>
        </p:nvSpPr>
        <p:spPr>
          <a:xfrm>
            <a:off x="895350" y="4191000"/>
            <a:ext cx="118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05D402-8247-4195-AB30-5F71DB628847}"/>
              </a:ext>
            </a:extLst>
          </p:cNvPr>
          <p:cNvSpPr>
            <a:spLocks noGrp="1"/>
          </p:cNvSpPr>
          <p:nvPr/>
        </p:nvSpPr>
        <p:spPr>
          <a:xfrm>
            <a:off x="895350" y="4495800"/>
            <a:ext cx="876300" cy="1905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3C9C72-5A4C-4096-98E2-8FFE97F99605}"/>
              </a:ext>
            </a:extLst>
          </p:cNvPr>
          <p:cNvSpPr>
            <a:spLocks noGrp="1"/>
          </p:cNvSpPr>
          <p:nvPr/>
        </p:nvSpPr>
        <p:spPr>
          <a:xfrm>
            <a:off x="2590800" y="2190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FCF7F7-9B72-4A3A-93B3-A6C4AEE45171}"/>
              </a:ext>
            </a:extLst>
          </p:cNvPr>
          <p:cNvSpPr>
            <a:spLocks noGrp="1"/>
          </p:cNvSpPr>
          <p:nvPr/>
        </p:nvSpPr>
        <p:spPr>
          <a:xfrm>
            <a:off x="2590800" y="2781300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1D82E0-ED79-414B-8AE0-07C76FC282BB}"/>
              </a:ext>
            </a:extLst>
          </p:cNvPr>
          <p:cNvSpPr>
            <a:spLocks noGrp="1"/>
          </p:cNvSpPr>
          <p:nvPr/>
        </p:nvSpPr>
        <p:spPr>
          <a:xfrm>
            <a:off x="2724150" y="29718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Pending Approvals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3D669B-9D60-4860-A55D-C1EC1D64DB14}"/>
              </a:ext>
            </a:extLst>
          </p:cNvPr>
          <p:cNvSpPr>
            <a:spLocks noGrp="1"/>
          </p:cNvSpPr>
          <p:nvPr/>
        </p:nvSpPr>
        <p:spPr>
          <a:xfrm>
            <a:off x="4191000" y="2781300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631C1F-7E81-4912-8399-3765D25E322C}"/>
              </a:ext>
            </a:extLst>
          </p:cNvPr>
          <p:cNvSpPr>
            <a:spLocks noGrp="1"/>
          </p:cNvSpPr>
          <p:nvPr/>
        </p:nvSpPr>
        <p:spPr>
          <a:xfrm>
            <a:off x="4324350" y="29718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Annealing Checks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F0F110-B7EA-4513-BAE6-73D509355650}"/>
              </a:ext>
            </a:extLst>
          </p:cNvPr>
          <p:cNvSpPr>
            <a:spLocks noGrp="1"/>
          </p:cNvSpPr>
          <p:nvPr/>
        </p:nvSpPr>
        <p:spPr>
          <a:xfrm>
            <a:off x="5791200" y="2781300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745D56-1591-433D-A24B-21C064ED3424}"/>
              </a:ext>
            </a:extLst>
          </p:cNvPr>
          <p:cNvSpPr>
            <a:spLocks noGrp="1"/>
          </p:cNvSpPr>
          <p:nvPr/>
        </p:nvSpPr>
        <p:spPr>
          <a:xfrm>
            <a:off x="5924550" y="29718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Temperature Records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D48E574-C89A-48F8-8F3D-93EA930520AF}"/>
              </a:ext>
            </a:extLst>
          </p:cNvPr>
          <p:cNvSpPr>
            <a:spLocks noGrp="1"/>
          </p:cNvSpPr>
          <p:nvPr/>
        </p:nvSpPr>
        <p:spPr>
          <a:xfrm>
            <a:off x="2590800" y="3771900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279B38-6FFD-4C20-A381-47E407C504B3}"/>
              </a:ext>
            </a:extLst>
          </p:cNvPr>
          <p:cNvSpPr>
            <a:spLocks noGrp="1"/>
          </p:cNvSpPr>
          <p:nvPr/>
        </p:nvSpPr>
        <p:spPr>
          <a:xfrm>
            <a:off x="2724150" y="39624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Torque Records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770353-05FA-408F-AB75-6CE6DFCC8294}"/>
              </a:ext>
            </a:extLst>
          </p:cNvPr>
          <p:cNvSpPr>
            <a:spLocks noGrp="1"/>
          </p:cNvSpPr>
          <p:nvPr/>
        </p:nvSpPr>
        <p:spPr>
          <a:xfrm>
            <a:off x="4191000" y="3771900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F97D8C-1FA1-4000-90B0-FE5BB2107530}"/>
              </a:ext>
            </a:extLst>
          </p:cNvPr>
          <p:cNvSpPr>
            <a:spLocks noGrp="1"/>
          </p:cNvSpPr>
          <p:nvPr/>
        </p:nvSpPr>
        <p:spPr>
          <a:xfrm>
            <a:off x="4324350" y="39624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Magnetism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56C724A-86D3-4286-A43D-EE24A135F8EE}"/>
              </a:ext>
            </a:extLst>
          </p:cNvPr>
          <p:cNvSpPr>
            <a:spLocks noGrp="1"/>
          </p:cNvSpPr>
          <p:nvPr/>
        </p:nvSpPr>
        <p:spPr>
          <a:xfrm>
            <a:off x="5791200" y="3771900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61D8DE-C7B5-407D-BCB5-F9C57F2C44AB}"/>
              </a:ext>
            </a:extLst>
          </p:cNvPr>
          <p:cNvSpPr>
            <a:spLocks noGrp="1"/>
          </p:cNvSpPr>
          <p:nvPr/>
        </p:nvSpPr>
        <p:spPr>
          <a:xfrm>
            <a:off x="5924550" y="39624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Welding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B784BF-804F-4660-89ED-292B02667247}"/>
              </a:ext>
            </a:extLst>
          </p:cNvPr>
          <p:cNvSpPr>
            <a:spLocks noGrp="1"/>
          </p:cNvSpPr>
          <p:nvPr/>
        </p:nvSpPr>
        <p:spPr>
          <a:xfrm>
            <a:off x="2590800" y="4876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Recent Activity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77F0A2-9C21-48E4-B00E-1A1D5ACC81DF}"/>
              </a:ext>
            </a:extLst>
          </p:cNvPr>
          <p:cNvSpPr>
            <a:spLocks noGrp="1"/>
          </p:cNvSpPr>
          <p:nvPr/>
        </p:nvSpPr>
        <p:spPr>
          <a:xfrm>
            <a:off x="2590800" y="5219700"/>
            <a:ext cx="47625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EDCA76-F463-4566-B708-DFDA58041A26}"/>
              </a:ext>
            </a:extLst>
          </p:cNvPr>
          <p:cNvSpPr>
            <a:spLocks noGrp="1"/>
          </p:cNvSpPr>
          <p:nvPr/>
        </p:nvSpPr>
        <p:spPr>
          <a:xfrm>
            <a:off x="2590800" y="5391150"/>
            <a:ext cx="40005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AB48B7-F0CD-4A90-A74D-D57E36BD48C2}"/>
              </a:ext>
            </a:extLst>
          </p:cNvPr>
          <p:cNvSpPr>
            <a:spLocks noGrp="1"/>
          </p:cNvSpPr>
          <p:nvPr/>
        </p:nvSpPr>
        <p:spPr>
          <a:xfrm>
            <a:off x="8382000" y="1885950"/>
            <a:ext cx="3124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67103B-B314-4604-B9EF-6E2E0BC45A70}"/>
              </a:ext>
            </a:extLst>
          </p:cNvPr>
          <p:cNvSpPr>
            <a:spLocks noGrp="1"/>
          </p:cNvSpPr>
          <p:nvPr/>
        </p:nvSpPr>
        <p:spPr>
          <a:xfrm>
            <a:off x="8382000" y="1885950"/>
            <a:ext cx="57150" cy="11049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CB825B-BA43-45C3-BAE0-E73E09521584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 Find work quickly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8B34EC-75AB-4E3F-93EB-0A5141CD4EEE}"/>
              </a:ext>
            </a:extLst>
          </p:cNvPr>
          <p:cNvSpPr>
            <a:spLocks noGrp="1"/>
          </p:cNvSpPr>
          <p:nvPr/>
        </p:nvSpPr>
        <p:spPr>
          <a:xfrm>
            <a:off x="8610600" y="24384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Dashboard and navigation expose relevant modules by permission.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5F88A72-2D7D-4085-AC61-70EEAE552C15}"/>
              </a:ext>
            </a:extLst>
          </p:cNvPr>
          <p:cNvSpPr>
            <a:spLocks noGrp="1"/>
          </p:cNvSpPr>
          <p:nvPr/>
        </p:nvSpPr>
        <p:spPr>
          <a:xfrm>
            <a:off x="8382000" y="3181350"/>
            <a:ext cx="3124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F54A35-A747-493F-9196-F62E6D8B9941}"/>
              </a:ext>
            </a:extLst>
          </p:cNvPr>
          <p:cNvSpPr>
            <a:spLocks noGrp="1"/>
          </p:cNvSpPr>
          <p:nvPr/>
        </p:nvSpPr>
        <p:spPr>
          <a:xfrm>
            <a:off x="8382000" y="3181350"/>
            <a:ext cx="57150" cy="1104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69C3C2-82EB-4A55-AFBC-86CA9D0A1488}"/>
              </a:ext>
            </a:extLst>
          </p:cNvPr>
          <p:cNvSpPr>
            <a:spLocks noGrp="1"/>
          </p:cNvSpPr>
          <p:nvPr/>
        </p:nvSpPr>
        <p:spPr>
          <a:xfrm>
            <a:off x="8610600" y="33909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2. Act in context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2ABEBD-B2B6-4D37-ADC2-E39B6641BC84}"/>
              </a:ext>
            </a:extLst>
          </p:cNvPr>
          <p:cNvSpPr>
            <a:spLocks noGrp="1"/>
          </p:cNvSpPr>
          <p:nvPr/>
        </p:nvSpPr>
        <p:spPr>
          <a:xfrm>
            <a:off x="8610600" y="37338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 create, import, view, edit, approve, reject, or export from module screens.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438EAE3-D497-408B-99DF-AB3CDCAC159B}"/>
              </a:ext>
            </a:extLst>
          </p:cNvPr>
          <p:cNvSpPr>
            <a:spLocks noGrp="1"/>
          </p:cNvSpPr>
          <p:nvPr/>
        </p:nvSpPr>
        <p:spPr>
          <a:xfrm>
            <a:off x="8382000" y="4476750"/>
            <a:ext cx="3124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2FE9B4-862E-41DC-9D50-4F8F8911BBEA}"/>
              </a:ext>
            </a:extLst>
          </p:cNvPr>
          <p:cNvSpPr>
            <a:spLocks noGrp="1"/>
          </p:cNvSpPr>
          <p:nvPr/>
        </p:nvSpPr>
        <p:spPr>
          <a:xfrm>
            <a:off x="8382000" y="4476750"/>
            <a:ext cx="57150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541C94-16AE-4254-BFE7-9A4338BD5FA6}"/>
              </a:ext>
            </a:extLst>
          </p:cNvPr>
          <p:cNvSpPr>
            <a:spLocks noGrp="1"/>
          </p:cNvSpPr>
          <p:nvPr/>
        </p:nvSpPr>
        <p:spPr>
          <a:xfrm>
            <a:off x="8610600" y="46863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3. Leave evidence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B33776-B4C8-410A-8DFF-6D747CDE5958}"/>
              </a:ext>
            </a:extLst>
          </p:cNvPr>
          <p:cNvSpPr>
            <a:spLocks noGrp="1"/>
          </p:cNvSpPr>
          <p:nvPr/>
        </p:nvSpPr>
        <p:spPr>
          <a:xfrm>
            <a:off x="8610600" y="50292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Recent activity and activity logs help show who did what and when.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943892-BF17-4E85-B894-AD3869303908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47E995-AE83-4AF1-AA65-49243658E33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105022-32BB-46C0-97E6-F35A4E22158B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162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F18A166D-523D-45F9-A427-30B7F56B059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FEATURE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55432B-7B23-4614-B9BB-1B17C2EF7D9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Core capabilities by area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9B059-E1F9-4221-B0EB-DBC0705509C6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app is structured as reusable module patterns: list, create, edit, import, approval where needed, export where needed, and permission middleware.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EB0444-7049-40A5-B9D7-8F76E45E4224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703499-6BA2-473B-9E84-54B1FCF88548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4191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EF444-14F0-4D57-92B8-60E63D9A46C9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88C1A7-8134-4FD7-ABF5-FF871BB0C725}"/>
              </a:ext>
            </a:extLst>
          </p:cNvPr>
          <p:cNvSpPr>
            <a:spLocks noGrp="1"/>
          </p:cNvSpPr>
          <p:nvPr/>
        </p:nvSpPr>
        <p:spPr>
          <a:xfrm>
            <a:off x="2686050" y="2047875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Management-facing capability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3F516A-4E7F-4E06-A30B-DA80D3D2C11A}"/>
              </a:ext>
            </a:extLst>
          </p:cNvPr>
          <p:cNvSpPr>
            <a:spLocks noGrp="1"/>
          </p:cNvSpPr>
          <p:nvPr/>
        </p:nvSpPr>
        <p:spPr>
          <a:xfrm>
            <a:off x="7686675" y="204787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87ADC5-E00E-4771-8843-AF3BECE3E574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4667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C7CBB4-ECD9-4B4E-BF89-A328536EF88D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Annealing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2698A6-1015-4DF3-BEC4-15911C619EF4}"/>
              </a:ext>
            </a:extLst>
          </p:cNvPr>
          <p:cNvSpPr>
            <a:spLocks noGrp="1"/>
          </p:cNvSpPr>
          <p:nvPr/>
        </p:nvSpPr>
        <p:spPr>
          <a:xfrm>
            <a:off x="2686050" y="24765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Records, import/export, pending approvals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23A99D-F58B-46B9-866D-FD941E1EF2FB}"/>
              </a:ext>
            </a:extLst>
          </p:cNvPr>
          <p:cNvSpPr>
            <a:spLocks noGrp="1"/>
          </p:cNvSpPr>
          <p:nvPr/>
        </p:nvSpPr>
        <p:spPr>
          <a:xfrm>
            <a:off x="7686675" y="24765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View/Create/Update/Delete/Approve/Import/Export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B4701-21AB-4119-B969-9BE92528FCD1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10820400" cy="466725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FADEF-521E-46B5-AA68-12211AD7A842}"/>
              </a:ext>
            </a:extLst>
          </p:cNvPr>
          <p:cNvSpPr>
            <a:spLocks noGrp="1"/>
          </p:cNvSpPr>
          <p:nvPr/>
        </p:nvSpPr>
        <p:spPr>
          <a:xfrm>
            <a:off x="914400" y="29432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B3CD40-4E6D-441C-98CE-8AE5BCDA707C}"/>
              </a:ext>
            </a:extLst>
          </p:cNvPr>
          <p:cNvSpPr>
            <a:spLocks noGrp="1"/>
          </p:cNvSpPr>
          <p:nvPr/>
        </p:nvSpPr>
        <p:spPr>
          <a:xfrm>
            <a:off x="2686050" y="2943225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Temperature records, import preview/execute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13D7F7-ADDD-4EE5-92F5-EC43F68C4D68}"/>
              </a:ext>
            </a:extLst>
          </p:cNvPr>
          <p:cNvSpPr>
            <a:spLocks noGrp="1"/>
          </p:cNvSpPr>
          <p:nvPr/>
        </p:nvSpPr>
        <p:spPr>
          <a:xfrm>
            <a:off x="7686675" y="294322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View/Create/Update/Delete/Import/Export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C88EFF-3CEF-4E66-A08D-AC273F67E295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0820400" cy="4667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D0B3D-2B83-43E9-9A58-999BC3216C52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Torque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AD53D5-68E5-450E-8916-183658D67F6E}"/>
              </a:ext>
            </a:extLst>
          </p:cNvPr>
          <p:cNvSpPr>
            <a:spLocks noGrp="1"/>
          </p:cNvSpPr>
          <p:nvPr/>
        </p:nvSpPr>
        <p:spPr>
          <a:xfrm>
            <a:off x="2686050" y="340995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Torque records, import/export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BD3DC0-B3A6-4E51-BEDC-0AAB0801C100}"/>
              </a:ext>
            </a:extLst>
          </p:cNvPr>
          <p:cNvSpPr>
            <a:spLocks noGrp="1"/>
          </p:cNvSpPr>
          <p:nvPr/>
        </p:nvSpPr>
        <p:spPr>
          <a:xfrm>
            <a:off x="7686675" y="3409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View/Create/Update/Delete/Import/Export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9A1E91-B2DD-41AE-8513-C25EEB2FB7F4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820400" cy="466725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26B753-695F-4D43-9763-A6B4351AED7F}"/>
              </a:ext>
            </a:extLst>
          </p:cNvPr>
          <p:cNvSpPr>
            <a:spLocks noGrp="1"/>
          </p:cNvSpPr>
          <p:nvPr/>
        </p:nvSpPr>
        <p:spPr>
          <a:xfrm>
            <a:off x="914400" y="38766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Magnetism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FA6D4A-A671-4473-A34C-108D644DCCD9}"/>
              </a:ext>
            </a:extLst>
          </p:cNvPr>
          <p:cNvSpPr>
            <a:spLocks noGrp="1"/>
          </p:cNvSpPr>
          <p:nvPr/>
        </p:nvSpPr>
        <p:spPr>
          <a:xfrm>
            <a:off x="2686050" y="3876675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Checksheets, batches, checkpoints, import/export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3E5593-8F29-4432-98FF-F1855C877C8B}"/>
              </a:ext>
            </a:extLst>
          </p:cNvPr>
          <p:cNvSpPr>
            <a:spLocks noGrp="1"/>
          </p:cNvSpPr>
          <p:nvPr/>
        </p:nvSpPr>
        <p:spPr>
          <a:xfrm>
            <a:off x="7686675" y="38766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View/Create/Update/Delete/Import/Export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B8B7AA-005E-4C38-B309-DC0985459630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820400" cy="4667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D71431-709B-4178-82DE-29BA93894212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Welding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29C3F0-B38E-4487-997F-9CD67282CAB0}"/>
              </a:ext>
            </a:extLst>
          </p:cNvPr>
          <p:cNvSpPr>
            <a:spLocks noGrp="1"/>
          </p:cNvSpPr>
          <p:nvPr/>
        </p:nvSpPr>
        <p:spPr>
          <a:xfrm>
            <a:off x="2686050" y="434340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Checksheets, item-code rules, import/export, approvals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26950F-921C-4366-A1AB-8824A6F4C75F}"/>
              </a:ext>
            </a:extLst>
          </p:cNvPr>
          <p:cNvSpPr>
            <a:spLocks noGrp="1"/>
          </p:cNvSpPr>
          <p:nvPr/>
        </p:nvSpPr>
        <p:spPr>
          <a:xfrm>
            <a:off x="7686675" y="43434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View/Create/Update/Delete/Approve/Import/Export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66DCE0-1E4C-4887-AE1A-F0DDDC69B818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10820400" cy="466725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31F8E2-51F8-4A1A-9E8C-3B393621FBC6}"/>
              </a:ext>
            </a:extLst>
          </p:cNvPr>
          <p:cNvSpPr>
            <a:spLocks noGrp="1"/>
          </p:cNvSpPr>
          <p:nvPr/>
        </p:nvSpPr>
        <p:spPr>
          <a:xfrm>
            <a:off x="914400" y="48101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Material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6E7392-DB68-4C75-B11F-05A7EC7A51CA}"/>
              </a:ext>
            </a:extLst>
          </p:cNvPr>
          <p:cNvSpPr>
            <a:spLocks noGrp="1"/>
          </p:cNvSpPr>
          <p:nvPr/>
        </p:nvSpPr>
        <p:spPr>
          <a:xfrm>
            <a:off x="2686050" y="4810125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Material monitoring checksheets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16018A-DD11-4E00-8930-D5191FE73D08}"/>
              </a:ext>
            </a:extLst>
          </p:cNvPr>
          <p:cNvSpPr>
            <a:spLocks noGrp="1"/>
          </p:cNvSpPr>
          <p:nvPr/>
        </p:nvSpPr>
        <p:spPr>
          <a:xfrm>
            <a:off x="7686675" y="481012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View/Create/Update/Delete/Import/Export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B4D37D-C285-4446-9D27-620E9C2E5DC7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0820400" cy="4667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20BC8F-3AFC-43B9-BF59-E2C453C9DC7A}"/>
              </a:ext>
            </a:extLst>
          </p:cNvPr>
          <p:cNvSpPr>
            <a:spLocks noGrp="1"/>
          </p:cNvSpPr>
          <p:nvPr/>
        </p:nvSpPr>
        <p:spPr>
          <a:xfrm>
            <a:off x="914400" y="52768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BAB368-62ED-491A-9063-829EBB53595D}"/>
              </a:ext>
            </a:extLst>
          </p:cNvPr>
          <p:cNvSpPr>
            <a:spLocks noGrp="1"/>
          </p:cNvSpPr>
          <p:nvPr/>
        </p:nvSpPr>
        <p:spPr>
          <a:xfrm>
            <a:off x="2686050" y="527685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Users, QR, departments, positions, roles, activity logs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3D1914-8C46-45FF-8F98-EC4FAA065DCE}"/>
              </a:ext>
            </a:extLst>
          </p:cNvPr>
          <p:cNvSpPr>
            <a:spLocks noGrp="1"/>
          </p:cNvSpPr>
          <p:nvPr/>
        </p:nvSpPr>
        <p:spPr>
          <a:xfrm>
            <a:off x="7686675" y="5276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Admin/Super-admin role gates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011DAC-C195-4113-920D-B4B6FBB856F9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AB02BA-0958-4D95-90B1-ACD5AC79E97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AE70D95-148C-4D9C-B256-EE59246A0517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535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1D7AF32-DCAD-4476-A236-A801BE49A8B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GOVERNANCE AND CONTROLS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495587-07E6-4C75-98A3-4155A7ABCF6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How management keeps the system controlled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6FA4EA-1541-4BDB-B99B-60D8848F2AB9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en-US" sz="1350" b="0" i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ICRS</a:t>
            </a:r>
            <a:r>
              <a:rPr sz="1350" b="0" i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uses role gates and module permissions so the same app can serve operators, inspectors, admins, and super admins without giving everyone the same access.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F219AC-AFE7-4656-A8BC-18D258334010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32956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1982C-0B21-4FA3-9AC2-E5AF7AED9115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57150" cy="1447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5A03B5-7F75-460F-93B7-8FDA78512591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Role-based access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E2CC0A-EFEF-41C1-879A-DE8C064B5417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2895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Admin and super-admin areas are separated from normal inspection usage.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F6B7D9-D7BC-4C48-AD4C-C6498910FFED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32956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4F123-F855-4683-B9A8-229892E0E6D0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57150" cy="14478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68871E-294B-4B25-8D39-446C5B51291B}"/>
              </a:ext>
            </a:extLst>
          </p:cNvPr>
          <p:cNvSpPr>
            <a:spLocks noGrp="1"/>
          </p:cNvSpPr>
          <p:nvPr/>
        </p:nvSpPr>
        <p:spPr>
          <a:xfrm>
            <a:off x="4686300" y="224790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Module permissions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186188-E0FB-402D-A548-EF6CEBC8C66A}"/>
              </a:ext>
            </a:extLst>
          </p:cNvPr>
          <p:cNvSpPr>
            <a:spLocks noGrp="1"/>
          </p:cNvSpPr>
          <p:nvPr/>
        </p:nvSpPr>
        <p:spPr>
          <a:xfrm>
            <a:off x="4686300" y="2590800"/>
            <a:ext cx="2895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Routes and UI actions are gated by module/action permissions such as view, create, update, approve, import, export.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FA525A-0643-4912-88CF-9BCB001AE4D2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32956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9B93-8AA9-45BF-BEA2-D4F09F3837B3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57150" cy="14478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2F9C22-1F05-4DD1-964E-86BFF3AEA52C}"/>
              </a:ext>
            </a:extLst>
          </p:cNvPr>
          <p:cNvSpPr>
            <a:spLocks noGrp="1"/>
          </p:cNvSpPr>
          <p:nvPr/>
        </p:nvSpPr>
        <p:spPr>
          <a:xfrm>
            <a:off x="8439150" y="224790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Audit visibility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99A87E-0CCE-46D2-A088-2D34DEDE0AA0}"/>
              </a:ext>
            </a:extLst>
          </p:cNvPr>
          <p:cNvSpPr>
            <a:spLocks noGrp="1"/>
          </p:cNvSpPr>
          <p:nvPr/>
        </p:nvSpPr>
        <p:spPr>
          <a:xfrm>
            <a:off x="8439150" y="2590800"/>
            <a:ext cx="2895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Dashboard recent activity and activity-log pages support accountability for sensitive actions.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B45370-01C5-4BF7-9926-E91788950947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C5D4EC-D62F-4920-96DE-18DB713E505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DD5A01-408C-4FE9-BB3B-26A0856182B4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231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0E140957-3CEF-451D-A8DD-7E1D0C2A6E7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USER MANAGEMENT AND QR CAPABILITY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33415F-6B74-47E7-BD58-EA5B63D1108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Built-in administration for people, identity, and 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6AB8B-C786-4280-920C-AB87ECBFB420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user module supports employee profiles, QR identification, status tracking, filtering, and role/department/position assignment.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0F8C70-95CE-49EC-AE96-2EA99DD30805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59E4A6-CE6D-49EC-8BF1-9C8AB44B3CCB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57150" cy="7239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077B8C-7904-4556-A176-FB697FDA90F9}"/>
              </a:ext>
            </a:extLst>
          </p:cNvPr>
          <p:cNvSpPr>
            <a:spLocks noGrp="1"/>
          </p:cNvSpPr>
          <p:nvPr/>
        </p:nvSpPr>
        <p:spPr>
          <a:xfrm>
            <a:off x="914400" y="1905000"/>
            <a:ext cx="455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Employee profiles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0ADE5-E94E-4B02-A15E-E1E030BD61CF}"/>
              </a:ext>
            </a:extLst>
          </p:cNvPr>
          <p:cNvSpPr>
            <a:spLocks noGrp="1"/>
          </p:cNvSpPr>
          <p:nvPr/>
        </p:nvSpPr>
        <p:spPr>
          <a:xfrm>
            <a:off x="914400" y="2171009"/>
            <a:ext cx="45529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Name, email, employee ID, role, position, contact and employment details.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1769F8-F2C2-45E5-A600-D0B76B6B9E1A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71669A-79C5-464B-BD9B-B5C673D47543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57150" cy="723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0E7C16-D7AD-4A03-9323-FADA7E9FACDB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455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QR code generation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A893A3-388F-4849-A125-2F57FF2B7922}"/>
              </a:ext>
            </a:extLst>
          </p:cNvPr>
          <p:cNvSpPr>
            <a:spLocks noGrp="1"/>
          </p:cNvSpPr>
          <p:nvPr/>
        </p:nvSpPr>
        <p:spPr>
          <a:xfrm>
            <a:off x="914400" y="3114457"/>
            <a:ext cx="45529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Encrypted QR data with signature verification for tamper resistance.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780383-1C25-4007-AF30-750F232DF3C7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2AABF-12A6-4307-AEF6-E8FC29396FEC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57150" cy="723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34B00A-6E93-425C-9381-E8A0013FEC78}"/>
              </a:ext>
            </a:extLst>
          </p:cNvPr>
          <p:cNvSpPr>
            <a:spLocks noGrp="1"/>
          </p:cNvSpPr>
          <p:nvPr/>
        </p:nvSpPr>
        <p:spPr>
          <a:xfrm>
            <a:off x="914400" y="3833703"/>
            <a:ext cx="455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QR scanner 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F0BBE4-2951-42CF-96D1-F2726024007C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5529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Camera-based scan with manual input fallback for identification workflows.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1C4DC9-F6C0-4C1F-8585-BA8D64FB6FAC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0D3A53-AAA3-4A9C-BE36-C5C906846B44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57150" cy="7239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35EBA-A77B-4BAC-BAC2-EA3C56B2C1EE}"/>
              </a:ext>
            </a:extLst>
          </p:cNvPr>
          <p:cNvSpPr>
            <a:spLocks noGrp="1"/>
          </p:cNvSpPr>
          <p:nvPr/>
        </p:nvSpPr>
        <p:spPr>
          <a:xfrm>
            <a:off x="914400" y="4694043"/>
            <a:ext cx="455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Bulk operations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E2B8A8-F2F0-480A-9F93-024B2C791F88}"/>
              </a:ext>
            </a:extLst>
          </p:cNvPr>
          <p:cNvSpPr>
            <a:spLocks noGrp="1"/>
          </p:cNvSpPr>
          <p:nvPr/>
        </p:nvSpPr>
        <p:spPr>
          <a:xfrm>
            <a:off x="914400" y="4984555"/>
            <a:ext cx="45529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Activate, deactivate, delete-as-deactivate, and QR lifecycle operations.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D86A65-DE9D-4F8F-AF79-1616449F27F9}"/>
              </a:ext>
            </a:extLst>
          </p:cNvPr>
          <p:cNvSpPr>
            <a:spLocks noGrp="1"/>
          </p:cNvSpPr>
          <p:nvPr/>
        </p:nvSpPr>
        <p:spPr>
          <a:xfrm>
            <a:off x="6724650" y="1962150"/>
            <a:ext cx="3524250" cy="352425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E980B3-5FB7-4579-9A87-6ED89D88D7CC}"/>
              </a:ext>
            </a:extLst>
          </p:cNvPr>
          <p:cNvSpPr>
            <a:spLocks noGrp="1"/>
          </p:cNvSpPr>
          <p:nvPr/>
        </p:nvSpPr>
        <p:spPr>
          <a:xfrm>
            <a:off x="7105650" y="23050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QR identity loop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83D81F0-1E76-4604-95A0-44A70CD48E1C}"/>
              </a:ext>
            </a:extLst>
          </p:cNvPr>
          <p:cNvSpPr>
            <a:spLocks noGrp="1"/>
          </p:cNvSpPr>
          <p:nvPr/>
        </p:nvSpPr>
        <p:spPr>
          <a:xfrm>
            <a:off x="8086725" y="2857500"/>
            <a:ext cx="800100" cy="80010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1F8992-D686-4E9F-8BBB-FE701C91FF14}"/>
              </a:ext>
            </a:extLst>
          </p:cNvPr>
          <p:cNvSpPr>
            <a:spLocks noGrp="1"/>
          </p:cNvSpPr>
          <p:nvPr/>
        </p:nvSpPr>
        <p:spPr>
          <a:xfrm>
            <a:off x="8124825" y="31623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2DDA160-FA19-4D9E-BE4B-55E3F4471CE2}"/>
              </a:ext>
            </a:extLst>
          </p:cNvPr>
          <p:cNvSpPr>
            <a:spLocks noGrp="1"/>
          </p:cNvSpPr>
          <p:nvPr/>
        </p:nvSpPr>
        <p:spPr>
          <a:xfrm>
            <a:off x="7067550" y="3943350"/>
            <a:ext cx="800100" cy="800100"/>
          </a:xfrm>
          <a:prstGeom prst="ellipse">
            <a:avLst/>
          </a:prstGeom>
          <a:solidFill>
            <a:srgbClr val="D9F3E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A48D73-8E5D-420F-8247-EE63833F5888}"/>
              </a:ext>
            </a:extLst>
          </p:cNvPr>
          <p:cNvSpPr>
            <a:spLocks noGrp="1"/>
          </p:cNvSpPr>
          <p:nvPr/>
        </p:nvSpPr>
        <p:spPr>
          <a:xfrm>
            <a:off x="7105650" y="42481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QR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E6303E-FD0C-407D-97E2-108A64C0E757}"/>
              </a:ext>
            </a:extLst>
          </p:cNvPr>
          <p:cNvSpPr>
            <a:spLocks noGrp="1"/>
          </p:cNvSpPr>
          <p:nvPr/>
        </p:nvSpPr>
        <p:spPr>
          <a:xfrm>
            <a:off x="9105900" y="3943350"/>
            <a:ext cx="800100" cy="80010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3807D6-4F6A-4A73-917C-C782FE71F1D1}"/>
              </a:ext>
            </a:extLst>
          </p:cNvPr>
          <p:cNvSpPr>
            <a:spLocks noGrp="1"/>
          </p:cNvSpPr>
          <p:nvPr/>
        </p:nvSpPr>
        <p:spPr>
          <a:xfrm>
            <a:off x="9144000" y="42481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37D073-91CA-44F4-9C96-A73E808EFCB8}"/>
              </a:ext>
            </a:extLst>
          </p:cNvPr>
          <p:cNvSpPr>
            <a:spLocks noGrp="1"/>
          </p:cNvSpPr>
          <p:nvPr/>
        </p:nvSpPr>
        <p:spPr>
          <a:xfrm>
            <a:off x="8058150" y="3752850"/>
            <a:ext cx="838200" cy="381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C5C609-66CF-46BF-9BF7-70969B8DB9DD}"/>
              </a:ext>
            </a:extLst>
          </p:cNvPr>
          <p:cNvSpPr>
            <a:spLocks noGrp="1"/>
          </p:cNvSpPr>
          <p:nvPr/>
        </p:nvSpPr>
        <p:spPr>
          <a:xfrm>
            <a:off x="8001000" y="3829050"/>
            <a:ext cx="38100" cy="4191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A20B93-4F34-4B19-8E84-B84F396C792F}"/>
              </a:ext>
            </a:extLst>
          </p:cNvPr>
          <p:cNvSpPr>
            <a:spLocks noGrp="1"/>
          </p:cNvSpPr>
          <p:nvPr/>
        </p:nvSpPr>
        <p:spPr>
          <a:xfrm>
            <a:off x="8953500" y="3829050"/>
            <a:ext cx="38100" cy="4191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59CAEF-1895-4277-9A03-7B949EF119A6}"/>
              </a:ext>
            </a:extLst>
          </p:cNvPr>
          <p:cNvSpPr>
            <a:spLocks noGrp="1"/>
          </p:cNvSpPr>
          <p:nvPr/>
        </p:nvSpPr>
        <p:spPr>
          <a:xfrm>
            <a:off x="7867650" y="4743450"/>
            <a:ext cx="1238250" cy="381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FC22DB-800D-48F0-9B11-3C8B8EAE473D}"/>
              </a:ext>
            </a:extLst>
          </p:cNvPr>
          <p:cNvSpPr>
            <a:spLocks noGrp="1"/>
          </p:cNvSpPr>
          <p:nvPr/>
        </p:nvSpPr>
        <p:spPr>
          <a:xfrm>
            <a:off x="6724650" y="56959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Security note: QR values are encrypted and active status is checked before QR-based identification is accepted.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AC2D7-1EDD-4295-846F-40D4D5A9DEA0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31C040-C06B-4062-8679-8871B4D5020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F76821-9F62-4A59-930B-D06A158C512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80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6EBB945-F145-407A-AE01-D149470CFDB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DEPLOYMENT AND SECURITY POSTURE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997BBD-C895-4B67-8857-FA45946C0A9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Recommended internal-company hosting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E9E6F9-838B-4466-8C36-37B37D28649C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technical proposal recommends an intranet deployment: company LAN or approved remote-access layer, internal DNS, HTTPS, private database, and backup discipline.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B394F0-6C53-45D1-BB28-85202BFD1DFE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943100" cy="1905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A3B267A-A368-4998-9A34-98A4D1724BE5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17D1E8-679A-4D93-A8DD-7E188528F4C8}"/>
              </a:ext>
            </a:extLst>
          </p:cNvPr>
          <p:cNvSpPr>
            <a:spLocks noGrp="1"/>
          </p:cNvSpPr>
          <p:nvPr/>
        </p:nvSpPr>
        <p:spPr>
          <a:xfrm>
            <a:off x="857250" y="31242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31C085-E37B-4B76-B078-5BB181F91898}"/>
              </a:ext>
            </a:extLst>
          </p:cNvPr>
          <p:cNvSpPr>
            <a:spLocks noGrp="1"/>
          </p:cNvSpPr>
          <p:nvPr/>
        </p:nvSpPr>
        <p:spPr>
          <a:xfrm>
            <a:off x="135255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Users and tablets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D2C305-A6D2-47B4-9490-1CA2AFBE76CD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4859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Office PCs/tablets access through company LAN or Wi-Fi.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DBD7EB-EF53-4751-AF9E-E1BE081F0708}"/>
              </a:ext>
            </a:extLst>
          </p:cNvPr>
          <p:cNvSpPr>
            <a:spLocks noGrp="1"/>
          </p:cNvSpPr>
          <p:nvPr/>
        </p:nvSpPr>
        <p:spPr>
          <a:xfrm>
            <a:off x="2914650" y="2876550"/>
            <a:ext cx="1943100" cy="1905000"/>
          </a:xfrm>
          <a:prstGeom prst="roundRect">
            <a:avLst>
              <a:gd name="adj" fmla="val 4000"/>
            </a:avLst>
          </a:prstGeom>
          <a:solidFill>
            <a:srgbClr val="D9F3EE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E3A7F5-C85D-446C-BEDB-872D9FA18A6C}"/>
              </a:ext>
            </a:extLst>
          </p:cNvPr>
          <p:cNvSpPr>
            <a:spLocks noGrp="1"/>
          </p:cNvSpPr>
          <p:nvPr/>
        </p:nvSpPr>
        <p:spPr>
          <a:xfrm>
            <a:off x="3086100" y="3048000"/>
            <a:ext cx="361950" cy="3619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8B063B-14C4-45D5-95B5-82C87AF75C49}"/>
              </a:ext>
            </a:extLst>
          </p:cNvPr>
          <p:cNvSpPr>
            <a:spLocks noGrp="1"/>
          </p:cNvSpPr>
          <p:nvPr/>
        </p:nvSpPr>
        <p:spPr>
          <a:xfrm>
            <a:off x="3086100" y="31242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0D9B4A-5C6C-4442-84D0-E330EA791C48}"/>
              </a:ext>
            </a:extLst>
          </p:cNvPr>
          <p:cNvSpPr>
            <a:spLocks noGrp="1"/>
          </p:cNvSpPr>
          <p:nvPr/>
        </p:nvSpPr>
        <p:spPr>
          <a:xfrm>
            <a:off x="358140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Internal DNS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B011F9-A2F8-4D8C-BD50-3014F2D270D7}"/>
              </a:ext>
            </a:extLst>
          </p:cNvPr>
          <p:cNvSpPr>
            <a:spLocks noGrp="1"/>
          </p:cNvSpPr>
          <p:nvPr/>
        </p:nvSpPr>
        <p:spPr>
          <a:xfrm>
            <a:off x="3143250" y="3543300"/>
            <a:ext cx="14859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lang="en-US" sz="1125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icrs</a:t>
            </a:r>
            <a:r>
              <a:rPr sz="1125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.hpi.org.ph resolves to the private app server IP.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8BEBD-0B8A-44B5-A1C1-41FF88199B82}"/>
              </a:ext>
            </a:extLst>
          </p:cNvPr>
          <p:cNvSpPr>
            <a:spLocks noGrp="1"/>
          </p:cNvSpPr>
          <p:nvPr/>
        </p:nvSpPr>
        <p:spPr>
          <a:xfrm>
            <a:off x="5143500" y="2876550"/>
            <a:ext cx="1943100" cy="19050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421ECC-8543-4D91-B790-7C82DBB7C454}"/>
              </a:ext>
            </a:extLst>
          </p:cNvPr>
          <p:cNvSpPr>
            <a:spLocks noGrp="1"/>
          </p:cNvSpPr>
          <p:nvPr/>
        </p:nvSpPr>
        <p:spPr>
          <a:xfrm>
            <a:off x="5314950" y="3048000"/>
            <a:ext cx="361950" cy="361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2EDFB3-FF3F-40F6-A6FF-280359C424FB}"/>
              </a:ext>
            </a:extLst>
          </p:cNvPr>
          <p:cNvSpPr>
            <a:spLocks noGrp="1"/>
          </p:cNvSpPr>
          <p:nvPr/>
        </p:nvSpPr>
        <p:spPr>
          <a:xfrm>
            <a:off x="5314950" y="31242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0C866D-485E-46FF-8A12-4B5088048DCB}"/>
              </a:ext>
            </a:extLst>
          </p:cNvPr>
          <p:cNvSpPr>
            <a:spLocks noGrp="1"/>
          </p:cNvSpPr>
          <p:nvPr/>
        </p:nvSpPr>
        <p:spPr>
          <a:xfrm>
            <a:off x="581025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App server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2D8A4E-72CA-46EF-9C16-8ECEA5171DFD}"/>
              </a:ext>
            </a:extLst>
          </p:cNvPr>
          <p:cNvSpPr>
            <a:spLocks noGrp="1"/>
          </p:cNvSpPr>
          <p:nvPr/>
        </p:nvSpPr>
        <p:spPr>
          <a:xfrm>
            <a:off x="5372100" y="3543300"/>
            <a:ext cx="14859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Laravel app is served through the public directory over HTTPS.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A7BFD3-04AE-4697-9AF1-827D9C211907}"/>
              </a:ext>
            </a:extLst>
          </p:cNvPr>
          <p:cNvSpPr>
            <a:spLocks noGrp="1"/>
          </p:cNvSpPr>
          <p:nvPr/>
        </p:nvSpPr>
        <p:spPr>
          <a:xfrm>
            <a:off x="7372350" y="2876550"/>
            <a:ext cx="1943100" cy="19050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4288">
            <a:solidFill>
              <a:srgbClr val="16A34A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799CEB-0CF7-4315-BE1A-7BBD46D1D839}"/>
              </a:ext>
            </a:extLst>
          </p:cNvPr>
          <p:cNvSpPr>
            <a:spLocks noGrp="1"/>
          </p:cNvSpPr>
          <p:nvPr/>
        </p:nvSpPr>
        <p:spPr>
          <a:xfrm>
            <a:off x="7543800" y="3048000"/>
            <a:ext cx="361950" cy="361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7B1584-C9ED-49B4-882F-A5E412E17160}"/>
              </a:ext>
            </a:extLst>
          </p:cNvPr>
          <p:cNvSpPr>
            <a:spLocks noGrp="1"/>
          </p:cNvSpPr>
          <p:nvPr/>
        </p:nvSpPr>
        <p:spPr>
          <a:xfrm>
            <a:off x="7543800" y="31242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858C83-4FDE-476F-9EF6-D5D85D7642CC}"/>
              </a:ext>
            </a:extLst>
          </p:cNvPr>
          <p:cNvSpPr>
            <a:spLocks noGrp="1"/>
          </p:cNvSpPr>
          <p:nvPr/>
        </p:nvSpPr>
        <p:spPr>
          <a:xfrm>
            <a:off x="8039100" y="3048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B8F70A-85EA-4154-B1F7-083AA4A51872}"/>
              </a:ext>
            </a:extLst>
          </p:cNvPr>
          <p:cNvSpPr>
            <a:spLocks noGrp="1"/>
          </p:cNvSpPr>
          <p:nvPr/>
        </p:nvSpPr>
        <p:spPr>
          <a:xfrm>
            <a:off x="7600950" y="3543300"/>
            <a:ext cx="14859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MySQL/MariaDB remains private to the app server.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11AFBA2-854C-4D3B-9125-832993DA5410}"/>
              </a:ext>
            </a:extLst>
          </p:cNvPr>
          <p:cNvSpPr>
            <a:spLocks noGrp="1"/>
          </p:cNvSpPr>
          <p:nvPr/>
        </p:nvSpPr>
        <p:spPr>
          <a:xfrm>
            <a:off x="9601200" y="2876550"/>
            <a:ext cx="1905000" cy="19050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85ADC4-6BA7-4596-B8D7-7A0A0D5C6357}"/>
              </a:ext>
            </a:extLst>
          </p:cNvPr>
          <p:cNvSpPr>
            <a:spLocks noGrp="1"/>
          </p:cNvSpPr>
          <p:nvPr/>
        </p:nvSpPr>
        <p:spPr>
          <a:xfrm>
            <a:off x="9772650" y="3048000"/>
            <a:ext cx="361950" cy="36195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D23AD2-E861-4F67-8F42-9F8BE5F13397}"/>
              </a:ext>
            </a:extLst>
          </p:cNvPr>
          <p:cNvSpPr>
            <a:spLocks noGrp="1"/>
          </p:cNvSpPr>
          <p:nvPr/>
        </p:nvSpPr>
        <p:spPr>
          <a:xfrm>
            <a:off x="9772650" y="31242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196051-6B66-434B-BF3E-2DDCA7E6E6DC}"/>
              </a:ext>
            </a:extLst>
          </p:cNvPr>
          <p:cNvSpPr>
            <a:spLocks noGrp="1"/>
          </p:cNvSpPr>
          <p:nvPr/>
        </p:nvSpPr>
        <p:spPr>
          <a:xfrm>
            <a:off x="10267950" y="30480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Backups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931A78-32A7-46B0-B554-37A7688C43F1}"/>
              </a:ext>
            </a:extLst>
          </p:cNvPr>
          <p:cNvSpPr>
            <a:spLocks noGrp="1"/>
          </p:cNvSpPr>
          <p:nvPr/>
        </p:nvSpPr>
        <p:spPr>
          <a:xfrm>
            <a:off x="9829800" y="3543300"/>
            <a:ext cx="14478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Daily database and file backups with restore testing.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C908E9-73D8-4887-814B-7763FB7D3DE0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135DFD8-15BF-49AB-88C7-67336D66960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internal hosting technical specs proposal, June 3, 2026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E64774-CB46-4CAD-8F45-A0A84B24982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39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D9A5827-5A53-4040-B282-45BB5FAD82C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MANAGEMENT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B8A3C4-37F5-4596-B3DC-8DD1B8B9E6B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What the organization gains from adoption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43C1F-4894-4D7B-9C62-39CF9F86EAFC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value case is mostly operational control: faster visibility, cleaner records, consistent approvals, stronger access control, and more reliable audit preparation.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6FF795-6529-4043-9F51-1591D0F314AB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2324100" cy="24003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87271A-AF38-4762-A362-4B64E14102CB}"/>
              </a:ext>
            </a:extLst>
          </p:cNvPr>
          <p:cNvSpPr>
            <a:spLocks noGrp="1"/>
          </p:cNvSpPr>
          <p:nvPr/>
        </p:nvSpPr>
        <p:spPr>
          <a:xfrm>
            <a:off x="1619250" y="2457450"/>
            <a:ext cx="838200" cy="83820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B36C7-319A-4F7F-B7E9-4DB37A5DDC1A}"/>
              </a:ext>
            </a:extLst>
          </p:cNvPr>
          <p:cNvSpPr>
            <a:spLocks noGrp="1"/>
          </p:cNvSpPr>
          <p:nvPr/>
        </p:nvSpPr>
        <p:spPr>
          <a:xfrm>
            <a:off x="1619250" y="2628900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0167E-50BA-4408-83CB-B1BEFD442E93}"/>
              </a:ext>
            </a:extLst>
          </p:cNvPr>
          <p:cNvSpPr>
            <a:spLocks noGrp="1"/>
          </p:cNvSpPr>
          <p:nvPr/>
        </p:nvSpPr>
        <p:spPr>
          <a:xfrm>
            <a:off x="1085850" y="34480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87DDCC-ED4D-4D08-B5C3-6766DDC6E078}"/>
              </a:ext>
            </a:extLst>
          </p:cNvPr>
          <p:cNvSpPr>
            <a:spLocks noGrp="1"/>
          </p:cNvSpPr>
          <p:nvPr/>
        </p:nvSpPr>
        <p:spPr>
          <a:xfrm>
            <a:off x="1104900" y="3819018"/>
            <a:ext cx="1866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Users, statuses, dates, and activity history help answer who did what and when.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B0A73B-6519-46F6-9932-EF1D0FCC79E9}"/>
              </a:ext>
            </a:extLst>
          </p:cNvPr>
          <p:cNvSpPr>
            <a:spLocks noGrp="1"/>
          </p:cNvSpPr>
          <p:nvPr/>
        </p:nvSpPr>
        <p:spPr>
          <a:xfrm>
            <a:off x="3657600" y="2152650"/>
            <a:ext cx="2324100" cy="24003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DDDF26-60B9-42F2-9E03-F9C144B80623}"/>
              </a:ext>
            </a:extLst>
          </p:cNvPr>
          <p:cNvSpPr>
            <a:spLocks noGrp="1"/>
          </p:cNvSpPr>
          <p:nvPr/>
        </p:nvSpPr>
        <p:spPr>
          <a:xfrm>
            <a:off x="4400550" y="2457450"/>
            <a:ext cx="838200" cy="83820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4BF1CA-7E8C-4202-ACBE-8911B289A65C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FD3CD0-C08E-4E0E-883B-18A6F9EA52B3}"/>
              </a:ext>
            </a:extLst>
          </p:cNvPr>
          <p:cNvSpPr>
            <a:spLocks noGrp="1"/>
          </p:cNvSpPr>
          <p:nvPr/>
        </p:nvSpPr>
        <p:spPr>
          <a:xfrm>
            <a:off x="3867150" y="34480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Standardization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3785F9-D574-41F9-BA56-21E56735B892}"/>
              </a:ext>
            </a:extLst>
          </p:cNvPr>
          <p:cNvSpPr>
            <a:spLocks noGrp="1"/>
          </p:cNvSpPr>
          <p:nvPr/>
        </p:nvSpPr>
        <p:spPr>
          <a:xfrm>
            <a:off x="3886200" y="3819018"/>
            <a:ext cx="1866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Common workflows reduce module-by-module inconsistency.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230335-3A36-44BE-B82C-82C64C3F78A3}"/>
              </a:ext>
            </a:extLst>
          </p:cNvPr>
          <p:cNvSpPr>
            <a:spLocks noGrp="1"/>
          </p:cNvSpPr>
          <p:nvPr/>
        </p:nvSpPr>
        <p:spPr>
          <a:xfrm>
            <a:off x="6438900" y="2152650"/>
            <a:ext cx="2324100" cy="24003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504612E-A0C1-4A53-91E8-B9A0C5C03493}"/>
              </a:ext>
            </a:extLst>
          </p:cNvPr>
          <p:cNvSpPr>
            <a:spLocks noGrp="1"/>
          </p:cNvSpPr>
          <p:nvPr/>
        </p:nvSpPr>
        <p:spPr>
          <a:xfrm>
            <a:off x="7181850" y="2457450"/>
            <a:ext cx="838200" cy="8382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64C24C-2AA0-48DA-9040-1B8F95FA5242}"/>
              </a:ext>
            </a:extLst>
          </p:cNvPr>
          <p:cNvSpPr>
            <a:spLocks noGrp="1"/>
          </p:cNvSpPr>
          <p:nvPr/>
        </p:nvSpPr>
        <p:spPr>
          <a:xfrm>
            <a:off x="7181850" y="2628900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76195B-B446-446C-BF77-BF8EBE67216D}"/>
              </a:ext>
            </a:extLst>
          </p:cNvPr>
          <p:cNvSpPr>
            <a:spLocks noGrp="1"/>
          </p:cNvSpPr>
          <p:nvPr/>
        </p:nvSpPr>
        <p:spPr>
          <a:xfrm>
            <a:off x="6648450" y="343852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Visibility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02EDE9-00BD-4F8F-AA83-8385FDFC1EBA}"/>
              </a:ext>
            </a:extLst>
          </p:cNvPr>
          <p:cNvSpPr>
            <a:spLocks noGrp="1"/>
          </p:cNvSpPr>
          <p:nvPr/>
        </p:nvSpPr>
        <p:spPr>
          <a:xfrm>
            <a:off x="6667500" y="3810000"/>
            <a:ext cx="1866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Dashboard, filters, pending queues, and lists make work easier to monitor.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22D8C2-C4C6-4181-BA1D-637A109EABF0}"/>
              </a:ext>
            </a:extLst>
          </p:cNvPr>
          <p:cNvSpPr>
            <a:spLocks noGrp="1"/>
          </p:cNvSpPr>
          <p:nvPr/>
        </p:nvSpPr>
        <p:spPr>
          <a:xfrm>
            <a:off x="9220200" y="2152650"/>
            <a:ext cx="2324100" cy="24003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B32772B-D2A3-4CD8-9892-F981C8909377}"/>
              </a:ext>
            </a:extLst>
          </p:cNvPr>
          <p:cNvSpPr>
            <a:spLocks noGrp="1"/>
          </p:cNvSpPr>
          <p:nvPr/>
        </p:nvSpPr>
        <p:spPr>
          <a:xfrm>
            <a:off x="9963150" y="2457450"/>
            <a:ext cx="838200" cy="8382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08F78F-D635-4CB9-BA69-6FCEF88E175A}"/>
              </a:ext>
            </a:extLst>
          </p:cNvPr>
          <p:cNvSpPr>
            <a:spLocks noGrp="1"/>
          </p:cNvSpPr>
          <p:nvPr/>
        </p:nvSpPr>
        <p:spPr>
          <a:xfrm>
            <a:off x="9963150" y="2628900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E1F67-FABE-42FF-8AED-0DB354737ACE}"/>
              </a:ext>
            </a:extLst>
          </p:cNvPr>
          <p:cNvSpPr>
            <a:spLocks noGrp="1"/>
          </p:cNvSpPr>
          <p:nvPr/>
        </p:nvSpPr>
        <p:spPr>
          <a:xfrm>
            <a:off x="9429750" y="3441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0F80BC-1C2A-497A-B5B9-8B70D7F3A7FC}"/>
              </a:ext>
            </a:extLst>
          </p:cNvPr>
          <p:cNvSpPr>
            <a:spLocks noGrp="1"/>
          </p:cNvSpPr>
          <p:nvPr/>
        </p:nvSpPr>
        <p:spPr>
          <a:xfrm>
            <a:off x="9448800" y="3735405"/>
            <a:ext cx="1866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Roles and module permissions support controlled access by responsibility.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D03F9C-BE65-4CA7-8228-49ED0500DE1E}"/>
              </a:ext>
            </a:extLst>
          </p:cNvPr>
          <p:cNvSpPr>
            <a:spLocks noGrp="1"/>
          </p:cNvSpPr>
          <p:nvPr/>
        </p:nvSpPr>
        <p:spPr>
          <a:xfrm>
            <a:off x="1504950" y="5143500"/>
            <a:ext cx="918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This is why the presentation should frame MIRS as a business-control platform for quality inspection data, not only as a software project.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9A0A27-1706-4D51-A2D3-000B9A8DF0C6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A84D04-60E9-4927-9AA7-B47F4548271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AC7A4D-4837-4919-B470-4EDEBDD4184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760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FB71BD77-31A0-40F5-B07E-596A1C9FAB0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DRY-RUN TESTING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038158-E3D3-45ED-8279-FC5E7DF1FD9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Before full rollout: test with real users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F42E02-E7C5-4BB1-BD74-6945913ACBA3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next request to management is approval to conduct a controlled dry-run with the people who will actually use the web application in daily work.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CEA133-3DFD-4C8E-ABE0-09E14961F835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0820400" cy="9525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4D2C1-F627-4C91-AEC7-6D41F94E24BA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F3EE"/>
                </a:solidFill>
                <a:latin typeface="Aptos"/>
                <a:ea typeface="Aptos"/>
                <a:cs typeface="Aptos"/>
              </a:rPr>
              <a:t>Purpose of the dry-run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18A38-5ADD-4E5C-98B4-294B9A06EEA1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usability, workflow accuracy, permissions, data entry, approvals, and training gaps before official implementation.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003B20-DC08-49AA-8FE4-A1AA45540B8B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6C0EFF-CC45-48A3-88CC-5A1E8B62D037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419100" cy="41910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66B9C-7A30-47C7-9B36-7F59C458B686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DDCB98-8DA2-4426-B183-AE2422C34837}"/>
              </a:ext>
            </a:extLst>
          </p:cNvPr>
          <p:cNvSpPr>
            <a:spLocks noGrp="1"/>
          </p:cNvSpPr>
          <p:nvPr/>
        </p:nvSpPr>
        <p:spPr>
          <a:xfrm>
            <a:off x="1466850" y="35814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Select users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CACDA-D1E9-4C49-90FB-B7CB7728C674}"/>
              </a:ext>
            </a:extLst>
          </p:cNvPr>
          <p:cNvSpPr>
            <a:spLocks noGrp="1"/>
          </p:cNvSpPr>
          <p:nvPr/>
        </p:nvSpPr>
        <p:spPr>
          <a:xfrm>
            <a:off x="914400" y="4095750"/>
            <a:ext cx="1924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Operators, inspectors, approvers, and admins who represent the real workflow.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B88C09-3802-4C06-961B-D6BC906F2CF8}"/>
              </a:ext>
            </a:extLst>
          </p:cNvPr>
          <p:cNvSpPr>
            <a:spLocks noGrp="1"/>
          </p:cNvSpPr>
          <p:nvPr/>
        </p:nvSpPr>
        <p:spPr>
          <a:xfrm>
            <a:off x="3467100" y="335280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D9F3EE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AAC480-B1B8-48DD-8BA2-BF1625FB105D}"/>
              </a:ext>
            </a:extLst>
          </p:cNvPr>
          <p:cNvSpPr>
            <a:spLocks noGrp="1"/>
          </p:cNvSpPr>
          <p:nvPr/>
        </p:nvSpPr>
        <p:spPr>
          <a:xfrm>
            <a:off x="3657600" y="3581400"/>
            <a:ext cx="419100" cy="41910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E6D879-1C4A-4E4F-9E2C-00F704F0BBA6}"/>
              </a:ext>
            </a:extLst>
          </p:cNvPr>
          <p:cNvSpPr>
            <a:spLocks noGrp="1"/>
          </p:cNvSpPr>
          <p:nvPr/>
        </p:nvSpPr>
        <p:spPr>
          <a:xfrm>
            <a:off x="3657600" y="3676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A8D430-AF4C-4BAD-B19F-34C852E7C319}"/>
              </a:ext>
            </a:extLst>
          </p:cNvPr>
          <p:cNvSpPr>
            <a:spLocks noGrp="1"/>
          </p:cNvSpPr>
          <p:nvPr/>
        </p:nvSpPr>
        <p:spPr>
          <a:xfrm>
            <a:off x="4248150" y="35814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Use sample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9C2F39-2093-4A1F-8E0D-A63BD5CC7390}"/>
              </a:ext>
            </a:extLst>
          </p:cNvPr>
          <p:cNvSpPr>
            <a:spLocks noGrp="1"/>
          </p:cNvSpPr>
          <p:nvPr/>
        </p:nvSpPr>
        <p:spPr>
          <a:xfrm>
            <a:off x="3695700" y="4095750"/>
            <a:ext cx="1924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realistic records without treating them as final production data.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1FA072-1359-44E8-AA57-1A5507262CFD}"/>
              </a:ext>
            </a:extLst>
          </p:cNvPr>
          <p:cNvSpPr>
            <a:spLocks noGrp="1"/>
          </p:cNvSpPr>
          <p:nvPr/>
        </p:nvSpPr>
        <p:spPr>
          <a:xfrm>
            <a:off x="6248400" y="335280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82E43C-B64F-4B68-A66D-956D85A74481}"/>
              </a:ext>
            </a:extLst>
          </p:cNvPr>
          <p:cNvSpPr>
            <a:spLocks noGrp="1"/>
          </p:cNvSpPr>
          <p:nvPr/>
        </p:nvSpPr>
        <p:spPr>
          <a:xfrm>
            <a:off x="6438900" y="358140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6EF72-047B-405F-B4A1-4C21EDABDEEC}"/>
              </a:ext>
            </a:extLst>
          </p:cNvPr>
          <p:cNvSpPr>
            <a:spLocks noGrp="1"/>
          </p:cNvSpPr>
          <p:nvPr/>
        </p:nvSpPr>
        <p:spPr>
          <a:xfrm>
            <a:off x="6438900" y="3676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C7A9E6-E24B-4FEE-9DAA-EAC35F9876EB}"/>
              </a:ext>
            </a:extLst>
          </p:cNvPr>
          <p:cNvSpPr>
            <a:spLocks noGrp="1"/>
          </p:cNvSpPr>
          <p:nvPr/>
        </p:nvSpPr>
        <p:spPr>
          <a:xfrm>
            <a:off x="7029450" y="35814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Test core tasks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01F2F6-C481-4F1A-BF8F-043ECF40478D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1924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Create, import, edit, approve/reject, export, and review activity logs.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B042A1-59C5-401E-B35C-B5AE15BB41BE}"/>
              </a:ext>
            </a:extLst>
          </p:cNvPr>
          <p:cNvSpPr>
            <a:spLocks noGrp="1"/>
          </p:cNvSpPr>
          <p:nvPr/>
        </p:nvSpPr>
        <p:spPr>
          <a:xfrm>
            <a:off x="9029700" y="335280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B15AD9-A42D-4751-991F-AFB94BB15C9E}"/>
              </a:ext>
            </a:extLst>
          </p:cNvPr>
          <p:cNvSpPr>
            <a:spLocks noGrp="1"/>
          </p:cNvSpPr>
          <p:nvPr/>
        </p:nvSpPr>
        <p:spPr>
          <a:xfrm>
            <a:off x="9220200" y="3581400"/>
            <a:ext cx="419100" cy="4191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3A84D-16F6-49E7-A1FD-D2517A88A045}"/>
              </a:ext>
            </a:extLst>
          </p:cNvPr>
          <p:cNvSpPr>
            <a:spLocks noGrp="1"/>
          </p:cNvSpPr>
          <p:nvPr/>
        </p:nvSpPr>
        <p:spPr>
          <a:xfrm>
            <a:off x="9220200" y="3676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B8EBBA-C62B-4C35-AF58-8ACAD13AF7B8}"/>
              </a:ext>
            </a:extLst>
          </p:cNvPr>
          <p:cNvSpPr>
            <a:spLocks noGrp="1"/>
          </p:cNvSpPr>
          <p:nvPr/>
        </p:nvSpPr>
        <p:spPr>
          <a:xfrm>
            <a:off x="9810750" y="35814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Collect feedback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289A32-A601-4412-98CF-2B9FDBB71955}"/>
              </a:ext>
            </a:extLst>
          </p:cNvPr>
          <p:cNvSpPr>
            <a:spLocks noGrp="1"/>
          </p:cNvSpPr>
          <p:nvPr/>
        </p:nvSpPr>
        <p:spPr>
          <a:xfrm>
            <a:off x="9258300" y="4095750"/>
            <a:ext cx="1924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Record issues, confusing screens, missing permissions, and training needs.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A083E7B-A650-4189-9172-BDA8DEFA97DD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31051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1369A1-C584-4F04-B0C7-E08A0A19062B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57150" cy="819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8C1438-E6EE-40F5-836B-88A30EECFD02}"/>
              </a:ext>
            </a:extLst>
          </p:cNvPr>
          <p:cNvSpPr>
            <a:spLocks noGrp="1"/>
          </p:cNvSpPr>
          <p:nvPr/>
        </p:nvSpPr>
        <p:spPr>
          <a:xfrm>
            <a:off x="1333500" y="53149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What success looks like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A02B1B-1FBB-41FC-99AB-41949884AB4B}"/>
              </a:ext>
            </a:extLst>
          </p:cNvPr>
          <p:cNvSpPr>
            <a:spLocks noGrp="1"/>
          </p:cNvSpPr>
          <p:nvPr/>
        </p:nvSpPr>
        <p:spPr>
          <a:xfrm>
            <a:off x="1333500" y="5657850"/>
            <a:ext cx="2647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 can complete their assigned workflow without coaching beyond basic orientation.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5FB3F1E-9C4B-4E76-A708-EDAB7DF6EC0F}"/>
              </a:ext>
            </a:extLst>
          </p:cNvPr>
          <p:cNvSpPr>
            <a:spLocks noGrp="1"/>
          </p:cNvSpPr>
          <p:nvPr/>
        </p:nvSpPr>
        <p:spPr>
          <a:xfrm>
            <a:off x="4552950" y="5105400"/>
            <a:ext cx="31051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A57CEF-1EA5-4947-968F-0BEFFF80A05C}"/>
              </a:ext>
            </a:extLst>
          </p:cNvPr>
          <p:cNvSpPr>
            <a:spLocks noGrp="1"/>
          </p:cNvSpPr>
          <p:nvPr/>
        </p:nvSpPr>
        <p:spPr>
          <a:xfrm>
            <a:off x="4552950" y="5105400"/>
            <a:ext cx="57150" cy="8191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012B00-ECE6-41D7-8957-AA2AE89508D5}"/>
              </a:ext>
            </a:extLst>
          </p:cNvPr>
          <p:cNvSpPr>
            <a:spLocks noGrp="1"/>
          </p:cNvSpPr>
          <p:nvPr/>
        </p:nvSpPr>
        <p:spPr>
          <a:xfrm>
            <a:off x="4781550" y="53149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What we expect to discover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A7730E-0052-42A2-BDA3-7A2A5C250136}"/>
              </a:ext>
            </a:extLst>
          </p:cNvPr>
          <p:cNvSpPr>
            <a:spLocks noGrp="1"/>
          </p:cNvSpPr>
          <p:nvPr/>
        </p:nvSpPr>
        <p:spPr>
          <a:xfrm>
            <a:off x="4781550" y="5657850"/>
            <a:ext cx="2647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Permission gaps, unclear labels, missing training points, and small workflow adjustments.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A5FC2F8-C218-4138-A8CF-651863FD806B}"/>
              </a:ext>
            </a:extLst>
          </p:cNvPr>
          <p:cNvSpPr>
            <a:spLocks noGrp="1"/>
          </p:cNvSpPr>
          <p:nvPr/>
        </p:nvSpPr>
        <p:spPr>
          <a:xfrm>
            <a:off x="8001000" y="5105400"/>
            <a:ext cx="31051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AD3E69-5402-48C3-B513-77188BE8B366}"/>
              </a:ext>
            </a:extLst>
          </p:cNvPr>
          <p:cNvSpPr>
            <a:spLocks noGrp="1"/>
          </p:cNvSpPr>
          <p:nvPr/>
        </p:nvSpPr>
        <p:spPr>
          <a:xfrm>
            <a:off x="8001000" y="5105400"/>
            <a:ext cx="57150" cy="8191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1F22F1E-F664-4DBB-8E21-A54F139E75FF}"/>
              </a:ext>
            </a:extLst>
          </p:cNvPr>
          <p:cNvSpPr>
            <a:spLocks noGrp="1"/>
          </p:cNvSpPr>
          <p:nvPr/>
        </p:nvSpPr>
        <p:spPr>
          <a:xfrm>
            <a:off x="8229600" y="53149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Decision after dry-run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480A3D-E170-4190-B2B6-EF6888A735AC}"/>
              </a:ext>
            </a:extLst>
          </p:cNvPr>
          <p:cNvSpPr>
            <a:spLocks noGrp="1"/>
          </p:cNvSpPr>
          <p:nvPr/>
        </p:nvSpPr>
        <p:spPr>
          <a:xfrm>
            <a:off x="8229600" y="5657850"/>
            <a:ext cx="2647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Proceed, revise, or extend testing based on feedback and readiness evidence.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22F9E4-7503-48FE-8A7F-F9F50C0FEF13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7CD81A-D120-4ED8-981E-2CCF703AC3E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15AC12-8855-4241-AC39-47635353F0D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50C3A0A-AC7F-4015-B0A5-1C35A5C285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EF5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D1C1A3-C9B7-43A9-903C-7CD9E70FDF6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DRY-RUN TESTING PLAN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523C14-865D-4641-A19C-DBF191B59A2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Before full rollout: test with real users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BA6C64-4675-4C0D-AA7D-2875F3D7EEA5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Ask management to approve a controlled dry-run with the people who will use MIRS in daily work.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B937F9D-9253-463E-B565-5A92C85F0A1B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0820400" cy="838200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F8B7F7-8288-47A8-9B17-372D9BDD2442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D9F3EE"/>
                </a:solidFill>
                <a:latin typeface="Aptos"/>
                <a:ea typeface="Aptos"/>
                <a:cs typeface="Aptos"/>
              </a:rPr>
              <a:t>Purpose of the dry-run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028160-A468-4635-BCB5-95FB0C2E0AFE}"/>
              </a:ext>
            </a:extLst>
          </p:cNvPr>
          <p:cNvSpPr>
            <a:spLocks noGrp="1"/>
          </p:cNvSpPr>
          <p:nvPr/>
        </p:nvSpPr>
        <p:spPr>
          <a:xfrm>
            <a:off x="1028700" y="2221506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usability, workflow fit, permissions, data entry, approvals, and training needs before official implementation.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589A11C-ED70-48A3-9EBD-3BFEAAB90756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694DA3-2B3B-444E-A43A-892220041F41}"/>
              </a:ext>
            </a:extLst>
          </p:cNvPr>
          <p:cNvSpPr>
            <a:spLocks noGrp="1"/>
          </p:cNvSpPr>
          <p:nvPr/>
        </p:nvSpPr>
        <p:spPr>
          <a:xfrm>
            <a:off x="876300" y="3282780"/>
            <a:ext cx="400050" cy="4000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620B1BD-9C79-40B5-B04D-EA0313F57FE7}"/>
              </a:ext>
            </a:extLst>
          </p:cNvPr>
          <p:cNvSpPr>
            <a:spLocks noGrp="1"/>
          </p:cNvSpPr>
          <p:nvPr/>
        </p:nvSpPr>
        <p:spPr>
          <a:xfrm>
            <a:off x="876300" y="336850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9740552-EC78-48F4-9F5B-7B0E9B457429}"/>
              </a:ext>
            </a:extLst>
          </p:cNvPr>
          <p:cNvSpPr>
            <a:spLocks noGrp="1"/>
          </p:cNvSpPr>
          <p:nvPr/>
        </p:nvSpPr>
        <p:spPr>
          <a:xfrm>
            <a:off x="1452562" y="329565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Select users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42D52E0-EE25-4E81-BC38-3BC3489A0BD8}"/>
              </a:ext>
            </a:extLst>
          </p:cNvPr>
          <p:cNvSpPr>
            <a:spLocks noGrp="1"/>
          </p:cNvSpPr>
          <p:nvPr/>
        </p:nvSpPr>
        <p:spPr>
          <a:xfrm>
            <a:off x="909637" y="3676650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Operators, inspectors, approvers, admins.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C751EF8-E5A4-46AC-9AAF-DD3B19723D67}"/>
              </a:ext>
            </a:extLst>
          </p:cNvPr>
          <p:cNvSpPr>
            <a:spLocks noGrp="1"/>
          </p:cNvSpPr>
          <p:nvPr/>
        </p:nvSpPr>
        <p:spPr>
          <a:xfrm>
            <a:off x="3467100" y="321945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D9F3EE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12AADE2-EE4F-4444-A795-D6D96A8725C6}"/>
              </a:ext>
            </a:extLst>
          </p:cNvPr>
          <p:cNvSpPr>
            <a:spLocks noGrp="1"/>
          </p:cNvSpPr>
          <p:nvPr/>
        </p:nvSpPr>
        <p:spPr>
          <a:xfrm>
            <a:off x="3657600" y="3261478"/>
            <a:ext cx="400050" cy="4000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3ED84EA-4CFE-43D6-9D8C-EA3B4AD12833}"/>
              </a:ext>
            </a:extLst>
          </p:cNvPr>
          <p:cNvSpPr>
            <a:spLocks noGrp="1"/>
          </p:cNvSpPr>
          <p:nvPr/>
        </p:nvSpPr>
        <p:spPr>
          <a:xfrm>
            <a:off x="3657600" y="3347203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A2CD88-130B-4A79-A731-129A02A2B5C7}"/>
              </a:ext>
            </a:extLst>
          </p:cNvPr>
          <p:cNvSpPr>
            <a:spLocks noGrp="1"/>
          </p:cNvSpPr>
          <p:nvPr/>
        </p:nvSpPr>
        <p:spPr>
          <a:xfrm>
            <a:off x="4222774" y="32766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Use sample data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590169-7BBD-4908-9F0F-FF5191C51960}"/>
              </a:ext>
            </a:extLst>
          </p:cNvPr>
          <p:cNvSpPr>
            <a:spLocks noGrp="1"/>
          </p:cNvSpPr>
          <p:nvPr/>
        </p:nvSpPr>
        <p:spPr>
          <a:xfrm>
            <a:off x="3695700" y="3714750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realistic non-final records.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322DE4B-25EC-43B9-9223-041E739F245D}"/>
              </a:ext>
            </a:extLst>
          </p:cNvPr>
          <p:cNvSpPr>
            <a:spLocks noGrp="1"/>
          </p:cNvSpPr>
          <p:nvPr/>
        </p:nvSpPr>
        <p:spPr>
          <a:xfrm>
            <a:off x="6248400" y="321945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73775A4-0661-44F0-BE93-062365AA2264}"/>
              </a:ext>
            </a:extLst>
          </p:cNvPr>
          <p:cNvSpPr>
            <a:spLocks noGrp="1"/>
          </p:cNvSpPr>
          <p:nvPr/>
        </p:nvSpPr>
        <p:spPr>
          <a:xfrm>
            <a:off x="6438900" y="3267075"/>
            <a:ext cx="400050" cy="4000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553CC8B-2F2D-42D6-9CDD-5354F536ED44}"/>
              </a:ext>
            </a:extLst>
          </p:cNvPr>
          <p:cNvSpPr>
            <a:spLocks noGrp="1"/>
          </p:cNvSpPr>
          <p:nvPr/>
        </p:nvSpPr>
        <p:spPr>
          <a:xfrm>
            <a:off x="6438900" y="3352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8387C23-A833-4E91-BCA7-E13DE7D29259}"/>
              </a:ext>
            </a:extLst>
          </p:cNvPr>
          <p:cNvSpPr>
            <a:spLocks noGrp="1"/>
          </p:cNvSpPr>
          <p:nvPr/>
        </p:nvSpPr>
        <p:spPr>
          <a:xfrm>
            <a:off x="7010400" y="326707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Test core tasks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62149C1-5E22-4726-95AE-826F6DD16EF9}"/>
              </a:ext>
            </a:extLst>
          </p:cNvPr>
          <p:cNvSpPr>
            <a:spLocks noGrp="1"/>
          </p:cNvSpPr>
          <p:nvPr/>
        </p:nvSpPr>
        <p:spPr>
          <a:xfrm>
            <a:off x="6486525" y="3730819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Create, import, approve, export.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A066BC6-0BC4-4075-A6F3-625918B98D88}"/>
              </a:ext>
            </a:extLst>
          </p:cNvPr>
          <p:cNvSpPr>
            <a:spLocks noGrp="1"/>
          </p:cNvSpPr>
          <p:nvPr/>
        </p:nvSpPr>
        <p:spPr>
          <a:xfrm>
            <a:off x="9029700" y="321945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53CE909-58C8-4A1D-9B75-3799795A53BB}"/>
              </a:ext>
            </a:extLst>
          </p:cNvPr>
          <p:cNvSpPr>
            <a:spLocks noGrp="1"/>
          </p:cNvSpPr>
          <p:nvPr/>
        </p:nvSpPr>
        <p:spPr>
          <a:xfrm>
            <a:off x="9220200" y="3257550"/>
            <a:ext cx="400050" cy="40005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DDB307B-62E9-4BFB-B6C7-472620938F34}"/>
              </a:ext>
            </a:extLst>
          </p:cNvPr>
          <p:cNvSpPr>
            <a:spLocks noGrp="1"/>
          </p:cNvSpPr>
          <p:nvPr/>
        </p:nvSpPr>
        <p:spPr>
          <a:xfrm>
            <a:off x="9220200" y="33432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FECBE04-80AC-404D-93C4-AC1A5F746BDD}"/>
              </a:ext>
            </a:extLst>
          </p:cNvPr>
          <p:cNvSpPr>
            <a:spLocks noGrp="1"/>
          </p:cNvSpPr>
          <p:nvPr/>
        </p:nvSpPr>
        <p:spPr>
          <a:xfrm>
            <a:off x="9796462" y="326707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Collect feedback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9541935-CAAE-415D-9DF4-D75601FF4AC5}"/>
              </a:ext>
            </a:extLst>
          </p:cNvPr>
          <p:cNvSpPr>
            <a:spLocks noGrp="1"/>
          </p:cNvSpPr>
          <p:nvPr/>
        </p:nvSpPr>
        <p:spPr>
          <a:xfrm>
            <a:off x="9258300" y="3714750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dirty="0"/>
              <a:t>List issues and training gaps.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EA6595D-A4FF-44F7-88A4-94AF816E9ED0}"/>
              </a:ext>
            </a:extLst>
          </p:cNvPr>
          <p:cNvSpPr>
            <a:spLocks noGrp="1"/>
          </p:cNvSpPr>
          <p:nvPr/>
        </p:nvSpPr>
        <p:spPr>
          <a:xfrm>
            <a:off x="1104900" y="4520230"/>
            <a:ext cx="3105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A7E1F9-AB80-4E37-8169-775EE5A4C270}"/>
              </a:ext>
            </a:extLst>
          </p:cNvPr>
          <p:cNvSpPr>
            <a:spLocks noGrp="1"/>
          </p:cNvSpPr>
          <p:nvPr/>
        </p:nvSpPr>
        <p:spPr>
          <a:xfrm>
            <a:off x="1104900" y="4520230"/>
            <a:ext cx="57150" cy="7239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F285CA-1E36-44A8-83AF-20E29B8F6F67}"/>
              </a:ext>
            </a:extLst>
          </p:cNvPr>
          <p:cNvSpPr>
            <a:spLocks noGrp="1"/>
          </p:cNvSpPr>
          <p:nvPr/>
        </p:nvSpPr>
        <p:spPr>
          <a:xfrm>
            <a:off x="1333500" y="467263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Success looks like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A570818-06CE-468C-8B9D-FBD24EF76345}"/>
              </a:ext>
            </a:extLst>
          </p:cNvPr>
          <p:cNvSpPr>
            <a:spLocks noGrp="1"/>
          </p:cNvSpPr>
          <p:nvPr/>
        </p:nvSpPr>
        <p:spPr>
          <a:xfrm>
            <a:off x="1333500" y="4939330"/>
            <a:ext cx="2647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 complete assigned tasks.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3CB23741-ED72-4A2A-A195-4BFF970A2DC2}"/>
              </a:ext>
            </a:extLst>
          </p:cNvPr>
          <p:cNvSpPr>
            <a:spLocks noGrp="1"/>
          </p:cNvSpPr>
          <p:nvPr/>
        </p:nvSpPr>
        <p:spPr>
          <a:xfrm>
            <a:off x="4552950" y="4520230"/>
            <a:ext cx="3105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9239667-1539-4ED7-B5DC-9C70A77C8AAA}"/>
              </a:ext>
            </a:extLst>
          </p:cNvPr>
          <p:cNvSpPr>
            <a:spLocks noGrp="1"/>
          </p:cNvSpPr>
          <p:nvPr/>
        </p:nvSpPr>
        <p:spPr>
          <a:xfrm>
            <a:off x="4552950" y="4520230"/>
            <a:ext cx="57150" cy="723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CF2733F-A30F-47EA-B846-CCA987145BCA}"/>
              </a:ext>
            </a:extLst>
          </p:cNvPr>
          <p:cNvSpPr>
            <a:spLocks noGrp="1"/>
          </p:cNvSpPr>
          <p:nvPr/>
        </p:nvSpPr>
        <p:spPr>
          <a:xfrm>
            <a:off x="4781550" y="467263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Expected findings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197A76-DA41-4581-A6F4-0EF45D6AD007}"/>
              </a:ext>
            </a:extLst>
          </p:cNvPr>
          <p:cNvSpPr>
            <a:spLocks noGrp="1"/>
          </p:cNvSpPr>
          <p:nvPr/>
        </p:nvSpPr>
        <p:spPr>
          <a:xfrm>
            <a:off x="4781550" y="4939330"/>
            <a:ext cx="2647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Permission, label, or process gaps.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96D1359-474E-43E3-9648-AFD1CDA62CF9}"/>
              </a:ext>
            </a:extLst>
          </p:cNvPr>
          <p:cNvSpPr>
            <a:spLocks noGrp="1"/>
          </p:cNvSpPr>
          <p:nvPr/>
        </p:nvSpPr>
        <p:spPr>
          <a:xfrm>
            <a:off x="8001000" y="4520230"/>
            <a:ext cx="3105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77E39B3-2911-4181-8D65-3095CBA771AF}"/>
              </a:ext>
            </a:extLst>
          </p:cNvPr>
          <p:cNvSpPr>
            <a:spLocks noGrp="1"/>
          </p:cNvSpPr>
          <p:nvPr/>
        </p:nvSpPr>
        <p:spPr>
          <a:xfrm>
            <a:off x="8001000" y="4520230"/>
            <a:ext cx="57150" cy="723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6CA284F-83E4-4E29-9892-970DCA31CF7E}"/>
              </a:ext>
            </a:extLst>
          </p:cNvPr>
          <p:cNvSpPr>
            <a:spLocks noGrp="1"/>
          </p:cNvSpPr>
          <p:nvPr/>
        </p:nvSpPr>
        <p:spPr>
          <a:xfrm>
            <a:off x="8229600" y="467263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Decision after dry-run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D5EE1AC-82C4-41C6-B747-102136D2A470}"/>
              </a:ext>
            </a:extLst>
          </p:cNvPr>
          <p:cNvSpPr>
            <a:spLocks noGrp="1"/>
          </p:cNvSpPr>
          <p:nvPr/>
        </p:nvSpPr>
        <p:spPr>
          <a:xfrm>
            <a:off x="8229600" y="4939330"/>
            <a:ext cx="2647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Proceed, revise, or extend testing.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0D29496-036F-4466-B8A9-FEC98A404DCC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5C84BBF-DBC9-4B38-8394-74D67B37150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63E645F-263C-4FD7-8A3E-F7EC9F7AE62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579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0A6C3E7-61BA-4555-89B5-AC2CFB9D5F8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ROLLOUT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C96942-727C-4003-9956-E6268AA7D16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 phased introduction reduces risk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E1F5C-A056-4A55-A8BC-0734638ADFCC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deployment proposal already supports a practical sequence: pilot first, harden controls and backups, then roll out to the wider company.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233A74-36DA-4BD8-8A2A-883825C796D8}"/>
              </a:ext>
            </a:extLst>
          </p:cNvPr>
          <p:cNvSpPr>
            <a:spLocks noGrp="1"/>
          </p:cNvSpPr>
          <p:nvPr/>
        </p:nvSpPr>
        <p:spPr>
          <a:xfrm>
            <a:off x="952500" y="2019300"/>
            <a:ext cx="552450" cy="5524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9638C5-83E0-43C9-8DDA-2A1527CF79CC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6C2BB8-68B7-496B-9ED2-E00CDD386B5C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38100" cy="3810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97B440-C05E-46F6-9ABC-DDFF28D63204}"/>
              </a:ext>
            </a:extLst>
          </p:cNvPr>
          <p:cNvSpPr>
            <a:spLocks noGrp="1"/>
          </p:cNvSpPr>
          <p:nvPr/>
        </p:nvSpPr>
        <p:spPr>
          <a:xfrm>
            <a:off x="1847850" y="19431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0956F4-49BF-48BB-84BB-DC98BAEE7BD5}"/>
              </a:ext>
            </a:extLst>
          </p:cNvPr>
          <p:cNvSpPr>
            <a:spLocks noGrp="1"/>
          </p:cNvSpPr>
          <p:nvPr/>
        </p:nvSpPr>
        <p:spPr>
          <a:xfrm>
            <a:off x="1847850" y="2190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Pilot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61AA5-8403-4239-89E2-20B77543EA8E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Deploy internally, configure domain, test with selected users and tablets.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DDDB4F-C1F0-42EF-8711-1883018C5ABB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552450" cy="5524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A30706-EC7C-48FE-B226-AEF1A3F245FD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B9346-79CD-47E8-B4F9-3419C151D0EF}"/>
              </a:ext>
            </a:extLst>
          </p:cNvPr>
          <p:cNvSpPr>
            <a:spLocks noGrp="1"/>
          </p:cNvSpPr>
          <p:nvPr/>
        </p:nvSpPr>
        <p:spPr>
          <a:xfrm>
            <a:off x="1219200" y="3505200"/>
            <a:ext cx="38100" cy="3810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E2840E-FF46-4C94-994A-24F6174EF2B7}"/>
              </a:ext>
            </a:extLst>
          </p:cNvPr>
          <p:cNvSpPr>
            <a:spLocks noGrp="1"/>
          </p:cNvSpPr>
          <p:nvPr/>
        </p:nvSpPr>
        <p:spPr>
          <a:xfrm>
            <a:off x="1847850" y="28765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2DE891-12BC-4B3E-B85B-CA8F1B215C86}"/>
              </a:ext>
            </a:extLst>
          </p:cNvPr>
          <p:cNvSpPr>
            <a:spLocks noGrp="1"/>
          </p:cNvSpPr>
          <p:nvPr/>
        </p:nvSpPr>
        <p:spPr>
          <a:xfrm>
            <a:off x="1847850" y="31242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Security and backup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8C6058-0396-4B00-AF1B-609E2627539D}"/>
              </a:ext>
            </a:extLst>
          </p:cNvPr>
          <p:cNvSpPr>
            <a:spLocks noGrp="1"/>
          </p:cNvSpPr>
          <p:nvPr/>
        </p:nvSpPr>
        <p:spPr>
          <a:xfrm>
            <a:off x="4762500" y="30670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Enable HTTPS, verify permissions, configure daily backups, test restore.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1EDC49E-A502-4431-9A3E-0642F44FBC68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552450" cy="5524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6D41C9-78A1-4F1B-B4D4-86DD0347EAEC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08368A-BED9-46B4-9B27-0B8F869CA6EA}"/>
              </a:ext>
            </a:extLst>
          </p:cNvPr>
          <p:cNvSpPr>
            <a:spLocks noGrp="1"/>
          </p:cNvSpPr>
          <p:nvPr/>
        </p:nvSpPr>
        <p:spPr>
          <a:xfrm>
            <a:off x="1219200" y="4438650"/>
            <a:ext cx="38100" cy="3810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6B8795-D8E6-4F87-98AA-8EBA825DC9BA}"/>
              </a:ext>
            </a:extLst>
          </p:cNvPr>
          <p:cNvSpPr>
            <a:spLocks noGrp="1"/>
          </p:cNvSpPr>
          <p:nvPr/>
        </p:nvSpPr>
        <p:spPr>
          <a:xfrm>
            <a:off x="1847850" y="38100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0DAE29-CB2C-423D-9A37-B3EFE0465F13}"/>
              </a:ext>
            </a:extLst>
          </p:cNvPr>
          <p:cNvSpPr>
            <a:spLocks noGrp="1"/>
          </p:cNvSpPr>
          <p:nvPr/>
        </p:nvSpPr>
        <p:spPr>
          <a:xfrm>
            <a:off x="1847850" y="4057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Company rollout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A29332-EFD7-4359-BC50-DC18F8FF0392}"/>
              </a:ext>
            </a:extLst>
          </p:cNvPr>
          <p:cNvSpPr>
            <a:spLocks noGrp="1"/>
          </p:cNvSpPr>
          <p:nvPr/>
        </p:nvSpPr>
        <p:spPr>
          <a:xfrm>
            <a:off x="4762500" y="400050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production users, train representatives, monitor errors and feedback.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19C1FA-DD92-460E-A8D6-139683503AF6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552450" cy="55245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7D5EA3-B497-443A-ABFA-AD39EAA73B3B}"/>
              </a:ext>
            </a:extLst>
          </p:cNvPr>
          <p:cNvSpPr>
            <a:spLocks noGrp="1"/>
          </p:cNvSpPr>
          <p:nvPr/>
        </p:nvSpPr>
        <p:spPr>
          <a:xfrm>
            <a:off x="952500" y="49339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7B8241-CB03-4A14-8DB0-FCD1E6946184}"/>
              </a:ext>
            </a:extLst>
          </p:cNvPr>
          <p:cNvSpPr>
            <a:spLocks noGrp="1"/>
          </p:cNvSpPr>
          <p:nvPr/>
        </p:nvSpPr>
        <p:spPr>
          <a:xfrm>
            <a:off x="1847850" y="4743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B32455-60F5-4037-B325-2DA1E4099F1A}"/>
              </a:ext>
            </a:extLst>
          </p:cNvPr>
          <p:cNvSpPr>
            <a:spLocks noGrp="1"/>
          </p:cNvSpPr>
          <p:nvPr/>
        </p:nvSpPr>
        <p:spPr>
          <a:xfrm>
            <a:off x="1847850" y="49911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Remote access if needed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FAEAD2-3E24-4237-8E96-34334263A708}"/>
              </a:ext>
            </a:extLst>
          </p:cNvPr>
          <p:cNvSpPr>
            <a:spLocks noGrp="1"/>
          </p:cNvSpPr>
          <p:nvPr/>
        </p:nvSpPr>
        <p:spPr>
          <a:xfrm>
            <a:off x="4762500" y="49339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VPN or zero-trust access only after formal approval.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B809D4-313A-481C-A4D7-7566F1CF8F24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4CA666-3EF1-4297-AA87-B579B809EC6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internal hosting technical specs proposal rollout sequence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07A7EE-9A65-473B-8034-C5C8FE3D4312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7668D7-C9D2-457B-959A-D34B219C02EA}"/>
              </a:ext>
            </a:extLst>
          </p:cNvPr>
          <p:cNvSpPr>
            <a:spLocks noGrp="1"/>
          </p:cNvSpPr>
          <p:nvPr/>
        </p:nvSpPr>
        <p:spPr>
          <a:xfrm>
            <a:off x="10934700" y="6400800"/>
            <a:ext cx="590550" cy="26670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488967-FD70-4C09-87D4-1EAC64961A75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7419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279A2EC-583E-4899-85AC-B3E328C7CCB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QUESTIONS MANAGEMENT MAY ASK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4EC44D-1CD4-4D0F-BA42-B63101E3C63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Prepared answers for the discussion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7B380A-2C7A-4F0B-B464-DD5E542790B4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866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this as your speaker preparation slide. It anticipates the practical concerns management usually raises before approving an internal operational system.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5B423E-E635-442F-AB28-A23ABD2112EE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054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C2222-62F7-44DA-B596-532B4F81B8E8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Is the app public?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673793-1345-4A90-955E-A9FEDC660472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Recommended setup is LAN-only; remote access should use VPN or zero-trust, not direct exposure.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4A9782-EB71-4C3A-A853-5BAAA7B39839}"/>
              </a:ext>
            </a:extLst>
          </p:cNvPr>
          <p:cNvSpPr>
            <a:spLocks noGrp="1"/>
          </p:cNvSpPr>
          <p:nvPr/>
        </p:nvSpPr>
        <p:spPr>
          <a:xfrm>
            <a:off x="6191250" y="1962150"/>
            <a:ext cx="51054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1F984A-A362-4B9D-AC33-8F4BA7DD7130}"/>
              </a:ext>
            </a:extLst>
          </p:cNvPr>
          <p:cNvSpPr>
            <a:spLocks noGrp="1"/>
          </p:cNvSpPr>
          <p:nvPr/>
        </p:nvSpPr>
        <p:spPr>
          <a:xfrm>
            <a:off x="6400800" y="213360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Who can access what?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F0D50C-789C-41E2-8003-8FAC3D9DFABF}"/>
              </a:ext>
            </a:extLst>
          </p:cNvPr>
          <p:cNvSpPr>
            <a:spLocks noGrp="1"/>
          </p:cNvSpPr>
          <p:nvPr/>
        </p:nvSpPr>
        <p:spPr>
          <a:xfrm>
            <a:off x="6400800" y="24003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 see actions through role gates and module permissions such as view, create, update, approve, import, and export.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2D484B-4638-45BB-A617-4D4EB3C76D7C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1054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C7E4F-07EF-49B5-86AE-16CD6F28BDFB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What happens to deleted users?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A5002-8745-4703-AF7F-0091AFC86398}"/>
              </a:ext>
            </a:extLst>
          </p:cNvPr>
          <p:cNvSpPr>
            <a:spLocks noGrp="1"/>
          </p:cNvSpPr>
          <p:nvPr/>
        </p:nvSpPr>
        <p:spPr>
          <a:xfrm>
            <a:off x="895350" y="35814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They are deactivated so old records remain accountable; QR access is disabled.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B40155-92F9-4D49-97F0-D11280F07898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51054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77F29-4A26-4407-9FF6-C3EDAA958921}"/>
              </a:ext>
            </a:extLst>
          </p:cNvPr>
          <p:cNvSpPr>
            <a:spLocks noGrp="1"/>
          </p:cNvSpPr>
          <p:nvPr/>
        </p:nvSpPr>
        <p:spPr>
          <a:xfrm>
            <a:off x="6400800" y="331470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How do we recover data?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EF64F5-D6F7-47D2-8523-AEE47841215D}"/>
              </a:ext>
            </a:extLst>
          </p:cNvPr>
          <p:cNvSpPr>
            <a:spLocks noGrp="1"/>
          </p:cNvSpPr>
          <p:nvPr/>
        </p:nvSpPr>
        <p:spPr>
          <a:xfrm>
            <a:off x="6400800" y="35814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Back up database, storage, uploads, environment notes, and test restore on schedule.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584172A-0050-4E61-B1C5-0EDFABC8F4C9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51054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D4B541-56B5-41A9-86E0-564326D764C5}"/>
              </a:ext>
            </a:extLst>
          </p:cNvPr>
          <p:cNvSpPr>
            <a:spLocks noGrp="1"/>
          </p:cNvSpPr>
          <p:nvPr/>
        </p:nvSpPr>
        <p:spPr>
          <a:xfrm>
            <a:off x="895350" y="449580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How hard is training?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AB2718-4773-4BB1-B726-78F0D163DF85}"/>
              </a:ext>
            </a:extLst>
          </p:cNvPr>
          <p:cNvSpPr>
            <a:spLocks noGrp="1"/>
          </p:cNvSpPr>
          <p:nvPr/>
        </p:nvSpPr>
        <p:spPr>
          <a:xfrm>
            <a:off x="895350" y="47625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Training can follow the module pattern: find record, create/import, review status, approve/export.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976B30-ECCF-4980-8E02-078F1B621A3C}"/>
              </a:ext>
            </a:extLst>
          </p:cNvPr>
          <p:cNvSpPr>
            <a:spLocks noGrp="1"/>
          </p:cNvSpPr>
          <p:nvPr/>
        </p:nvSpPr>
        <p:spPr>
          <a:xfrm>
            <a:off x="6191250" y="4324350"/>
            <a:ext cx="51054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12732F-63AB-4C7C-A34C-9DF1EFDC877F}"/>
              </a:ext>
            </a:extLst>
          </p:cNvPr>
          <p:cNvSpPr>
            <a:spLocks noGrp="1"/>
          </p:cNvSpPr>
          <p:nvPr/>
        </p:nvSpPr>
        <p:spPr>
          <a:xfrm>
            <a:off x="6400800" y="449580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220"/>
                </a:solidFill>
                <a:latin typeface="Aptos"/>
                <a:ea typeface="Aptos"/>
                <a:cs typeface="Aptos"/>
              </a:rPr>
              <a:t>What is the ask today?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F46321-DA6B-464B-B66A-4BC2C52200BC}"/>
              </a:ext>
            </a:extLst>
          </p:cNvPr>
          <p:cNvSpPr>
            <a:spLocks noGrp="1"/>
          </p:cNvSpPr>
          <p:nvPr/>
        </p:nvSpPr>
        <p:spPr>
          <a:xfrm>
            <a:off x="6400800" y="47625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Approve pilot hosting, nominate process owners, validate permissions, and schedule rollout testing.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E75B46-DAEC-45CC-BD0F-3F5D3EFE7FC3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2E80B2-E414-4976-B631-B65B62FD530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609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Material Inspection Recording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624835-72EB-4546-8E13-AFFE39AE0A47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3EC093-4D44-445F-9BA6-11326CE8EB5B}"/>
              </a:ext>
            </a:extLst>
          </p:cNvPr>
          <p:cNvSpPr>
            <a:spLocks noGrp="1"/>
          </p:cNvSpPr>
          <p:nvPr/>
        </p:nvSpPr>
        <p:spPr>
          <a:xfrm>
            <a:off x="10934700" y="6400800"/>
            <a:ext cx="590550" cy="266700"/>
          </a:xfrm>
          <a:prstGeom prst="rect">
            <a:avLst/>
          </a:prstGeom>
          <a:solidFill>
            <a:srgbClr val="E8EEF5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8BD065-00C5-4875-AEA4-DA6E3B17869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3582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14D6B07-98BC-4405-9B0D-5E7D9B4C6D0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9F3EE"/>
                </a:solidFill>
                <a:latin typeface="Aptos"/>
                <a:ea typeface="Aptos"/>
                <a:cs typeface="Aptos"/>
              </a:rPr>
              <a:t>DECISION AND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945B7-07B3-45BF-A0BC-9D195D4A4C6F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management needs to decide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AF8F4-79CD-4438-8797-128DD162675C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6953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successful rollout depends less on the code and more on ownership: who approves the pilot, who owns permissions, who validates records, and who owns backup/restore readiness.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6D5BB3-26CD-4E9B-89CB-C1CF6AEE7206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4438650" cy="87630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9525">
            <a:solidFill>
              <a:srgbClr val="273A5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9C9C8-3480-4011-B73B-FD93524DE154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 i="0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D9F3E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7C551-EAAE-42EF-93FA-0D4670926BEB}"/>
              </a:ext>
            </a:extLst>
          </p:cNvPr>
          <p:cNvSpPr>
            <a:spLocks noGrp="1"/>
          </p:cNvSpPr>
          <p:nvPr/>
        </p:nvSpPr>
        <p:spPr>
          <a:xfrm>
            <a:off x="1619250" y="32766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pilot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619153-8C0A-4A54-8202-C6481909D09D}"/>
              </a:ext>
            </a:extLst>
          </p:cNvPr>
          <p:cNvSpPr>
            <a:spLocks noGrp="1"/>
          </p:cNvSpPr>
          <p:nvPr/>
        </p:nvSpPr>
        <p:spPr>
          <a:xfrm>
            <a:off x="1619250" y="35814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Confirm internal hosting approach and pilot timeline.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75E6A5-1BC9-4D2E-B390-75110E26E4E8}"/>
              </a:ext>
            </a:extLst>
          </p:cNvPr>
          <p:cNvSpPr>
            <a:spLocks noGrp="1"/>
          </p:cNvSpPr>
          <p:nvPr/>
        </p:nvSpPr>
        <p:spPr>
          <a:xfrm>
            <a:off x="5829300" y="3105150"/>
            <a:ext cx="4438650" cy="87630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9525">
            <a:solidFill>
              <a:srgbClr val="273A5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B65901-FF46-4997-9093-422D12706E8A}"/>
              </a:ext>
            </a:extLst>
          </p:cNvPr>
          <p:cNvSpPr>
            <a:spLocks noGrp="1"/>
          </p:cNvSpPr>
          <p:nvPr/>
        </p:nvSpPr>
        <p:spPr>
          <a:xfrm>
            <a:off x="6038850" y="33147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 i="0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D9F3E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275610-09E2-48E1-BE91-9CE9F512CCAC}"/>
              </a:ext>
            </a:extLst>
          </p:cNvPr>
          <p:cNvSpPr>
            <a:spLocks noGrp="1"/>
          </p:cNvSpPr>
          <p:nvPr/>
        </p:nvSpPr>
        <p:spPr>
          <a:xfrm>
            <a:off x="6629400" y="32766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Assign owners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7A4637-082B-4E90-AE62-D39DD2F3D1E0}"/>
              </a:ext>
            </a:extLst>
          </p:cNvPr>
          <p:cNvSpPr>
            <a:spLocks noGrp="1"/>
          </p:cNvSpPr>
          <p:nvPr/>
        </p:nvSpPr>
        <p:spPr>
          <a:xfrm>
            <a:off x="6629400" y="35814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Name system owner, module/process owners, and admin owner.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82010B-69C6-4DEE-A96D-7DFB08BD0F9D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4438650" cy="87630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9525">
            <a:solidFill>
              <a:srgbClr val="273A5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B7CD8E-4393-40EF-90FD-53E878105DE8}"/>
              </a:ext>
            </a:extLst>
          </p:cNvPr>
          <p:cNvSpPr>
            <a:spLocks noGrp="1"/>
          </p:cNvSpPr>
          <p:nvPr/>
        </p:nvSpPr>
        <p:spPr>
          <a:xfrm>
            <a:off x="1028700" y="45339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 i="0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D9F3E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1476C4-78D5-451E-BD2D-4EAE073AB492}"/>
              </a:ext>
            </a:extLst>
          </p:cNvPr>
          <p:cNvSpPr>
            <a:spLocks noGrp="1"/>
          </p:cNvSpPr>
          <p:nvPr/>
        </p:nvSpPr>
        <p:spPr>
          <a:xfrm>
            <a:off x="1619250" y="44958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access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FDFAAF-6C1A-4B2F-8316-483489DC8129}"/>
              </a:ext>
            </a:extLst>
          </p:cNvPr>
          <p:cNvSpPr>
            <a:spLocks noGrp="1"/>
          </p:cNvSpPr>
          <p:nvPr/>
        </p:nvSpPr>
        <p:spPr>
          <a:xfrm>
            <a:off x="1619250" y="48006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Review roles, departments, positions, and module permissions.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ECEE91-220D-4C9A-89C5-0412FF8E7713}"/>
              </a:ext>
            </a:extLst>
          </p:cNvPr>
          <p:cNvSpPr>
            <a:spLocks noGrp="1"/>
          </p:cNvSpPr>
          <p:nvPr/>
        </p:nvSpPr>
        <p:spPr>
          <a:xfrm>
            <a:off x="5829300" y="4324350"/>
            <a:ext cx="4438650" cy="87630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9525">
            <a:solidFill>
              <a:srgbClr val="273A5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44D270-FD79-4144-8A95-CB353C97C6DC}"/>
              </a:ext>
            </a:extLst>
          </p:cNvPr>
          <p:cNvSpPr>
            <a:spLocks noGrp="1"/>
          </p:cNvSpPr>
          <p:nvPr/>
        </p:nvSpPr>
        <p:spPr>
          <a:xfrm>
            <a:off x="6038850" y="45339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 i="0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D9F3E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970E8C-DA3B-44B6-B29A-A571F6B911B6}"/>
              </a:ext>
            </a:extLst>
          </p:cNvPr>
          <p:cNvSpPr>
            <a:spLocks noGrp="1"/>
          </p:cNvSpPr>
          <p:nvPr/>
        </p:nvSpPr>
        <p:spPr>
          <a:xfrm>
            <a:off x="6629400" y="44958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Prepare rollout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B187A3-B79D-496C-9E22-4FCB5961A77E}"/>
              </a:ext>
            </a:extLst>
          </p:cNvPr>
          <p:cNvSpPr>
            <a:spLocks noGrp="1"/>
          </p:cNvSpPr>
          <p:nvPr/>
        </p:nvSpPr>
        <p:spPr>
          <a:xfrm>
            <a:off x="6629400" y="48006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Train selected users, test workflows, enable backup and restore checks.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F167FA-3880-4A65-8807-2E0DDD967B1F}"/>
              </a:ext>
            </a:extLst>
          </p:cNvPr>
          <p:cNvSpPr>
            <a:spLocks noGrp="1"/>
          </p:cNvSpPr>
          <p:nvPr/>
        </p:nvSpPr>
        <p:spPr>
          <a:xfrm>
            <a:off x="1123950" y="6019800"/>
            <a:ext cx="994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Suggested close: approve Phase 1 pilot and use the pilot to validate workflow fit, security setup, and training needs before company-wide rollout.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96B0ADC-3EAB-4402-A236-11CF7320FE1A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944880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E7E590-42C0-4FF7-B1AF-8FE9AEBA097F}"/>
              </a:ext>
            </a:extLst>
          </p:cNvPr>
          <p:cNvSpPr>
            <a:spLocks noGrp="1"/>
          </p:cNvSpPr>
          <p:nvPr/>
        </p:nvSpPr>
        <p:spPr>
          <a:xfrm>
            <a:off x="1123950" y="2724150"/>
            <a:ext cx="883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Primary request: approve a controlled dry-run test with actual end users before full implementation.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2B30223-F7C3-461F-A10E-E0CBC0803933}"/>
              </a:ext>
            </a:extLst>
          </p:cNvPr>
          <p:cNvSpPr>
            <a:spLocks noGrp="1"/>
          </p:cNvSpPr>
          <p:nvPr/>
        </p:nvSpPr>
        <p:spPr>
          <a:xfrm>
            <a:off x="1104900" y="5962650"/>
            <a:ext cx="9982200" cy="533400"/>
          </a:xfrm>
          <a:prstGeom prst="roundRect">
            <a:avLst>
              <a:gd name="adj" fmla="val 14286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B86188-567A-4441-A5B7-7EA8DD3D2CCC}"/>
              </a:ext>
            </a:extLst>
          </p:cNvPr>
          <p:cNvSpPr>
            <a:spLocks noGrp="1"/>
          </p:cNvSpPr>
          <p:nvPr/>
        </p:nvSpPr>
        <p:spPr>
          <a:xfrm>
            <a:off x="1524000" y="6115050"/>
            <a:ext cx="914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Suggested close: approve the dry-run, gather user feedback, fix gaps, then decide readiness for company-wide rollout.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5E5D41-85FB-483C-8697-DCFE5388C2F2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4438650" cy="876300"/>
          </a:xfrm>
          <a:prstGeom prst="roundRect">
            <a:avLst>
              <a:gd name="adj" fmla="val 8696"/>
            </a:avLst>
          </a:prstGeom>
          <a:solidFill>
            <a:srgbClr val="17233A"/>
          </a:solidFill>
          <a:ln w="9525">
            <a:solidFill>
              <a:srgbClr val="273A5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AA1E0E-CBB9-4B78-9151-390A80821963}"/>
              </a:ext>
            </a:extLst>
          </p:cNvPr>
          <p:cNvSpPr>
            <a:spLocks noGrp="1"/>
          </p:cNvSpPr>
          <p:nvPr/>
        </p:nvSpPr>
        <p:spPr>
          <a:xfrm>
            <a:off x="1162050" y="34575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D9F3E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F3E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7F0BE8-081E-42A2-8266-5FA7CB50B41C}"/>
              </a:ext>
            </a:extLst>
          </p:cNvPr>
          <p:cNvSpPr>
            <a:spLocks noGrp="1"/>
          </p:cNvSpPr>
          <p:nvPr/>
        </p:nvSpPr>
        <p:spPr>
          <a:xfrm>
            <a:off x="1714500" y="3390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dry-run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09B0C8-4B62-474F-8C26-EC712BA2591D}"/>
              </a:ext>
            </a:extLst>
          </p:cNvPr>
          <p:cNvSpPr>
            <a:spLocks noGrp="1"/>
          </p:cNvSpPr>
          <p:nvPr/>
        </p:nvSpPr>
        <p:spPr>
          <a:xfrm>
            <a:off x="1714500" y="36766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Confirm controlled testing approach and participant group.</a:t>
            </a:r>
          </a:p>
        </p:txBody>
      </p:sp>
    </p:spTree>
    <p:extLst>
      <p:ext uri="{BB962C8B-B14F-4D97-AF65-F5344CB8AC3E}">
        <p14:creationId xmlns:p14="http://schemas.microsoft.com/office/powerpoint/2010/main" val="9262882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2132</Words>
  <Application>Microsoft Office PowerPoint</Application>
  <DocSecurity>0</DocSecurity>
  <PresentationFormat>Widescreen</PresentationFormat>
  <Paragraphs>314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Llorrente  Jed Ian</cp:lastModifiedBy>
  <cp:revision>1</cp:revision>
  <dcterms:created xsi:type="dcterms:W3CDTF">2026-06-16T02:43:55Z</dcterms:created>
  <dcterms:modified xsi:type="dcterms:W3CDTF">2026-06-16T04:18:58Z</dcterms:modified>
</cp:coreProperties>
</file>