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Welcome the group and explain that this session focuses on the daily operator and inspector workflow.</a:t>
            </a:r>
          </a:p>
          <a:p>
            <a:r>
              <a:t>The screenshots are from the current ICRS interface with personal and production-sensitive details hidden.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Set expectations: this is a practical orientation, not a detailed system-administration session.</a:t>
            </a:r>
          </a:p>
          <a:p>
            <a:r>
              <a:t>Tell participants they will complete two short practice tasks near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Point to the email and password fields.</a:t>
            </a:r>
          </a:p>
          <a:p>
            <a:r>
              <a:t>Explain that Remember me is appropriate only for a device assigned to the user and protected by company policy.</a:t>
            </a:r>
          </a:p>
          <a:p>
            <a:r>
              <a:t>If access fails, verify the email first, then contact the assigned system administrator.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dashboard is the safest place to return when unsure where to go.</a:t>
            </a:r>
          </a:p>
          <a:p>
            <a:r>
              <a:t>The visible modules depend on the user's assigned access.</a:t>
            </a:r>
          </a:p>
          <a:p>
            <a:r>
              <a:t>Use the top-right profile menu to review profile information or log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sidebar from top to bottom and connect each module to the corresponding inspection process.</a:t>
            </a:r>
          </a:p>
          <a:p>
            <a:r>
              <a:t>Annealing and Welding expand to show additional actions when the user has permission.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Permissions determine which modules and actions appear.</a:t>
            </a:r>
          </a:p>
          <a:p>
            <a:r>
              <a:t>A missing Create, Edit, Import, Export, or Delete action normally means the account is not assigned that permission.</a:t>
            </a:r>
          </a:p>
          <a:p>
            <a:r>
              <a:t>Never work around access rules by borrowing another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slide as the mental model for the remainder of the training.</a:t>
            </a:r>
          </a:p>
          <a:p>
            <a:r>
              <a:t>Most modules differ in their fields, but the overall find-create-review-update pattern is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Encourage users to search first to avoid duplicate records.</a:t>
            </a:r>
          </a:p>
          <a:p>
            <a:r>
              <a:t>The available filters change by module—for example, machine number, driver model, line, type, or date.</a:t>
            </a:r>
          </a:p>
          <a:p>
            <a:r>
              <a:t>Open and review the matching result before deciding to create a new entry.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Demonstrate the required-field asterisk.</a:t>
            </a:r>
          </a:p>
          <a:p>
            <a:r>
              <a:t>Explain that the visible upper section is only part of the form; users must scroll to complete readings and remarks.</a:t>
            </a:r>
          </a:p>
          <a:p>
            <a:r>
              <a:t>Values must come from the actual inspection source, not from memory or a previous entry.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the actions column and explain the difference between viewing, editing, and deleting.</a:t>
            </a:r>
          </a:p>
          <a:p>
            <a:r>
              <a:t>If uncertain whether a record should be deleted, stop and ask the responsible supervisor or inspector.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Import is never a one-click action.</a:t>
            </a:r>
          </a:p>
          <a:p>
            <a:r>
              <a:t>Users upload a supported Excel file, preview the parsed rows, review new records, duplicates, and errors, then confirm.</a:t>
            </a:r>
          </a:p>
          <a:p>
            <a:r>
              <a:t>If the preview looks wrong, cancel and fix the workbook rather than forcing the import.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 not repeat the full workflow three times; emphasize that these modules share the same list, filters, create form, details, and edit pattern.</a:t>
            </a:r>
          </a:p>
          <a:p>
            <a:r>
              <a:t>The field names differ according to the inspection being recorded.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Magnetism differs from the simple one-form modules.</a:t>
            </a:r>
          </a:p>
          <a:p>
            <a:r>
              <a:t>Start with the checksheet header, then work inside it to create production batches and enter checkpoints.</a:t>
            </a:r>
          </a:p>
          <a:p>
            <a:r>
              <a:t>The current training database has no Magnetism checksheets, so the slide illustrates the live create screen and the verified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selected checksheet type and item code determine which fields and validation guidance apply.</a:t>
            </a:r>
          </a:p>
          <a:p>
            <a:r>
              <a:t>Users should read the blue validation message before entering measurement data.</a:t>
            </a:r>
          </a:p>
          <a:p>
            <a:r>
              <a:t>Continue below the visible area to complete samples, personnel, and remarks.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Material Type controls which sub-lot fields appear.</a:t>
            </a:r>
          </a:p>
          <a:p>
            <a:r>
              <a:t>The letter code is generated by the system and should not be manually guessed.</a:t>
            </a:r>
          </a:p>
          <a:p>
            <a:r>
              <a:t>Verify the main lot, quantity, operator, job number, and all visible sub-lot numbers before saving.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Slow down here; these are the habits that protect data quality.</a:t>
            </a:r>
          </a:p>
          <a:p>
            <a:r>
              <a:t>Keep literal form semantics. A blank or not-recorded field is not automatically the same as zero.</a:t>
            </a:r>
          </a:p>
          <a:p>
            <a:r>
              <a:t>For imports, the preview is the safety checkpoint.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Allow three to four minutes.</a:t>
            </a:r>
          </a:p>
          <a:p>
            <a:r>
              <a:t>If this is the production environment, demonstrate without clicking the final save button unless the trainer has authorized a controlled sample record.</a:t>
            </a:r>
          </a:p>
          <a:p>
            <a:r>
              <a:t>Ask participants to point out the required fields and the final review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Allow two to three minutes.</a:t>
            </a:r>
          </a:p>
          <a:p>
            <a:r>
              <a:t>Provide a safe reference value that exists in the training environment.</a:t>
            </a:r>
          </a:p>
          <a:p>
            <a:r>
              <a:t>The goal is correct identification and review, not editing.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by asking participants to repeat the five habits.</a:t>
            </a:r>
          </a:p>
          <a:p>
            <a:r>
              <a:t>Invite questions and identify the local contact person for access or data-quality concerns.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12E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rcRect l="22802" r="22802"/>
          <a:stretch>
            <a:fillRect/>
          </a:stretch>
        </p:blipFill>
        <p:spPr>
          <a:xfrm>
            <a:off x="6572250" y="781050"/>
            <a:ext cx="5048250" cy="5286375"/>
          </a:xfrm>
          <a:prstGeom prst="roundRect">
            <a:avLst>
              <a:gd name="adj" fmla="val 2642"/>
            </a:avLst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7B3CB57-C9BD-4668-B6F7-6CF93BCAC752}"/>
              </a:ext>
            </a:extLst>
          </p:cNvPr>
          <p:cNvSpPr>
            <a:spLocks noGrp="1"/>
          </p:cNvSpPr>
          <p:nvPr/>
        </p:nvSpPr>
        <p:spPr>
          <a:xfrm>
            <a:off x="6572250" y="781050"/>
            <a:ext cx="5048250" cy="5286375"/>
          </a:xfrm>
          <a:prstGeom prst="roundRect">
            <a:avLst>
              <a:gd name="adj" fmla="val 2642"/>
            </a:avLst>
          </a:prstGeom>
          <a:noFill/>
          <a:ln w="9525">
            <a:solidFill>
              <a:srgbClr val="CBD2DF"/>
            </a:solidFill>
            <a:prstDash val="solid"/>
          </a:ln>
        </p:spPr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9CB47A4-2DA5-45CE-9A34-2EB7E71052C4}"/>
              </a:ext>
            </a:extLst>
          </p:cNvPr>
          <p:cNvSpPr>
            <a:spLocks noGrp="1"/>
          </p:cNvSpPr>
          <p:nvPr/>
        </p:nvSpPr>
        <p:spPr>
          <a:xfrm>
            <a:off x="10686098" y="847725"/>
            <a:ext cx="858203" cy="361950"/>
          </a:xfrm>
          <a:prstGeom prst="roundRect">
            <a:avLst>
              <a:gd name="adj" fmla="val 34211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03444E-743C-4962-862B-0FA4961A7BBA}"/>
              </a:ext>
            </a:extLst>
          </p:cNvPr>
          <p:cNvSpPr>
            <a:spLocks noGrp="1"/>
          </p:cNvSpPr>
          <p:nvPr/>
        </p:nvSpPr>
        <p:spPr>
          <a:xfrm>
            <a:off x="10762298" y="933450"/>
            <a:ext cx="762953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187"/>
          </a:bodyPr>
          <a:lstStyle/>
          <a:p>
            <a:pPr algn="ctr">
              <a:defRPr sz="900" b="1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74151"/>
                </a:solidFill>
                <a:latin typeface="Aptos"/>
                <a:ea typeface="Aptos"/>
                <a:cs typeface="Aptos"/>
              </a:rPr>
              <a:t>Operator / Inspector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0CBA041-F0D8-4D7B-9958-520D5EBFCE6D}"/>
              </a:ext>
            </a:extLst>
          </p:cNvPr>
          <p:cNvSpPr>
            <a:spLocks noGrp="1"/>
          </p:cNvSpPr>
          <p:nvPr/>
        </p:nvSpPr>
        <p:spPr>
          <a:xfrm>
            <a:off x="6553200" y="762000"/>
            <a:ext cx="5086350" cy="5324475"/>
          </a:xfrm>
          <a:prstGeom prst="roundRect">
            <a:avLst>
              <a:gd name="adj" fmla="val 3371"/>
            </a:avLst>
          </a:prstGeom>
          <a:noFill/>
          <a:ln w="9525">
            <a:solidFill>
              <a:srgbClr val="818CF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8">
            <a:scrgbClr r="0" g="0" b="0"/>
          </a:effectRef>
          <a:fontRef idx="major"/>
        </p:style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0A8B18-61A9-4004-B589-5E85C2BB678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>
                <a:solidFill>
                  <a:srgbClr val="C7D2F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7D2FE"/>
                </a:solidFill>
                <a:latin typeface="Aptos"/>
                <a:ea typeface="Aptos"/>
                <a:cs typeface="Aptos"/>
              </a:rPr>
              <a:t>ICRS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15C680-A807-4C92-81CF-F8E2D3545473}"/>
              </a:ext>
            </a:extLst>
          </p:cNvPr>
          <p:cNvSpPr>
            <a:spLocks noGrp="1"/>
          </p:cNvSpPr>
          <p:nvPr/>
        </p:nvSpPr>
        <p:spPr>
          <a:xfrm>
            <a:off x="609600" y="1428750"/>
            <a:ext cx="5429250" cy="2190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4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Using the Inspection</a:t>
            </a:r>
          </a:p>
          <a:p>
            <a:pPr algn="l">
              <a:defRPr sz="4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Checksheet Recording</a:t>
            </a:r>
          </a:p>
          <a:p>
            <a:pPr algn="l">
              <a:defRPr sz="4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F18E935-1E90-405B-9D17-7A1C8B8EBCFF}"/>
              </a:ext>
            </a:extLst>
          </p:cNvPr>
          <p:cNvSpPr>
            <a:spLocks noGrp="1"/>
          </p:cNvSpPr>
          <p:nvPr/>
        </p:nvSpPr>
        <p:spPr>
          <a:xfrm>
            <a:off x="628650" y="3848100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1">
                <a:solidFill>
                  <a:srgbClr val="C7D2F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7D2FE"/>
                </a:solidFill>
                <a:latin typeface="Aptos"/>
                <a:ea typeface="Aptos"/>
                <a:cs typeface="Aptos"/>
              </a:rPr>
              <a:t>Operator &amp; Inspector Orientation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D66B5B-A243-4F6F-A5A2-42C9A8690E7E}"/>
              </a:ext>
            </a:extLst>
          </p:cNvPr>
          <p:cNvSpPr>
            <a:spLocks noGrp="1"/>
          </p:cNvSpPr>
          <p:nvPr/>
        </p:nvSpPr>
        <p:spPr>
          <a:xfrm>
            <a:off x="628650" y="4457700"/>
            <a:ext cx="476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E0E7FF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0E7FF"/>
                </a:solidFill>
                <a:latin typeface="Aptos"/>
                <a:ea typeface="Aptos"/>
                <a:cs typeface="Aptos"/>
              </a:rPr>
              <a:t>A practical guide to finding, recording,</a:t>
            </a:r>
          </a:p>
          <a:p>
            <a:pPr algn="l">
              <a:defRPr sz="1650" b="0">
                <a:solidFill>
                  <a:srgbClr val="E0E7FF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0E7FF"/>
                </a:solidFill>
                <a:latin typeface="Aptos"/>
                <a:ea typeface="Aptos"/>
                <a:cs typeface="Aptos"/>
              </a:rPr>
              <a:t>reviewing, and updating inspection data.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71DC619-5C5D-4AB4-B8D2-84365B403FEA}"/>
              </a:ext>
            </a:extLst>
          </p:cNvPr>
          <p:cNvSpPr>
            <a:spLocks noGrp="1"/>
          </p:cNvSpPr>
          <p:nvPr/>
        </p:nvSpPr>
        <p:spPr>
          <a:xfrm>
            <a:off x="628650" y="5524500"/>
            <a:ext cx="2857500" cy="476250"/>
          </a:xfrm>
          <a:prstGeom prst="roundRect">
            <a:avLst>
              <a:gd name="adj" fmla="val 32000"/>
            </a:avLst>
          </a:prstGeom>
          <a:solidFill>
            <a:srgbClr val="FFFFFF">
              <a:alpha val="10196"/>
            </a:srgbClr>
          </a:solidFill>
          <a:ln w="9525">
            <a:solidFill>
              <a:srgbClr val="A5B4F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DDE369-8DB9-42C4-BDC7-8501B70985B2}"/>
              </a:ext>
            </a:extLst>
          </p:cNvPr>
          <p:cNvSpPr>
            <a:spLocks noGrp="1"/>
          </p:cNvSpPr>
          <p:nvPr/>
        </p:nvSpPr>
        <p:spPr>
          <a:xfrm>
            <a:off x="809625" y="5657850"/>
            <a:ext cx="2524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20–25 minute guided session</a:t>
            </a:r>
          </a:p>
        </p:txBody>
      </p:sp>
    </p:spTree>
    <p:extLst>
      <p:ext uri="{BB962C8B-B14F-4D97-AF65-F5344CB8AC3E}">
        <p14:creationId xmlns:p14="http://schemas.microsoft.com/office/powerpoint/2010/main" val="1845267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3154A72-EE3A-4037-B62A-D41BCA58884C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ICRS USER ORIENTATION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549DF0-A5C0-4594-BD5D-05A056A3739F}"/>
              </a:ext>
            </a:extLst>
          </p:cNvPr>
          <p:cNvSpPr>
            <a:spLocks noGrp="1"/>
          </p:cNvSpPr>
          <p:nvPr/>
        </p:nvSpPr>
        <p:spPr>
          <a:xfrm>
            <a:off x="590550" y="5905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you will be able to do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10C036AB-89F9-4A73-AA8B-0BAE6B88CF46}"/>
              </a:ext>
            </a:extLst>
          </p:cNvPr>
          <p:cNvSpPr>
            <a:spLocks noGrp="1"/>
          </p:cNvSpPr>
          <p:nvPr/>
        </p:nvSpPr>
        <p:spPr>
          <a:xfrm>
            <a:off x="590550" y="1181100"/>
            <a:ext cx="11010900" cy="0"/>
          </a:xfrm>
          <a:prstGeom prst="line">
            <a:avLst/>
          </a:prstGeom>
          <a:noFill/>
          <a:ln w="9525">
            <a:solidFill>
              <a:srgbClr val="D9DEE7"/>
            </a:solidFill>
            <a:prstDash val="solid"/>
          </a:ln>
        </p:spPr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BC51EA6-C66E-49F0-A2AF-6AFB2960F0C4}"/>
              </a:ext>
            </a:extLst>
          </p:cNvPr>
          <p:cNvSpPr>
            <a:spLocks noGrp="1"/>
          </p:cNvSpPr>
          <p:nvPr/>
        </p:nvSpPr>
        <p:spPr>
          <a:xfrm>
            <a:off x="666750" y="1657350"/>
            <a:ext cx="3333750" cy="34290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DB1DD63-C2F1-4345-ABB3-6992A1B62B35}"/>
              </a:ext>
            </a:extLst>
          </p:cNvPr>
          <p:cNvSpPr>
            <a:spLocks noGrp="1"/>
          </p:cNvSpPr>
          <p:nvPr/>
        </p:nvSpPr>
        <p:spPr>
          <a:xfrm>
            <a:off x="1743075" y="1952625"/>
            <a:ext cx="1181100" cy="1181100"/>
          </a:xfrm>
          <a:prstGeom prst="ellipse">
            <a:avLst/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defRPr sz="3450" b="1">
                <a:solidFill>
                  <a:srgbClr val="2563EB"/>
                </a:solidFill>
              </a:defRPr>
            </a:pPr>
            <a:r>
              <a:rPr sz="3450" b="1">
                <a:solidFill>
                  <a:srgbClr val="2563EB"/>
                </a:solidFill>
              </a:rPr>
              <a:t>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714B71-310E-4AF1-B76A-15A6BB953AF0}"/>
              </a:ext>
            </a:extLst>
          </p:cNvPr>
          <p:cNvSpPr>
            <a:spLocks noGrp="1"/>
          </p:cNvSpPr>
          <p:nvPr/>
        </p:nvSpPr>
        <p:spPr>
          <a:xfrm>
            <a:off x="1000125" y="3429000"/>
            <a:ext cx="266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9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Navigate confidently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6982F4-2BB8-4CC9-806C-2090D66A07E9}"/>
              </a:ext>
            </a:extLst>
          </p:cNvPr>
          <p:cNvSpPr>
            <a:spLocks noGrp="1"/>
          </p:cNvSpPr>
          <p:nvPr/>
        </p:nvSpPr>
        <p:spPr>
          <a:xfrm>
            <a:off x="1066800" y="3971925"/>
            <a:ext cx="25336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425" b="0">
                <a:solidFill>
                  <a:srgbClr val="5B647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B6474"/>
                </a:solidFill>
                <a:latin typeface="Aptos"/>
                <a:ea typeface="Aptos"/>
                <a:cs typeface="Aptos"/>
              </a:rPr>
              <a:t>Move between the dashboard and the inspection modules.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CC5160A-AE8F-405D-A89A-EC362F076E91}"/>
              </a:ext>
            </a:extLst>
          </p:cNvPr>
          <p:cNvSpPr>
            <a:spLocks noGrp="1"/>
          </p:cNvSpPr>
          <p:nvPr/>
        </p:nvSpPr>
        <p:spPr>
          <a:xfrm>
            <a:off x="4429125" y="1657350"/>
            <a:ext cx="3333750" cy="34290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AE7C50C-9FDF-4AF6-9D5D-2ED92BB249A1}"/>
              </a:ext>
            </a:extLst>
          </p:cNvPr>
          <p:cNvSpPr>
            <a:spLocks noGrp="1"/>
          </p:cNvSpPr>
          <p:nvPr/>
        </p:nvSpPr>
        <p:spPr>
          <a:xfrm>
            <a:off x="5505450" y="1952625"/>
            <a:ext cx="1181100" cy="1181100"/>
          </a:xfrm>
          <a:prstGeom prst="ellipse">
            <a:avLst/>
          </a:prstGeom>
          <a:solidFill>
            <a:srgbClr val="DCFCE7"/>
          </a:solidFill>
          <a:ln w="19050">
            <a:solidFill>
              <a:srgbClr val="16A34A"/>
            </a:solidFill>
            <a:prstDash val="solid"/>
          </a:ln>
        </p:spPr>
        <p:txBody>
          <a:bodyPr anchor="ctr"/>
          <a:lstStyle/>
          <a:p>
            <a:pPr algn="ctr">
              <a:defRPr sz="3450" b="1">
                <a:solidFill>
                  <a:srgbClr val="16A34A"/>
                </a:solidFill>
              </a:defRPr>
            </a:pPr>
            <a:r>
              <a:rPr sz="3450" b="1">
                <a:solidFill>
                  <a:srgbClr val="16A34A"/>
                </a:solidFill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2149DB-0E93-46C6-B7D4-9A30DD6D0477}"/>
              </a:ext>
            </a:extLst>
          </p:cNvPr>
          <p:cNvSpPr>
            <a:spLocks noGrp="1"/>
          </p:cNvSpPr>
          <p:nvPr/>
        </p:nvSpPr>
        <p:spPr>
          <a:xfrm>
            <a:off x="4762500" y="3429000"/>
            <a:ext cx="266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9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Record correctly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827E99-4160-4BCF-8208-4F0BB15259AD}"/>
              </a:ext>
            </a:extLst>
          </p:cNvPr>
          <p:cNvSpPr>
            <a:spLocks noGrp="1"/>
          </p:cNvSpPr>
          <p:nvPr/>
        </p:nvSpPr>
        <p:spPr>
          <a:xfrm>
            <a:off x="4829175" y="3971925"/>
            <a:ext cx="25336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425" b="0">
                <a:solidFill>
                  <a:srgbClr val="5B647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B6474"/>
                </a:solidFill>
                <a:latin typeface="Aptos"/>
                <a:ea typeface="Aptos"/>
                <a:cs typeface="Aptos"/>
              </a:rPr>
              <a:t>Create a new record and recognize required fields.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3623883-9D03-4ED4-90B1-8BA61DF4F82E}"/>
              </a:ext>
            </a:extLst>
          </p:cNvPr>
          <p:cNvSpPr>
            <a:spLocks noGrp="1"/>
          </p:cNvSpPr>
          <p:nvPr/>
        </p:nvSpPr>
        <p:spPr>
          <a:xfrm>
            <a:off x="8191500" y="1657350"/>
            <a:ext cx="3333750" cy="34290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FCF7922-454F-45F0-BC20-7720060309D2}"/>
              </a:ext>
            </a:extLst>
          </p:cNvPr>
          <p:cNvSpPr>
            <a:spLocks noGrp="1"/>
          </p:cNvSpPr>
          <p:nvPr/>
        </p:nvSpPr>
        <p:spPr>
          <a:xfrm>
            <a:off x="9267825" y="1952625"/>
            <a:ext cx="1181100" cy="1181100"/>
          </a:xfrm>
          <a:prstGeom prst="ellipse">
            <a:avLst/>
          </a:prstGeom>
          <a:solidFill>
            <a:srgbClr val="FFEDD5"/>
          </a:solidFill>
          <a:ln w="19050">
            <a:solidFill>
              <a:srgbClr val="EA580C"/>
            </a:solidFill>
            <a:prstDash val="solid"/>
          </a:ln>
        </p:spPr>
        <p:txBody>
          <a:bodyPr anchor="ctr"/>
          <a:lstStyle/>
          <a:p>
            <a:pPr algn="ctr">
              <a:defRPr sz="3450" b="1">
                <a:solidFill>
                  <a:srgbClr val="EA580C"/>
                </a:solidFill>
              </a:defRPr>
            </a:pPr>
            <a:r>
              <a:rPr sz="3450" b="1">
                <a:solidFill>
                  <a:srgbClr val="EA580C"/>
                </a:solidFill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089B2E-2593-4E1F-A5D2-136619E6BB4C}"/>
              </a:ext>
            </a:extLst>
          </p:cNvPr>
          <p:cNvSpPr>
            <a:spLocks noGrp="1"/>
          </p:cNvSpPr>
          <p:nvPr/>
        </p:nvSpPr>
        <p:spPr>
          <a:xfrm>
            <a:off x="8524875" y="3429000"/>
            <a:ext cx="266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9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Review safely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AB5F3AC-CA66-4D11-A0A0-29A9DE625F3B}"/>
              </a:ext>
            </a:extLst>
          </p:cNvPr>
          <p:cNvSpPr>
            <a:spLocks noGrp="1"/>
          </p:cNvSpPr>
          <p:nvPr/>
        </p:nvSpPr>
        <p:spPr>
          <a:xfrm>
            <a:off x="8591550" y="3971925"/>
            <a:ext cx="25336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425" b="0">
                <a:solidFill>
                  <a:srgbClr val="5B647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B6474"/>
                </a:solidFill>
                <a:latin typeface="Aptos"/>
                <a:ea typeface="Aptos"/>
                <a:cs typeface="Aptos"/>
              </a:rPr>
              <a:t>Search, verify, update, import, and avoid common mistakes.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94FB467-7BF2-4799-8626-37C79FE1026C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438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Inspection Checksheet Recording System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BC96A7-31A5-4B40-AF70-4103E6265089}"/>
              </a:ext>
            </a:extLst>
          </p:cNvPr>
          <p:cNvSpPr>
            <a:spLocks noGrp="1"/>
          </p:cNvSpPr>
          <p:nvPr/>
        </p:nvSpPr>
        <p:spPr>
          <a:xfrm>
            <a:off x="11191875" y="64960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01894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13C5445-BE34-4F20-82C8-47AED670F2C1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ICRS USER ORIENTATION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A5FFCA-D2EE-4571-920B-F6753546783A}"/>
              </a:ext>
            </a:extLst>
          </p:cNvPr>
          <p:cNvSpPr>
            <a:spLocks noGrp="1"/>
          </p:cNvSpPr>
          <p:nvPr/>
        </p:nvSpPr>
        <p:spPr>
          <a:xfrm>
            <a:off x="590550" y="5905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Log in securely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E8A00956-8E67-4829-AD00-DC9A231EBE1E}"/>
              </a:ext>
            </a:extLst>
          </p:cNvPr>
          <p:cNvSpPr>
            <a:spLocks noGrp="1"/>
          </p:cNvSpPr>
          <p:nvPr/>
        </p:nvSpPr>
        <p:spPr>
          <a:xfrm>
            <a:off x="590550" y="1181100"/>
            <a:ext cx="11010900" cy="0"/>
          </a:xfrm>
          <a:prstGeom prst="line">
            <a:avLst/>
          </a:prstGeom>
          <a:noFill/>
          <a:ln w="9525">
            <a:solidFill>
              <a:srgbClr val="D9DEE7"/>
            </a:solidFill>
            <a:prstDash val="solid"/>
          </a:ln>
        </p:spPr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rcRect l="1686" r="1686"/>
          <a:stretch>
            <a:fillRect/>
          </a:stretch>
        </p:blipFill>
        <p:spPr>
          <a:xfrm>
            <a:off x="685800" y="1562100"/>
            <a:ext cx="6191250" cy="4095750"/>
          </a:xfrm>
          <a:prstGeom prst="roundRect">
            <a:avLst>
              <a:gd name="adj" fmla="val 3256"/>
            </a:avLst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F59C8F8-FF47-49E8-8893-8C6A426743E6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6191250" cy="4095750"/>
          </a:xfrm>
          <a:prstGeom prst="roundRect">
            <a:avLst>
              <a:gd name="adj" fmla="val 3256"/>
            </a:avLst>
          </a:prstGeom>
          <a:noFill/>
          <a:ln w="9525">
            <a:solidFill>
              <a:srgbClr val="CBD2DF"/>
            </a:solidFill>
            <a:prstDash val="solid"/>
          </a:ln>
        </p:spPr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DD15786-0462-4C5E-8953-A55555D1AA26}"/>
              </a:ext>
            </a:extLst>
          </p:cNvPr>
          <p:cNvSpPr>
            <a:spLocks noGrp="1"/>
          </p:cNvSpPr>
          <p:nvPr/>
        </p:nvSpPr>
        <p:spPr>
          <a:xfrm>
            <a:off x="7334250" y="1562100"/>
            <a:ext cx="4191000" cy="4095750"/>
          </a:xfrm>
          <a:prstGeom prst="roundRect">
            <a:avLst>
              <a:gd name="adj" fmla="val 5116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8DEDD76-B6BB-4ADE-8625-FEB955844683}"/>
              </a:ext>
            </a:extLst>
          </p:cNvPr>
          <p:cNvSpPr>
            <a:spLocks noGrp="1"/>
          </p:cNvSpPr>
          <p:nvPr/>
        </p:nvSpPr>
        <p:spPr>
          <a:xfrm>
            <a:off x="7696200" y="2000250"/>
            <a:ext cx="361950" cy="361950"/>
          </a:xfrm>
          <a:prstGeom prst="ellipse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19FA7AC-1492-4769-8E61-E9BF206CB9B2}"/>
              </a:ext>
            </a:extLst>
          </p:cNvPr>
          <p:cNvSpPr>
            <a:spLocks noGrp="1"/>
          </p:cNvSpPr>
          <p:nvPr/>
        </p:nvSpPr>
        <p:spPr>
          <a:xfrm>
            <a:off x="8172450" y="2009775"/>
            <a:ext cx="2762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Enter your assigned email.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E54692A-7D3E-4532-B6C2-2D41E7C8F3B2}"/>
              </a:ext>
            </a:extLst>
          </p:cNvPr>
          <p:cNvSpPr>
            <a:spLocks noGrp="1"/>
          </p:cNvSpPr>
          <p:nvPr/>
        </p:nvSpPr>
        <p:spPr>
          <a:xfrm>
            <a:off x="7696200" y="2686050"/>
            <a:ext cx="361950" cy="361950"/>
          </a:xfrm>
          <a:prstGeom prst="ellipse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E1CE22-9660-45EC-B41D-B8962F130451}"/>
              </a:ext>
            </a:extLst>
          </p:cNvPr>
          <p:cNvSpPr>
            <a:spLocks noGrp="1"/>
          </p:cNvSpPr>
          <p:nvPr/>
        </p:nvSpPr>
        <p:spPr>
          <a:xfrm>
            <a:off x="8172450" y="2695575"/>
            <a:ext cx="2762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Enter your password.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B4D594E-EEA8-41FD-B614-C8ACAAAC325A}"/>
              </a:ext>
            </a:extLst>
          </p:cNvPr>
          <p:cNvSpPr>
            <a:spLocks noGrp="1"/>
          </p:cNvSpPr>
          <p:nvPr/>
        </p:nvSpPr>
        <p:spPr>
          <a:xfrm>
            <a:off x="7696200" y="3371850"/>
            <a:ext cx="361950" cy="361950"/>
          </a:xfrm>
          <a:prstGeom prst="ellipse">
            <a:avLst/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7A0C811-FCE7-430B-87E7-69D67C9530AA}"/>
              </a:ext>
            </a:extLst>
          </p:cNvPr>
          <p:cNvSpPr>
            <a:spLocks noGrp="1"/>
          </p:cNvSpPr>
          <p:nvPr/>
        </p:nvSpPr>
        <p:spPr>
          <a:xfrm>
            <a:off x="8172450" y="3381375"/>
            <a:ext cx="285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593"/>
          </a:bodyPr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“Remember me” only on an assigned device.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D8B7034-6FCF-4353-B235-70DAF5A8E6C2}"/>
              </a:ext>
            </a:extLst>
          </p:cNvPr>
          <p:cNvSpPr>
            <a:spLocks noGrp="1"/>
          </p:cNvSpPr>
          <p:nvPr/>
        </p:nvSpPr>
        <p:spPr>
          <a:xfrm>
            <a:off x="7696200" y="4248150"/>
            <a:ext cx="361950" cy="361950"/>
          </a:xfrm>
          <a:prstGeom prst="ellipse">
            <a:avLst/>
          </a:prstGeom>
          <a:solidFill>
            <a:srgbClr val="16A34A"/>
          </a:solidFill>
          <a:ln w="0">
            <a:solidFill>
              <a:srgbClr val="16A34A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D38A03-97D7-4EF3-B785-24B030D9B8FF}"/>
              </a:ext>
            </a:extLst>
          </p:cNvPr>
          <p:cNvSpPr>
            <a:spLocks noGrp="1"/>
          </p:cNvSpPr>
          <p:nvPr/>
        </p:nvSpPr>
        <p:spPr>
          <a:xfrm>
            <a:off x="8172450" y="4257675"/>
            <a:ext cx="2762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Select Log in.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84A33FE-648E-4138-A21F-9D541D273CCB}"/>
              </a:ext>
            </a:extLst>
          </p:cNvPr>
          <p:cNvSpPr>
            <a:spLocks noGrp="1"/>
          </p:cNvSpPr>
          <p:nvPr/>
        </p:nvSpPr>
        <p:spPr>
          <a:xfrm>
            <a:off x="7677150" y="5010150"/>
            <a:ext cx="3333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Never share credentials or save them on a public/shared computer.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5E2155A-D5F4-4996-84FB-5C7215519EAD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438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Inspection Checksheet Recording System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4516681-39D7-40D7-8573-E3B681E36641}"/>
              </a:ext>
            </a:extLst>
          </p:cNvPr>
          <p:cNvSpPr>
            <a:spLocks noGrp="1"/>
          </p:cNvSpPr>
          <p:nvPr/>
        </p:nvSpPr>
        <p:spPr>
          <a:xfrm>
            <a:off x="11191875" y="64960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275951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BAFEF6C2-AA76-ADCA-060E-F802C4CA4A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57301"/>
            <a:ext cx="10572750" cy="497123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76B0E23-C32B-430F-B0E7-EF72D0CDBFE7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ICRS USER ORIENTATION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603982B-6620-48FA-BB65-00C2D5940488}"/>
              </a:ext>
            </a:extLst>
          </p:cNvPr>
          <p:cNvSpPr>
            <a:spLocks noGrp="1"/>
          </p:cNvSpPr>
          <p:nvPr/>
        </p:nvSpPr>
        <p:spPr>
          <a:xfrm>
            <a:off x="590550" y="5905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Your starting point: the dashboard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2AD3C350-3ECD-4B39-8391-340109711E48}"/>
              </a:ext>
            </a:extLst>
          </p:cNvPr>
          <p:cNvSpPr>
            <a:spLocks noGrp="1"/>
          </p:cNvSpPr>
          <p:nvPr/>
        </p:nvSpPr>
        <p:spPr>
          <a:xfrm>
            <a:off x="590550" y="1181100"/>
            <a:ext cx="11010900" cy="0"/>
          </a:xfrm>
          <a:prstGeom prst="line">
            <a:avLst/>
          </a:prstGeom>
          <a:noFill/>
          <a:ln w="9525">
            <a:solidFill>
              <a:srgbClr val="D9DEE7"/>
            </a:solidFill>
            <a:prstDash val="solid"/>
          </a:ln>
        </p:spPr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76AD8D8-712F-40CE-A098-AFF60A8B594E}"/>
              </a:ext>
            </a:extLst>
          </p:cNvPr>
          <p:cNvSpPr>
            <a:spLocks noGrp="1"/>
          </p:cNvSpPr>
          <p:nvPr/>
        </p:nvSpPr>
        <p:spPr>
          <a:xfrm>
            <a:off x="1973929" y="2203692"/>
            <a:ext cx="361950" cy="361950"/>
          </a:xfrm>
          <a:prstGeom prst="ellipse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8D25C59-E165-496E-AD03-054F0C55FC01}"/>
              </a:ext>
            </a:extLst>
          </p:cNvPr>
          <p:cNvSpPr>
            <a:spLocks noGrp="1"/>
          </p:cNvSpPr>
          <p:nvPr/>
        </p:nvSpPr>
        <p:spPr>
          <a:xfrm>
            <a:off x="5972175" y="1800225"/>
            <a:ext cx="361950" cy="361950"/>
          </a:xfrm>
          <a:prstGeom prst="ellipse">
            <a:avLst/>
          </a:prstGeom>
          <a:solidFill>
            <a:srgbClr val="16A34A"/>
          </a:solidFill>
          <a:ln w="0">
            <a:solidFill>
              <a:srgbClr val="16A34A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92CEA0-609C-417C-8D24-B2C925151866}"/>
              </a:ext>
            </a:extLst>
          </p:cNvPr>
          <p:cNvSpPr>
            <a:spLocks noGrp="1"/>
          </p:cNvSpPr>
          <p:nvPr/>
        </p:nvSpPr>
        <p:spPr>
          <a:xfrm>
            <a:off x="9746620" y="1276350"/>
            <a:ext cx="361950" cy="361950"/>
          </a:xfrm>
          <a:prstGeom prst="ellipse">
            <a:avLst/>
          </a:prstGeom>
          <a:solidFill>
            <a:srgbClr val="EA580C"/>
          </a:solidFill>
          <a:ln w="0">
            <a:solidFill>
              <a:srgbClr val="EA580C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624DC67-62DE-4903-A596-78D9BB2F7D4C}"/>
              </a:ext>
            </a:extLst>
          </p:cNvPr>
          <p:cNvSpPr>
            <a:spLocks noGrp="1"/>
          </p:cNvSpPr>
          <p:nvPr/>
        </p:nvSpPr>
        <p:spPr>
          <a:xfrm>
            <a:off x="1366510" y="5867399"/>
            <a:ext cx="9048750" cy="552450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C04FBC-573E-4850-AB6D-599107061F32}"/>
              </a:ext>
            </a:extLst>
          </p:cNvPr>
          <p:cNvSpPr>
            <a:spLocks noGrp="1"/>
          </p:cNvSpPr>
          <p:nvPr/>
        </p:nvSpPr>
        <p:spPr>
          <a:xfrm>
            <a:off x="1633210" y="6038849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  Sidebar navigation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09E7CE-7B3E-4CB6-9205-7274D0C274E4}"/>
              </a:ext>
            </a:extLst>
          </p:cNvPr>
          <p:cNvSpPr>
            <a:spLocks noGrp="1"/>
          </p:cNvSpPr>
          <p:nvPr/>
        </p:nvSpPr>
        <p:spPr>
          <a:xfrm>
            <a:off x="4700260" y="6038849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  Module shortcuts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E45241-27C8-46D6-BEF6-B122E6E203BC}"/>
              </a:ext>
            </a:extLst>
          </p:cNvPr>
          <p:cNvSpPr>
            <a:spLocks noGrp="1"/>
          </p:cNvSpPr>
          <p:nvPr/>
        </p:nvSpPr>
        <p:spPr>
          <a:xfrm>
            <a:off x="7795885" y="6038849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3  Profile &amp; log out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CE346DD-CD8A-4701-86E8-9536CA609695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438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Inspection Checksheet Recording System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76591E-6C7C-4440-AB76-380FCAAF9A53}"/>
              </a:ext>
            </a:extLst>
          </p:cNvPr>
          <p:cNvSpPr>
            <a:spLocks noGrp="1"/>
          </p:cNvSpPr>
          <p:nvPr/>
        </p:nvSpPr>
        <p:spPr>
          <a:xfrm>
            <a:off x="11191875" y="64960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39181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35887A-4AE8-48F9-9C9B-E5111CEF22BB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ICRS USER ORIENTATION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DC0779-A26B-47F9-B2E4-AD6D41151687}"/>
              </a:ext>
            </a:extLst>
          </p:cNvPr>
          <p:cNvSpPr>
            <a:spLocks noGrp="1"/>
          </p:cNvSpPr>
          <p:nvPr/>
        </p:nvSpPr>
        <p:spPr>
          <a:xfrm>
            <a:off x="590550" y="5905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the sidebar to choose a module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E21F0809-9DB7-4D64-BD8B-CE1759E49200}"/>
              </a:ext>
            </a:extLst>
          </p:cNvPr>
          <p:cNvSpPr>
            <a:spLocks noGrp="1"/>
          </p:cNvSpPr>
          <p:nvPr/>
        </p:nvSpPr>
        <p:spPr>
          <a:xfrm>
            <a:off x="590550" y="1181100"/>
            <a:ext cx="11010900" cy="0"/>
          </a:xfrm>
          <a:prstGeom prst="line">
            <a:avLst/>
          </a:prstGeom>
          <a:noFill/>
          <a:ln w="9525">
            <a:solidFill>
              <a:srgbClr val="D9DEE7"/>
            </a:solidFill>
            <a:prstDash val="solid"/>
          </a:ln>
        </p:spPr>
      </p:sp>
      <p:pic>
        <p:nvPicPr>
          <p:cNvPr id="29" name="Picture 28"/>
          <p:cNvPicPr>
            <a:picLocks noChangeAspect="1"/>
          </p:cNvPicPr>
          <p:nvPr/>
        </p:nvPicPr>
        <p:blipFill>
          <a:blip r:embed="rId3"/>
          <a:srcRect l="8912" r="8912"/>
          <a:stretch>
            <a:fillRect/>
          </a:stretch>
        </p:blipFill>
        <p:spPr>
          <a:xfrm>
            <a:off x="590550" y="1428750"/>
            <a:ext cx="6048375" cy="4762500"/>
          </a:xfrm>
          <a:prstGeom prst="roundRect">
            <a:avLst>
              <a:gd name="adj" fmla="val 2800"/>
            </a:avLst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F5F6079-1A83-4758-AB49-A41E6416E246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6048375" cy="4762500"/>
          </a:xfrm>
          <a:prstGeom prst="roundRect">
            <a:avLst>
              <a:gd name="adj" fmla="val 2800"/>
            </a:avLst>
          </a:prstGeom>
          <a:noFill/>
          <a:ln w="9525">
            <a:solidFill>
              <a:srgbClr val="CBD2DF"/>
            </a:solidFill>
            <a:prstDash val="solid"/>
          </a:ln>
        </p:spPr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CFD8229-A66D-482C-AD72-ADBBFDA1111F}"/>
              </a:ext>
            </a:extLst>
          </p:cNvPr>
          <p:cNvSpPr>
            <a:spLocks noGrp="1"/>
          </p:cNvSpPr>
          <p:nvPr/>
        </p:nvSpPr>
        <p:spPr>
          <a:xfrm>
            <a:off x="5534501" y="1495425"/>
            <a:ext cx="1028224" cy="333375"/>
          </a:xfrm>
          <a:prstGeom prst="roundRect">
            <a:avLst>
              <a:gd name="adj" fmla="val 37143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B4E1D5-3562-457B-A0D3-6833EA49281F}"/>
              </a:ext>
            </a:extLst>
          </p:cNvPr>
          <p:cNvSpPr>
            <a:spLocks noGrp="1"/>
          </p:cNvSpPr>
          <p:nvPr/>
        </p:nvSpPr>
        <p:spPr>
          <a:xfrm>
            <a:off x="5610701" y="1581150"/>
            <a:ext cx="932974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621"/>
          </a:bodyPr>
          <a:lstStyle/>
          <a:p>
            <a:pPr algn="ctr">
              <a:defRPr sz="900" b="1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74151"/>
                </a:solidFill>
                <a:latin typeface="Aptos"/>
                <a:ea typeface="Aptos"/>
                <a:cs typeface="Aptos"/>
              </a:rPr>
              <a:t>Operator / Inspector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0675589-F397-4343-AFC8-25FEDCCA09E0}"/>
              </a:ext>
            </a:extLst>
          </p:cNvPr>
          <p:cNvSpPr>
            <a:spLocks noGrp="1"/>
          </p:cNvSpPr>
          <p:nvPr/>
        </p:nvSpPr>
        <p:spPr>
          <a:xfrm>
            <a:off x="2495550" y="3162300"/>
            <a:ext cx="3981450" cy="2857500"/>
          </a:xfrm>
          <a:prstGeom prst="roundRect">
            <a:avLst>
              <a:gd name="adj" fmla="val 2667"/>
            </a:avLst>
          </a:prstGeom>
          <a:solidFill>
            <a:srgbClr val="F7F8FB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02B8DF-342C-47CE-BAD9-3FDED04865B0}"/>
              </a:ext>
            </a:extLst>
          </p:cNvPr>
          <p:cNvSpPr>
            <a:spLocks noGrp="1"/>
          </p:cNvSpPr>
          <p:nvPr/>
        </p:nvSpPr>
        <p:spPr>
          <a:xfrm>
            <a:off x="3524250" y="436245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8A93A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A93A3"/>
                </a:solidFill>
                <a:latin typeface="Aptos"/>
                <a:ea typeface="Aptos"/>
                <a:cs typeface="Aptos"/>
              </a:rPr>
              <a:t>Record data hidden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0C8FCBA-481F-4F28-8C4B-BEECB8E80868}"/>
              </a:ext>
            </a:extLst>
          </p:cNvPr>
          <p:cNvSpPr>
            <a:spLocks noGrp="1"/>
          </p:cNvSpPr>
          <p:nvPr/>
        </p:nvSpPr>
        <p:spPr>
          <a:xfrm>
            <a:off x="7067550" y="1428750"/>
            <a:ext cx="4552950" cy="4762500"/>
          </a:xfrm>
          <a:prstGeom prst="roundRect">
            <a:avLst>
              <a:gd name="adj" fmla="val 4603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C334708-69C0-4479-AECA-D690D95C6325}"/>
              </a:ext>
            </a:extLst>
          </p:cNvPr>
          <p:cNvSpPr>
            <a:spLocks noGrp="1"/>
          </p:cNvSpPr>
          <p:nvPr/>
        </p:nvSpPr>
        <p:spPr>
          <a:xfrm>
            <a:off x="7410450" y="1790700"/>
            <a:ext cx="266700" cy="266700"/>
          </a:xfrm>
          <a:prstGeom prst="ellipse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E7A074-6C2F-41D6-B1E8-481D2C2AF6D8}"/>
              </a:ext>
            </a:extLst>
          </p:cNvPr>
          <p:cNvSpPr>
            <a:spLocks noGrp="1"/>
          </p:cNvSpPr>
          <p:nvPr/>
        </p:nvSpPr>
        <p:spPr>
          <a:xfrm>
            <a:off x="7848600" y="1752600"/>
            <a:ext cx="3143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Annealing Checks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0F6720D-8BE9-4DA4-9CA2-53CF8D1CCC2D}"/>
              </a:ext>
            </a:extLst>
          </p:cNvPr>
          <p:cNvSpPr>
            <a:spLocks noGrp="1"/>
          </p:cNvSpPr>
          <p:nvPr/>
        </p:nvSpPr>
        <p:spPr>
          <a:xfrm>
            <a:off x="7410450" y="2419350"/>
            <a:ext cx="266700" cy="266700"/>
          </a:xfrm>
          <a:prstGeom prst="ellipse">
            <a:avLst/>
          </a:prstGeom>
          <a:solidFill>
            <a:srgbClr val="16A34A"/>
          </a:solidFill>
          <a:ln w="0">
            <a:solidFill>
              <a:srgbClr val="16A34A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BB6B1D-6678-4F94-817F-21AC172852D1}"/>
              </a:ext>
            </a:extLst>
          </p:cNvPr>
          <p:cNvSpPr>
            <a:spLocks noGrp="1"/>
          </p:cNvSpPr>
          <p:nvPr/>
        </p:nvSpPr>
        <p:spPr>
          <a:xfrm>
            <a:off x="7848600" y="2381250"/>
            <a:ext cx="3143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Temperature Records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E3BEC60-D668-4C50-B8AC-34CE7A4D4402}"/>
              </a:ext>
            </a:extLst>
          </p:cNvPr>
          <p:cNvSpPr>
            <a:spLocks noGrp="1"/>
          </p:cNvSpPr>
          <p:nvPr/>
        </p:nvSpPr>
        <p:spPr>
          <a:xfrm>
            <a:off x="7410450" y="3048000"/>
            <a:ext cx="266700" cy="266700"/>
          </a:xfrm>
          <a:prstGeom prst="ellipse">
            <a:avLst/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8F551B4-9B82-4FC3-9084-EA0D5D8A025B}"/>
              </a:ext>
            </a:extLst>
          </p:cNvPr>
          <p:cNvSpPr>
            <a:spLocks noGrp="1"/>
          </p:cNvSpPr>
          <p:nvPr/>
        </p:nvSpPr>
        <p:spPr>
          <a:xfrm>
            <a:off x="7848600" y="3009900"/>
            <a:ext cx="3143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Torque Records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8B6E763-EDA8-4B63-9350-910B2041900F}"/>
              </a:ext>
            </a:extLst>
          </p:cNvPr>
          <p:cNvSpPr>
            <a:spLocks noGrp="1"/>
          </p:cNvSpPr>
          <p:nvPr/>
        </p:nvSpPr>
        <p:spPr>
          <a:xfrm>
            <a:off x="7410450" y="3676650"/>
            <a:ext cx="266700" cy="266700"/>
          </a:xfrm>
          <a:prstGeom prst="ellipse">
            <a:avLst/>
          </a:prstGeom>
          <a:solidFill>
            <a:srgbClr val="9333EA"/>
          </a:solidFill>
          <a:ln w="0">
            <a:solidFill>
              <a:srgbClr val="9333EA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A5563C6-D510-4A6F-89AB-7C7751DF5B3E}"/>
              </a:ext>
            </a:extLst>
          </p:cNvPr>
          <p:cNvSpPr>
            <a:spLocks noGrp="1"/>
          </p:cNvSpPr>
          <p:nvPr/>
        </p:nvSpPr>
        <p:spPr>
          <a:xfrm>
            <a:off x="7848600" y="3638550"/>
            <a:ext cx="3143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Magnetism Checksheet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4AEC81B-0E8C-4EBF-834B-3D63B75F58B9}"/>
              </a:ext>
            </a:extLst>
          </p:cNvPr>
          <p:cNvSpPr>
            <a:spLocks noGrp="1"/>
          </p:cNvSpPr>
          <p:nvPr/>
        </p:nvSpPr>
        <p:spPr>
          <a:xfrm>
            <a:off x="7410450" y="4305300"/>
            <a:ext cx="266700" cy="266700"/>
          </a:xfrm>
          <a:prstGeom prst="ellipse">
            <a:avLst/>
          </a:prstGeom>
          <a:solidFill>
            <a:srgbClr val="EA580C"/>
          </a:solidFill>
          <a:ln w="0">
            <a:solidFill>
              <a:srgbClr val="EA580C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A6CFFB5-8D07-4C9E-B633-E8B1848A65CD}"/>
              </a:ext>
            </a:extLst>
          </p:cNvPr>
          <p:cNvSpPr>
            <a:spLocks noGrp="1"/>
          </p:cNvSpPr>
          <p:nvPr/>
        </p:nvSpPr>
        <p:spPr>
          <a:xfrm>
            <a:off x="7848600" y="4267200"/>
            <a:ext cx="3143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Welding Checksheet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AA6E0CC-70BD-49DC-8F9E-522C73C20704}"/>
              </a:ext>
            </a:extLst>
          </p:cNvPr>
          <p:cNvSpPr>
            <a:spLocks noGrp="1"/>
          </p:cNvSpPr>
          <p:nvPr/>
        </p:nvSpPr>
        <p:spPr>
          <a:xfrm>
            <a:off x="7410450" y="4933950"/>
            <a:ext cx="266700" cy="266700"/>
          </a:xfrm>
          <a:prstGeom prst="ellipse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F74118-EE9E-4C60-AC7A-0E336AE94B73}"/>
              </a:ext>
            </a:extLst>
          </p:cNvPr>
          <p:cNvSpPr>
            <a:spLocks noGrp="1"/>
          </p:cNvSpPr>
          <p:nvPr/>
        </p:nvSpPr>
        <p:spPr>
          <a:xfrm>
            <a:off x="7848600" y="4895850"/>
            <a:ext cx="3143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Material Monitoring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34F481E-2585-4AAE-A342-397979A0C994}"/>
              </a:ext>
            </a:extLst>
          </p:cNvPr>
          <p:cNvSpPr>
            <a:spLocks noGrp="1"/>
          </p:cNvSpPr>
          <p:nvPr/>
        </p:nvSpPr>
        <p:spPr>
          <a:xfrm>
            <a:off x="7429500" y="5610225"/>
            <a:ext cx="3619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137"/>
          </a:bodyPr>
          <a:lstStyle/>
          <a:p>
            <a:pPr algn="l">
              <a:defRPr sz="1275" b="0">
                <a:solidFill>
                  <a:srgbClr val="5B647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B6474"/>
                </a:solidFill>
                <a:latin typeface="Aptos"/>
                <a:ea typeface="Aptos"/>
                <a:cs typeface="Aptos"/>
              </a:rPr>
              <a:t>Tip: select Dashboard whenever you want to restart your navigation.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1C2E38-B903-4EB9-9AA2-51B31166916A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438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Inspection Checksheet Recording System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9A6BDD-99D5-451F-A90D-1AF37190F255}"/>
              </a:ext>
            </a:extLst>
          </p:cNvPr>
          <p:cNvSpPr>
            <a:spLocks noGrp="1"/>
          </p:cNvSpPr>
          <p:nvPr/>
        </p:nvSpPr>
        <p:spPr>
          <a:xfrm>
            <a:off x="11191875" y="64960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94292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1C188F2-D4BE-469B-ABC1-4B144C187F09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ICRS USER ORIENTATION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171AB59-F15C-4B2C-9B28-018969ADF66B}"/>
              </a:ext>
            </a:extLst>
          </p:cNvPr>
          <p:cNvSpPr>
            <a:spLocks noGrp="1"/>
          </p:cNvSpPr>
          <p:nvPr/>
        </p:nvSpPr>
        <p:spPr>
          <a:xfrm>
            <a:off x="590550" y="5905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Your screen follows your assigned permission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9AFCCA0F-2987-4893-88EE-E59E89E1838F}"/>
              </a:ext>
            </a:extLst>
          </p:cNvPr>
          <p:cNvSpPr>
            <a:spLocks noGrp="1"/>
          </p:cNvSpPr>
          <p:nvPr/>
        </p:nvSpPr>
        <p:spPr>
          <a:xfrm>
            <a:off x="590550" y="1181100"/>
            <a:ext cx="11010900" cy="0"/>
          </a:xfrm>
          <a:prstGeom prst="line">
            <a:avLst/>
          </a:prstGeom>
          <a:noFill/>
          <a:ln w="9525">
            <a:solidFill>
              <a:srgbClr val="D9DEE7"/>
            </a:solidFill>
            <a:prstDash val="solid"/>
          </a:ln>
        </p:spPr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3"/>
          <a:srcRect l="540" r="540"/>
          <a:stretch>
            <a:fillRect/>
          </a:stretch>
        </p:blipFill>
        <p:spPr>
          <a:xfrm>
            <a:off x="571500" y="1581150"/>
            <a:ext cx="5314950" cy="3476625"/>
          </a:xfrm>
          <a:prstGeom prst="roundRect">
            <a:avLst>
              <a:gd name="adj" fmla="val 3836"/>
            </a:avLst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4B3C016-A8E6-41D2-83B7-C7ED1F3C09A7}"/>
              </a:ext>
            </a:extLst>
          </p:cNvPr>
          <p:cNvSpPr>
            <a:spLocks noGrp="1"/>
          </p:cNvSpPr>
          <p:nvPr/>
        </p:nvSpPr>
        <p:spPr>
          <a:xfrm>
            <a:off x="571500" y="1581150"/>
            <a:ext cx="5314950" cy="3476625"/>
          </a:xfrm>
          <a:prstGeom prst="roundRect">
            <a:avLst>
              <a:gd name="adj" fmla="val 3836"/>
            </a:avLst>
          </a:prstGeom>
          <a:noFill/>
          <a:ln w="9525">
            <a:solidFill>
              <a:srgbClr val="CBD2DF"/>
            </a:solidFill>
            <a:prstDash val="solid"/>
          </a:ln>
        </p:spPr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0108865-BF98-4D69-BA79-8F8910C94B8E}"/>
              </a:ext>
            </a:extLst>
          </p:cNvPr>
          <p:cNvSpPr>
            <a:spLocks noGrp="1"/>
          </p:cNvSpPr>
          <p:nvPr/>
        </p:nvSpPr>
        <p:spPr>
          <a:xfrm>
            <a:off x="4906709" y="1647825"/>
            <a:ext cx="903542" cy="243364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76B48F-6A31-4EAA-BF60-4267639CEEA3}"/>
              </a:ext>
            </a:extLst>
          </p:cNvPr>
          <p:cNvSpPr>
            <a:spLocks noGrp="1"/>
          </p:cNvSpPr>
          <p:nvPr/>
        </p:nvSpPr>
        <p:spPr>
          <a:xfrm>
            <a:off x="4982909" y="1733550"/>
            <a:ext cx="808292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854"/>
          </a:bodyPr>
          <a:lstStyle/>
          <a:p>
            <a:pPr algn="ctr">
              <a:defRPr sz="900" b="1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74151"/>
                </a:solidFill>
                <a:latin typeface="Aptos"/>
                <a:ea typeface="Aptos"/>
                <a:cs typeface="Aptos"/>
              </a:rPr>
              <a:t>Operator / Inspector</a:t>
            </a:r>
          </a:p>
        </p:txBody>
      </p:sp>
      <p:pic>
        <p:nvPicPr>
          <p:cNvPr id="30" name="Picture 29"/>
          <p:cNvPicPr>
            <a:picLocks noChangeAspect="1"/>
          </p:cNvPicPr>
          <p:nvPr/>
        </p:nvPicPr>
        <p:blipFill>
          <a:blip r:embed="rId4"/>
          <a:srcRect l="6459" r="6459"/>
          <a:stretch>
            <a:fillRect/>
          </a:stretch>
        </p:blipFill>
        <p:spPr>
          <a:xfrm>
            <a:off x="6305550" y="1581150"/>
            <a:ext cx="5314950" cy="3476625"/>
          </a:xfrm>
          <a:prstGeom prst="roundRect">
            <a:avLst>
              <a:gd name="adj" fmla="val 3836"/>
            </a:avLst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4EB1BCD-B9A1-4BDE-A20E-C591D489622C}"/>
              </a:ext>
            </a:extLst>
          </p:cNvPr>
          <p:cNvSpPr>
            <a:spLocks noGrp="1"/>
          </p:cNvSpPr>
          <p:nvPr/>
        </p:nvSpPr>
        <p:spPr>
          <a:xfrm>
            <a:off x="6305550" y="1581150"/>
            <a:ext cx="5314950" cy="3476625"/>
          </a:xfrm>
          <a:prstGeom prst="roundRect">
            <a:avLst>
              <a:gd name="adj" fmla="val 3836"/>
            </a:avLst>
          </a:prstGeom>
          <a:noFill/>
          <a:ln w="9525">
            <a:solidFill>
              <a:srgbClr val="CBD2DF"/>
            </a:solidFill>
            <a:prstDash val="solid"/>
          </a:ln>
        </p:spPr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48B459D-FB90-42AD-B96B-8A3B4435B51F}"/>
              </a:ext>
            </a:extLst>
          </p:cNvPr>
          <p:cNvSpPr>
            <a:spLocks noGrp="1"/>
          </p:cNvSpPr>
          <p:nvPr/>
        </p:nvSpPr>
        <p:spPr>
          <a:xfrm>
            <a:off x="10640758" y="1647825"/>
            <a:ext cx="903542" cy="243364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8455E7-A891-4E4E-9F51-C951CE6C40BE}"/>
              </a:ext>
            </a:extLst>
          </p:cNvPr>
          <p:cNvSpPr>
            <a:spLocks noGrp="1"/>
          </p:cNvSpPr>
          <p:nvPr/>
        </p:nvSpPr>
        <p:spPr>
          <a:xfrm>
            <a:off x="10716958" y="1733550"/>
            <a:ext cx="808292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854"/>
          </a:bodyPr>
          <a:lstStyle/>
          <a:p>
            <a:pPr algn="ctr">
              <a:defRPr sz="900" b="1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74151"/>
                </a:solidFill>
                <a:latin typeface="Aptos"/>
                <a:ea typeface="Aptos"/>
                <a:cs typeface="Aptos"/>
              </a:rPr>
              <a:t>Operator / Inspector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01BFE39-D034-4F20-BDD7-DF4C7267B538}"/>
              </a:ext>
            </a:extLst>
          </p:cNvPr>
          <p:cNvSpPr>
            <a:spLocks noGrp="1"/>
          </p:cNvSpPr>
          <p:nvPr/>
        </p:nvSpPr>
        <p:spPr>
          <a:xfrm>
            <a:off x="1905000" y="3276600"/>
            <a:ext cx="3790950" cy="1600200"/>
          </a:xfrm>
          <a:prstGeom prst="roundRect">
            <a:avLst>
              <a:gd name="adj" fmla="val 4762"/>
            </a:avLst>
          </a:prstGeom>
          <a:solidFill>
            <a:srgbClr val="F7F8FB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A82841-C0E0-4783-BA24-7088624E8443}"/>
              </a:ext>
            </a:extLst>
          </p:cNvPr>
          <p:cNvSpPr>
            <a:spLocks noGrp="1"/>
          </p:cNvSpPr>
          <p:nvPr/>
        </p:nvSpPr>
        <p:spPr>
          <a:xfrm>
            <a:off x="2724150" y="3943350"/>
            <a:ext cx="2190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125" b="1">
                <a:solidFill>
                  <a:srgbClr val="8A93A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A93A3"/>
                </a:solidFill>
                <a:latin typeface="Aptos"/>
                <a:ea typeface="Aptos"/>
                <a:cs typeface="Aptos"/>
              </a:rPr>
              <a:t>Production records hidden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D036AE7-9A51-4AEE-8AC6-BB1061602109}"/>
              </a:ext>
            </a:extLst>
          </p:cNvPr>
          <p:cNvSpPr>
            <a:spLocks noGrp="1"/>
          </p:cNvSpPr>
          <p:nvPr/>
        </p:nvSpPr>
        <p:spPr>
          <a:xfrm>
            <a:off x="895350" y="4781550"/>
            <a:ext cx="4648200" cy="1047750"/>
          </a:xfrm>
          <a:prstGeom prst="roundRect">
            <a:avLst>
              <a:gd name="adj" fmla="val 14545"/>
            </a:avLst>
          </a:prstGeom>
          <a:solidFill>
            <a:srgbClr val="DCFCE7"/>
          </a:solidFill>
          <a:ln w="9525">
            <a:solidFill>
              <a:srgbClr val="86EFA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6B7043-E8D1-41FB-9CE4-FF616986606E}"/>
              </a:ext>
            </a:extLst>
          </p:cNvPr>
          <p:cNvSpPr>
            <a:spLocks noGrp="1"/>
          </p:cNvSpPr>
          <p:nvPr/>
        </p:nvSpPr>
        <p:spPr>
          <a:xfrm>
            <a:off x="1143000" y="4953000"/>
            <a:ext cx="419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7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Operator / Inspector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C80A64-6FD9-494D-B8AE-1482313E0BEF}"/>
              </a:ext>
            </a:extLst>
          </p:cNvPr>
          <p:cNvSpPr>
            <a:spLocks noGrp="1"/>
          </p:cNvSpPr>
          <p:nvPr/>
        </p:nvSpPr>
        <p:spPr>
          <a:xfrm>
            <a:off x="1143000" y="5295900"/>
            <a:ext cx="40481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32"/>
          </a:bodyPr>
          <a:lstStyle/>
          <a:p>
            <a:pPr algn="l">
              <a:defRPr sz="1275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Daily inspection modules and only the actions assigned to you.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36916AE-6791-491C-ABF7-69E7001844A3}"/>
              </a:ext>
            </a:extLst>
          </p:cNvPr>
          <p:cNvSpPr>
            <a:spLocks noGrp="1"/>
          </p:cNvSpPr>
          <p:nvPr/>
        </p:nvSpPr>
        <p:spPr>
          <a:xfrm>
            <a:off x="6629400" y="4781550"/>
            <a:ext cx="4648200" cy="1047750"/>
          </a:xfrm>
          <a:prstGeom prst="roundRect">
            <a:avLst>
              <a:gd name="adj" fmla="val 14545"/>
            </a:avLst>
          </a:prstGeom>
          <a:solidFill>
            <a:srgbClr val="EEF2FF"/>
          </a:solidFill>
          <a:ln w="9525">
            <a:solidFill>
              <a:srgbClr val="A5B4FC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1DB3E4-E1D1-4066-A590-00EA2FD064D7}"/>
              </a:ext>
            </a:extLst>
          </p:cNvPr>
          <p:cNvSpPr>
            <a:spLocks noGrp="1"/>
          </p:cNvSpPr>
          <p:nvPr/>
        </p:nvSpPr>
        <p:spPr>
          <a:xfrm>
            <a:off x="6877050" y="4953000"/>
            <a:ext cx="419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72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Different role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FEFC3D0-66A5-4486-B517-3B76DA0E2D0B}"/>
              </a:ext>
            </a:extLst>
          </p:cNvPr>
          <p:cNvSpPr>
            <a:spLocks noGrp="1"/>
          </p:cNvSpPr>
          <p:nvPr/>
        </p:nvSpPr>
        <p:spPr>
          <a:xfrm>
            <a:off x="6877050" y="5295900"/>
            <a:ext cx="40481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137"/>
          </a:bodyPr>
          <a:lstStyle/>
          <a:p>
            <a:pPr algn="l">
              <a:defRPr sz="1275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May see additional menus or buttons. This is expected—not an error.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E513723-B0FB-436F-B065-C38601B187A7}"/>
              </a:ext>
            </a:extLst>
          </p:cNvPr>
          <p:cNvSpPr>
            <a:spLocks noGrp="1"/>
          </p:cNvSpPr>
          <p:nvPr/>
        </p:nvSpPr>
        <p:spPr>
          <a:xfrm>
            <a:off x="1333500" y="6048375"/>
            <a:ext cx="952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If a required action is missing, request access—do not use another person’s account.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F50EE-B49C-4049-BF2C-B9FEC350D458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438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Inspection Checksheet Recording System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8115EF5-0751-49E6-B9DD-BE1D6FF21DF7}"/>
              </a:ext>
            </a:extLst>
          </p:cNvPr>
          <p:cNvSpPr>
            <a:spLocks noGrp="1"/>
          </p:cNvSpPr>
          <p:nvPr/>
        </p:nvSpPr>
        <p:spPr>
          <a:xfrm>
            <a:off x="11191875" y="64960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2332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CA606AF-E275-42D0-9466-011A156E9445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ICRS USER ORIENTATION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C3E73EC-A84E-4D8C-A0B2-5D62A61E0CE1}"/>
              </a:ext>
            </a:extLst>
          </p:cNvPr>
          <p:cNvSpPr>
            <a:spLocks noGrp="1"/>
          </p:cNvSpPr>
          <p:nvPr/>
        </p:nvSpPr>
        <p:spPr>
          <a:xfrm>
            <a:off x="590550" y="5905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same four-step workflow works across modules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B7F881E6-33BC-4616-A8DC-43871A381766}"/>
              </a:ext>
            </a:extLst>
          </p:cNvPr>
          <p:cNvSpPr>
            <a:spLocks noGrp="1"/>
          </p:cNvSpPr>
          <p:nvPr/>
        </p:nvSpPr>
        <p:spPr>
          <a:xfrm>
            <a:off x="590550" y="1181100"/>
            <a:ext cx="11010900" cy="0"/>
          </a:xfrm>
          <a:prstGeom prst="line">
            <a:avLst/>
          </a:prstGeom>
          <a:noFill/>
          <a:ln w="9525">
            <a:solidFill>
              <a:srgbClr val="D9DEE7"/>
            </a:solidFill>
            <a:prstDash val="solid"/>
          </a:ln>
        </p:spPr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34062513-3814-4B4C-9D9B-833C7B11026A}"/>
              </a:ext>
            </a:extLst>
          </p:cNvPr>
          <p:cNvSpPr>
            <a:spLocks noGrp="1"/>
          </p:cNvSpPr>
          <p:nvPr/>
        </p:nvSpPr>
        <p:spPr>
          <a:xfrm>
            <a:off x="685800" y="2286000"/>
            <a:ext cx="2571750" cy="800100"/>
          </a:xfrm>
          <a:prstGeom prst="rightArrow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  <p:txBody>
          <a:bodyPr lIns="171450" tIns="47625" rIns="238125" bIns="47625" anchor="ctr">
            <a:normAutofit fontScale="60606"/>
          </a:bodyPr>
          <a:lstStyle/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1</a:t>
            </a:r>
          </a:p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FIND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77529CE6-AE1F-408D-9F77-FE009A49860A}"/>
              </a:ext>
            </a:extLst>
          </p:cNvPr>
          <p:cNvSpPr>
            <a:spLocks noGrp="1"/>
          </p:cNvSpPr>
          <p:nvPr/>
        </p:nvSpPr>
        <p:spPr>
          <a:xfrm>
            <a:off x="3333750" y="2286000"/>
            <a:ext cx="2571750" cy="800100"/>
          </a:xfrm>
          <a:prstGeom prst="rightArrow">
            <a:avLst/>
          </a:prstGeom>
          <a:solidFill>
            <a:srgbClr val="16A34A"/>
          </a:solidFill>
          <a:ln w="0">
            <a:solidFill>
              <a:srgbClr val="16A34A"/>
            </a:solidFill>
            <a:prstDash val="solid"/>
          </a:ln>
        </p:spPr>
        <p:txBody>
          <a:bodyPr lIns="171450" tIns="47625" rIns="238125" bIns="47625" anchor="ctr">
            <a:normAutofit fontScale="60606"/>
          </a:bodyPr>
          <a:lstStyle/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2</a:t>
            </a:r>
          </a:p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CREATE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77A55905-0334-499F-8CC1-A9A6FBBFE0A1}"/>
              </a:ext>
            </a:extLst>
          </p:cNvPr>
          <p:cNvSpPr>
            <a:spLocks noGrp="1"/>
          </p:cNvSpPr>
          <p:nvPr/>
        </p:nvSpPr>
        <p:spPr>
          <a:xfrm>
            <a:off x="5981700" y="2286000"/>
            <a:ext cx="2571750" cy="800100"/>
          </a:xfrm>
          <a:prstGeom prst="rightArrow">
            <a:avLst/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  <p:txBody>
          <a:bodyPr lIns="171450" tIns="47625" rIns="238125" bIns="47625" anchor="ctr">
            <a:normAutofit fontScale="60606"/>
          </a:bodyPr>
          <a:lstStyle/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3</a:t>
            </a:r>
          </a:p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REVIEW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A0E47DEE-05E4-4FE3-B355-C649A7632455}"/>
              </a:ext>
            </a:extLst>
          </p:cNvPr>
          <p:cNvSpPr>
            <a:spLocks noGrp="1"/>
          </p:cNvSpPr>
          <p:nvPr/>
        </p:nvSpPr>
        <p:spPr>
          <a:xfrm>
            <a:off x="8629650" y="2286000"/>
            <a:ext cx="2571750" cy="800100"/>
          </a:xfrm>
          <a:prstGeom prst="rightArrow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  <p:txBody>
          <a:bodyPr lIns="171450" tIns="47625" rIns="238125" bIns="47625" anchor="ctr">
            <a:normAutofit fontScale="60606"/>
          </a:bodyPr>
          <a:lstStyle/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4</a:t>
            </a:r>
          </a:p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UPDATE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A3342E-466A-4B09-9879-067D710EAAC3}"/>
              </a:ext>
            </a:extLst>
          </p:cNvPr>
          <p:cNvSpPr>
            <a:spLocks noGrp="1"/>
          </p:cNvSpPr>
          <p:nvPr/>
        </p:nvSpPr>
        <p:spPr>
          <a:xfrm>
            <a:off x="857250" y="3352800"/>
            <a:ext cx="2286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425" b="0">
                <a:solidFill>
                  <a:srgbClr val="5B647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B6474"/>
                </a:solidFill>
                <a:latin typeface="Aptos"/>
                <a:ea typeface="Aptos"/>
                <a:cs typeface="Aptos"/>
              </a:rPr>
              <a:t>Search or filter the list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401BF8-AC9D-4A6C-88E5-3EFD2E2FAE68}"/>
              </a:ext>
            </a:extLst>
          </p:cNvPr>
          <p:cNvSpPr>
            <a:spLocks noGrp="1"/>
          </p:cNvSpPr>
          <p:nvPr/>
        </p:nvSpPr>
        <p:spPr>
          <a:xfrm>
            <a:off x="3505200" y="3352800"/>
            <a:ext cx="2286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425" b="0">
                <a:solidFill>
                  <a:srgbClr val="5B647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B6474"/>
                </a:solidFill>
                <a:latin typeface="Aptos"/>
                <a:ea typeface="Aptos"/>
                <a:cs typeface="Aptos"/>
              </a:rPr>
              <a:t>Enter the required details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5FE87B5-63B9-48BF-B90E-0CCDB74C5D8E}"/>
              </a:ext>
            </a:extLst>
          </p:cNvPr>
          <p:cNvSpPr>
            <a:spLocks noGrp="1"/>
          </p:cNvSpPr>
          <p:nvPr/>
        </p:nvSpPr>
        <p:spPr>
          <a:xfrm>
            <a:off x="6153150" y="3352800"/>
            <a:ext cx="2286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425" b="0">
                <a:solidFill>
                  <a:srgbClr val="5B647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B6474"/>
                </a:solidFill>
                <a:latin typeface="Aptos"/>
                <a:ea typeface="Aptos"/>
                <a:cs typeface="Aptos"/>
              </a:rPr>
              <a:t>Check the saved record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8FE624-EA1C-4442-8B0A-D3B14099EEFC}"/>
              </a:ext>
            </a:extLst>
          </p:cNvPr>
          <p:cNvSpPr>
            <a:spLocks noGrp="1"/>
          </p:cNvSpPr>
          <p:nvPr/>
        </p:nvSpPr>
        <p:spPr>
          <a:xfrm>
            <a:off x="8801100" y="3352800"/>
            <a:ext cx="2286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425" b="0">
                <a:solidFill>
                  <a:srgbClr val="5B647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B6474"/>
                </a:solidFill>
                <a:latin typeface="Aptos"/>
                <a:ea typeface="Aptos"/>
                <a:cs typeface="Aptos"/>
              </a:rPr>
              <a:t>Correct it only when permitted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F7EF38D-9EBF-4723-A00F-B685CA5D089C}"/>
              </a:ext>
            </a:extLst>
          </p:cNvPr>
          <p:cNvSpPr>
            <a:spLocks noGrp="1"/>
          </p:cNvSpPr>
          <p:nvPr/>
        </p:nvSpPr>
        <p:spPr>
          <a:xfrm>
            <a:off x="2000250" y="4362450"/>
            <a:ext cx="8191500" cy="990600"/>
          </a:xfrm>
          <a:prstGeom prst="roundRect">
            <a:avLst>
              <a:gd name="adj" fmla="val 17308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7010647-9834-422F-BDE2-9272E0C5EEE2}"/>
              </a:ext>
            </a:extLst>
          </p:cNvPr>
          <p:cNvSpPr>
            <a:spLocks noGrp="1"/>
          </p:cNvSpPr>
          <p:nvPr/>
        </p:nvSpPr>
        <p:spPr>
          <a:xfrm>
            <a:off x="2305050" y="455295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Accuracy first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B7B8B6-20D7-44F6-A7A9-C53D5619903A}"/>
              </a:ext>
            </a:extLst>
          </p:cNvPr>
          <p:cNvSpPr>
            <a:spLocks noGrp="1"/>
          </p:cNvSpPr>
          <p:nvPr/>
        </p:nvSpPr>
        <p:spPr>
          <a:xfrm>
            <a:off x="4171950" y="4514850"/>
            <a:ext cx="56007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Take a final look before leaving the page. Correct item code, date, machine, quantity, readings, and responsible person.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7FBD737-A413-44B2-9270-B85D23E11D3B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438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Inspection Checksheet Recording System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8C2559-D0B4-4787-B2CC-A192D685D409}"/>
              </a:ext>
            </a:extLst>
          </p:cNvPr>
          <p:cNvSpPr>
            <a:spLocks noGrp="1"/>
          </p:cNvSpPr>
          <p:nvPr/>
        </p:nvSpPr>
        <p:spPr>
          <a:xfrm>
            <a:off x="11191875" y="64960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630293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6FF43E3-B1C7-4D4C-9AC7-973687C080E8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ICRS USER ORIENTATION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720EDA-1E98-438E-82CA-77B1808C4AA5}"/>
              </a:ext>
            </a:extLst>
          </p:cNvPr>
          <p:cNvSpPr>
            <a:spLocks noGrp="1"/>
          </p:cNvSpPr>
          <p:nvPr/>
        </p:nvSpPr>
        <p:spPr>
          <a:xfrm>
            <a:off x="590550" y="5905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Find the correct record before creating another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82FE6B2E-C55B-4FDA-9ED0-54A54BAAD66F}"/>
              </a:ext>
            </a:extLst>
          </p:cNvPr>
          <p:cNvSpPr>
            <a:spLocks noGrp="1"/>
          </p:cNvSpPr>
          <p:nvPr/>
        </p:nvSpPr>
        <p:spPr>
          <a:xfrm>
            <a:off x="590550" y="1181100"/>
            <a:ext cx="11010900" cy="0"/>
          </a:xfrm>
          <a:prstGeom prst="line">
            <a:avLst/>
          </a:prstGeom>
          <a:noFill/>
          <a:ln w="9525">
            <a:solidFill>
              <a:srgbClr val="D9DEE7"/>
            </a:solidFill>
            <a:prstDash val="solid"/>
          </a:ln>
        </p:spPr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rcRect t="20772" b="20772"/>
          <a:stretch>
            <a:fillRect/>
          </a:stretch>
        </p:blipFill>
        <p:spPr>
          <a:xfrm>
            <a:off x="590550" y="1428750"/>
            <a:ext cx="11029950" cy="4171950"/>
          </a:xfrm>
          <a:prstGeom prst="roundRect">
            <a:avLst>
              <a:gd name="adj" fmla="val 3196"/>
            </a:avLst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C007852-5228-4728-B4DC-B4584D812D0B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11029950" cy="4171950"/>
          </a:xfrm>
          <a:prstGeom prst="roundRect">
            <a:avLst>
              <a:gd name="adj" fmla="val 3196"/>
            </a:avLst>
          </a:prstGeom>
          <a:noFill/>
          <a:ln w="9525">
            <a:solidFill>
              <a:srgbClr val="CBD2DF"/>
            </a:solidFill>
            <a:prstDash val="solid"/>
          </a:ln>
        </p:spPr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5ECE7D0-F2D7-4101-860E-44ADB486DA74}"/>
              </a:ext>
            </a:extLst>
          </p:cNvPr>
          <p:cNvSpPr>
            <a:spLocks noGrp="1"/>
          </p:cNvSpPr>
          <p:nvPr/>
        </p:nvSpPr>
        <p:spPr>
          <a:xfrm>
            <a:off x="10096500" y="1495425"/>
            <a:ext cx="1447800" cy="292037"/>
          </a:xfrm>
          <a:prstGeom prst="roundRect">
            <a:avLst>
              <a:gd name="adj" fmla="val 42401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1EE90E-D579-4974-97E7-248615923C11}"/>
              </a:ext>
            </a:extLst>
          </p:cNvPr>
          <p:cNvSpPr>
            <a:spLocks noGrp="1"/>
          </p:cNvSpPr>
          <p:nvPr/>
        </p:nvSpPr>
        <p:spPr>
          <a:xfrm>
            <a:off x="10172700" y="1581150"/>
            <a:ext cx="13525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00" b="1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74151"/>
                </a:solidFill>
                <a:latin typeface="Aptos"/>
                <a:ea typeface="Aptos"/>
                <a:cs typeface="Aptos"/>
              </a:rPr>
              <a:t>Operator / Inspector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082CF2F-9B53-46E4-BC33-17F455B17274}"/>
              </a:ext>
            </a:extLst>
          </p:cNvPr>
          <p:cNvSpPr>
            <a:spLocks noGrp="1"/>
          </p:cNvSpPr>
          <p:nvPr/>
        </p:nvSpPr>
        <p:spPr>
          <a:xfrm>
            <a:off x="590550" y="3581400"/>
            <a:ext cx="11029950" cy="2019300"/>
          </a:xfrm>
          <a:prstGeom prst="roundRect">
            <a:avLst>
              <a:gd name="adj" fmla="val 0"/>
            </a:avLst>
          </a:prstGeom>
          <a:solidFill>
            <a:srgbClr val="F8FAFC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AEF9FA-E495-46C4-B384-22C765E3D3D1}"/>
              </a:ext>
            </a:extLst>
          </p:cNvPr>
          <p:cNvSpPr>
            <a:spLocks noGrp="1"/>
          </p:cNvSpPr>
          <p:nvPr/>
        </p:nvSpPr>
        <p:spPr>
          <a:xfrm>
            <a:off x="4381500" y="4438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125" b="1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7B8494"/>
                </a:solidFill>
                <a:latin typeface="Aptos"/>
                <a:ea typeface="Aptos"/>
                <a:cs typeface="Aptos"/>
              </a:rPr>
              <a:t>Example record rows hidden for orientation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395647D-AD61-4FD0-849E-9298D9AF950A}"/>
              </a:ext>
            </a:extLst>
          </p:cNvPr>
          <p:cNvSpPr>
            <a:spLocks noGrp="1"/>
          </p:cNvSpPr>
          <p:nvPr/>
        </p:nvSpPr>
        <p:spPr>
          <a:xfrm>
            <a:off x="838200" y="5791200"/>
            <a:ext cx="361950" cy="361950"/>
          </a:xfrm>
          <a:prstGeom prst="ellipse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DDCA36-30DC-466D-BB18-E2FFD4890D44}"/>
              </a:ext>
            </a:extLst>
          </p:cNvPr>
          <p:cNvSpPr>
            <a:spLocks noGrp="1"/>
          </p:cNvSpPr>
          <p:nvPr/>
        </p:nvSpPr>
        <p:spPr>
          <a:xfrm>
            <a:off x="1314450" y="5800725"/>
            <a:ext cx="2905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593"/>
          </a:bodyPr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Search for a model, item, person, or code.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728981-6CEF-482D-AD71-6A2539592D8A}"/>
              </a:ext>
            </a:extLst>
          </p:cNvPr>
          <p:cNvSpPr>
            <a:spLocks noGrp="1"/>
          </p:cNvSpPr>
          <p:nvPr/>
        </p:nvSpPr>
        <p:spPr>
          <a:xfrm>
            <a:off x="4429125" y="5791200"/>
            <a:ext cx="361950" cy="361950"/>
          </a:xfrm>
          <a:prstGeom prst="ellipse">
            <a:avLst/>
          </a:prstGeom>
          <a:solidFill>
            <a:srgbClr val="16A34A"/>
          </a:solidFill>
          <a:ln w="0">
            <a:solidFill>
              <a:srgbClr val="16A34A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D65F12-B44B-403A-B856-EC7A4B0DFEE1}"/>
              </a:ext>
            </a:extLst>
          </p:cNvPr>
          <p:cNvSpPr>
            <a:spLocks noGrp="1"/>
          </p:cNvSpPr>
          <p:nvPr/>
        </p:nvSpPr>
        <p:spPr>
          <a:xfrm>
            <a:off x="4905375" y="5800725"/>
            <a:ext cx="2667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date and module-specific filters.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00A6310-B7B6-4C15-B01C-C8423F4FB1E1}"/>
              </a:ext>
            </a:extLst>
          </p:cNvPr>
          <p:cNvSpPr>
            <a:spLocks noGrp="1"/>
          </p:cNvSpPr>
          <p:nvPr/>
        </p:nvSpPr>
        <p:spPr>
          <a:xfrm>
            <a:off x="7810500" y="5791200"/>
            <a:ext cx="361950" cy="361950"/>
          </a:xfrm>
          <a:prstGeom prst="ellipse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3FA2BC4-F155-4143-81A6-5AEBF60F0FD3}"/>
              </a:ext>
            </a:extLst>
          </p:cNvPr>
          <p:cNvSpPr>
            <a:spLocks noGrp="1"/>
          </p:cNvSpPr>
          <p:nvPr/>
        </p:nvSpPr>
        <p:spPr>
          <a:xfrm>
            <a:off x="8286750" y="5800725"/>
            <a:ext cx="2762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Open the matching row to review it.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69B4574-1DE0-4DD3-A2DA-9B406768CA77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438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Inspection Checksheet Recording System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787027-6792-4D9D-A96D-CD492E391F2F}"/>
              </a:ext>
            </a:extLst>
          </p:cNvPr>
          <p:cNvSpPr>
            <a:spLocks noGrp="1"/>
          </p:cNvSpPr>
          <p:nvPr/>
        </p:nvSpPr>
        <p:spPr>
          <a:xfrm>
            <a:off x="11191875" y="64960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713447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8A0CD9-3419-4415-A420-F9335562F090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ICRS USER ORIENTATION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07422FD-16F5-4EC1-90DB-7930B467DFEA}"/>
              </a:ext>
            </a:extLst>
          </p:cNvPr>
          <p:cNvSpPr>
            <a:spLocks noGrp="1"/>
          </p:cNvSpPr>
          <p:nvPr/>
        </p:nvSpPr>
        <p:spPr>
          <a:xfrm>
            <a:off x="590550" y="5905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Create a record: complete required fields first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ED631AE7-A060-4A1D-9D2D-5585008D5710}"/>
              </a:ext>
            </a:extLst>
          </p:cNvPr>
          <p:cNvSpPr>
            <a:spLocks noGrp="1"/>
          </p:cNvSpPr>
          <p:nvPr/>
        </p:nvSpPr>
        <p:spPr>
          <a:xfrm>
            <a:off x="590550" y="1181100"/>
            <a:ext cx="11010900" cy="0"/>
          </a:xfrm>
          <a:prstGeom prst="line">
            <a:avLst/>
          </a:prstGeom>
          <a:noFill/>
          <a:ln w="9525">
            <a:solidFill>
              <a:srgbClr val="D9DEE7"/>
            </a:solidFill>
            <a:prstDash val="solid"/>
          </a:ln>
        </p:spPr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rcRect t="4004" b="4004"/>
          <a:stretch>
            <a:fillRect/>
          </a:stretch>
        </p:blipFill>
        <p:spPr>
          <a:xfrm>
            <a:off x="552450" y="1428750"/>
            <a:ext cx="8001000" cy="4762500"/>
          </a:xfrm>
          <a:prstGeom prst="roundRect">
            <a:avLst>
              <a:gd name="adj" fmla="val 2800"/>
            </a:avLst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74E5948-26F6-4B60-ABD5-5B01F9C00A58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8001000" cy="4762500"/>
          </a:xfrm>
          <a:prstGeom prst="roundRect">
            <a:avLst>
              <a:gd name="adj" fmla="val 2800"/>
            </a:avLst>
          </a:prstGeom>
          <a:noFill/>
          <a:ln w="9525">
            <a:solidFill>
              <a:srgbClr val="CBD2DF"/>
            </a:solidFill>
            <a:prstDash val="solid"/>
          </a:ln>
        </p:spPr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CBA6220-5ED1-468B-BEB8-4CC4AD355F8C}"/>
              </a:ext>
            </a:extLst>
          </p:cNvPr>
          <p:cNvSpPr>
            <a:spLocks noGrp="1"/>
          </p:cNvSpPr>
          <p:nvPr/>
        </p:nvSpPr>
        <p:spPr>
          <a:xfrm>
            <a:off x="7117080" y="1495425"/>
            <a:ext cx="1360170" cy="333375"/>
          </a:xfrm>
          <a:prstGeom prst="roundRect">
            <a:avLst>
              <a:gd name="adj" fmla="val 37143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BB3ED5-2CD6-4DDE-9B43-58685431C354}"/>
              </a:ext>
            </a:extLst>
          </p:cNvPr>
          <p:cNvSpPr>
            <a:spLocks noGrp="1"/>
          </p:cNvSpPr>
          <p:nvPr/>
        </p:nvSpPr>
        <p:spPr>
          <a:xfrm>
            <a:off x="7193280" y="1581150"/>
            <a:ext cx="126492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00" b="1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74151"/>
                </a:solidFill>
                <a:latin typeface="Aptos"/>
                <a:ea typeface="Aptos"/>
                <a:cs typeface="Aptos"/>
              </a:rPr>
              <a:t>Operator / Inspector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DB57C41-7D70-476A-8EA7-042C0B980CCA}"/>
              </a:ext>
            </a:extLst>
          </p:cNvPr>
          <p:cNvSpPr>
            <a:spLocks noGrp="1"/>
          </p:cNvSpPr>
          <p:nvPr/>
        </p:nvSpPr>
        <p:spPr>
          <a:xfrm>
            <a:off x="8858250" y="1428750"/>
            <a:ext cx="2762250" cy="47625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6B484CA-551C-45D6-B156-EA879A2D092C}"/>
              </a:ext>
            </a:extLst>
          </p:cNvPr>
          <p:cNvSpPr>
            <a:spLocks noGrp="1"/>
          </p:cNvSpPr>
          <p:nvPr/>
        </p:nvSpPr>
        <p:spPr>
          <a:xfrm>
            <a:off x="9105900" y="1809750"/>
            <a:ext cx="361950" cy="361950"/>
          </a:xfrm>
          <a:prstGeom prst="ellipse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AAF376-7843-4A36-8DCA-7AB25763DDCF}"/>
              </a:ext>
            </a:extLst>
          </p:cNvPr>
          <p:cNvSpPr>
            <a:spLocks noGrp="1"/>
          </p:cNvSpPr>
          <p:nvPr/>
        </p:nvSpPr>
        <p:spPr>
          <a:xfrm>
            <a:off x="9582150" y="1819275"/>
            <a:ext cx="17335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4736"/>
          </a:bodyPr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Start with fields marked *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C0CEE2C-A01F-4F6D-A8CA-F1A20C68A0A9}"/>
              </a:ext>
            </a:extLst>
          </p:cNvPr>
          <p:cNvSpPr>
            <a:spLocks noGrp="1"/>
          </p:cNvSpPr>
          <p:nvPr/>
        </p:nvSpPr>
        <p:spPr>
          <a:xfrm>
            <a:off x="9105900" y="2533650"/>
            <a:ext cx="361950" cy="361950"/>
          </a:xfrm>
          <a:prstGeom prst="ellipse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039B842-9C1C-44D2-8D7D-2D9C7E4D6223}"/>
              </a:ext>
            </a:extLst>
          </p:cNvPr>
          <p:cNvSpPr>
            <a:spLocks noGrp="1"/>
          </p:cNvSpPr>
          <p:nvPr/>
        </p:nvSpPr>
        <p:spPr>
          <a:xfrm>
            <a:off x="9582150" y="2543175"/>
            <a:ext cx="17335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the correct date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1A55BE8-5B2F-4364-AFEF-DA169BEEB381}"/>
              </a:ext>
            </a:extLst>
          </p:cNvPr>
          <p:cNvSpPr>
            <a:spLocks noGrp="1"/>
          </p:cNvSpPr>
          <p:nvPr/>
        </p:nvSpPr>
        <p:spPr>
          <a:xfrm>
            <a:off x="9105900" y="3257550"/>
            <a:ext cx="361950" cy="361950"/>
          </a:xfrm>
          <a:prstGeom prst="ellipse">
            <a:avLst/>
          </a:prstGeom>
          <a:solidFill>
            <a:srgbClr val="16A34A"/>
          </a:solidFill>
          <a:ln w="0">
            <a:solidFill>
              <a:srgbClr val="16A34A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8F71B3-7371-4BDE-BC5F-D366AB0C524D}"/>
              </a:ext>
            </a:extLst>
          </p:cNvPr>
          <p:cNvSpPr>
            <a:spLocks noGrp="1"/>
          </p:cNvSpPr>
          <p:nvPr/>
        </p:nvSpPr>
        <p:spPr>
          <a:xfrm>
            <a:off x="9582150" y="3267075"/>
            <a:ext cx="1762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593"/>
          </a:bodyPr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Match the equipment and process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FB5A3D9-D549-466C-B4FD-8C0A889C665D}"/>
              </a:ext>
            </a:extLst>
          </p:cNvPr>
          <p:cNvSpPr>
            <a:spLocks noGrp="1"/>
          </p:cNvSpPr>
          <p:nvPr/>
        </p:nvSpPr>
        <p:spPr>
          <a:xfrm>
            <a:off x="9105900" y="4171950"/>
            <a:ext cx="361950" cy="361950"/>
          </a:xfrm>
          <a:prstGeom prst="ellipse">
            <a:avLst/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F789B2F-F88F-4F6E-9DC5-B0BB5639C32B}"/>
              </a:ext>
            </a:extLst>
          </p:cNvPr>
          <p:cNvSpPr>
            <a:spLocks noGrp="1"/>
          </p:cNvSpPr>
          <p:nvPr/>
        </p:nvSpPr>
        <p:spPr>
          <a:xfrm>
            <a:off x="9582150" y="4181475"/>
            <a:ext cx="1762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593"/>
          </a:bodyPr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Enter readings exactly as measured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86790EC-84B4-4D43-BE07-D2576BA6ABE9}"/>
              </a:ext>
            </a:extLst>
          </p:cNvPr>
          <p:cNvSpPr>
            <a:spLocks noGrp="1"/>
          </p:cNvSpPr>
          <p:nvPr/>
        </p:nvSpPr>
        <p:spPr>
          <a:xfrm>
            <a:off x="9086850" y="5295900"/>
            <a:ext cx="22479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Scroll to the bottom, review the full form, then save.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E4D80A-8847-4D32-B14E-1109CEEAFF2C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438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Inspection Checksheet Recording System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F1581EB-51BF-439B-895E-A403CDFB7A00}"/>
              </a:ext>
            </a:extLst>
          </p:cNvPr>
          <p:cNvSpPr>
            <a:spLocks noGrp="1"/>
          </p:cNvSpPr>
          <p:nvPr/>
        </p:nvSpPr>
        <p:spPr>
          <a:xfrm>
            <a:off x="11191875" y="64960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759415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F01FADC-7515-4F80-84BC-12615E2E1792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ICRS USER ORIENTATION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317318-17B6-4764-97D4-F4B61ADABCB6}"/>
              </a:ext>
            </a:extLst>
          </p:cNvPr>
          <p:cNvSpPr>
            <a:spLocks noGrp="1"/>
          </p:cNvSpPr>
          <p:nvPr/>
        </p:nvSpPr>
        <p:spPr>
          <a:xfrm>
            <a:off x="590550" y="5905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Review first; edit or delete only when appropriate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8F63887C-96BF-4F61-8E1E-5C50E439F3FD}"/>
              </a:ext>
            </a:extLst>
          </p:cNvPr>
          <p:cNvSpPr>
            <a:spLocks noGrp="1"/>
          </p:cNvSpPr>
          <p:nvPr/>
        </p:nvSpPr>
        <p:spPr>
          <a:xfrm>
            <a:off x="590550" y="1181100"/>
            <a:ext cx="11010900" cy="0"/>
          </a:xfrm>
          <a:prstGeom prst="line">
            <a:avLst/>
          </a:prstGeom>
          <a:noFill/>
          <a:ln w="9525">
            <a:solidFill>
              <a:srgbClr val="D9DEE7"/>
            </a:solidFill>
            <a:prstDash val="solid"/>
          </a:ln>
        </p:spPr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3"/>
          <a:srcRect l="2266" r="2266"/>
          <a:stretch>
            <a:fillRect/>
          </a:stretch>
        </p:blipFill>
        <p:spPr>
          <a:xfrm>
            <a:off x="571500" y="1428750"/>
            <a:ext cx="6858000" cy="4648200"/>
          </a:xfrm>
          <a:prstGeom prst="roundRect">
            <a:avLst>
              <a:gd name="adj" fmla="val 2869"/>
            </a:avLst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C0D6F09-1504-4FCF-97DE-F6318DE723F9}"/>
              </a:ext>
            </a:extLst>
          </p:cNvPr>
          <p:cNvSpPr>
            <a:spLocks noGrp="1"/>
          </p:cNvSpPr>
          <p:nvPr/>
        </p:nvSpPr>
        <p:spPr>
          <a:xfrm>
            <a:off x="571500" y="1428750"/>
            <a:ext cx="6858000" cy="4648200"/>
          </a:xfrm>
          <a:prstGeom prst="roundRect">
            <a:avLst>
              <a:gd name="adj" fmla="val 2869"/>
            </a:avLst>
          </a:prstGeom>
          <a:noFill/>
          <a:ln w="9525">
            <a:solidFill>
              <a:srgbClr val="CBD2DF"/>
            </a:solidFill>
            <a:prstDash val="solid"/>
          </a:ln>
        </p:spPr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2699746-CDF7-49EE-8E71-7DCD57A4B6DD}"/>
              </a:ext>
            </a:extLst>
          </p:cNvPr>
          <p:cNvSpPr>
            <a:spLocks noGrp="1"/>
          </p:cNvSpPr>
          <p:nvPr/>
        </p:nvSpPr>
        <p:spPr>
          <a:xfrm>
            <a:off x="6187440" y="1495425"/>
            <a:ext cx="1165860" cy="325374"/>
          </a:xfrm>
          <a:prstGeom prst="roundRect">
            <a:avLst>
              <a:gd name="adj" fmla="val 38056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B6D794-E69C-469F-9178-71C11858B572}"/>
              </a:ext>
            </a:extLst>
          </p:cNvPr>
          <p:cNvSpPr>
            <a:spLocks noGrp="1"/>
          </p:cNvSpPr>
          <p:nvPr/>
        </p:nvSpPr>
        <p:spPr>
          <a:xfrm>
            <a:off x="6263640" y="1581150"/>
            <a:ext cx="107061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00" b="1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74151"/>
                </a:solidFill>
                <a:latin typeface="Aptos"/>
                <a:ea typeface="Aptos"/>
                <a:cs typeface="Aptos"/>
              </a:rPr>
              <a:t>Operator / Inspector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10C9F23-26CA-4D06-ACFB-A7B6C4593C68}"/>
              </a:ext>
            </a:extLst>
          </p:cNvPr>
          <p:cNvSpPr>
            <a:spLocks noGrp="1"/>
          </p:cNvSpPr>
          <p:nvPr/>
        </p:nvSpPr>
        <p:spPr>
          <a:xfrm>
            <a:off x="571500" y="3676650"/>
            <a:ext cx="6858000" cy="2400300"/>
          </a:xfrm>
          <a:prstGeom prst="roundRect">
            <a:avLst>
              <a:gd name="adj" fmla="val 0"/>
            </a:avLst>
          </a:prstGeom>
          <a:solidFill>
            <a:srgbClr val="F7F8FB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BD3BA5E-AE6E-4F90-8B83-E4BF36D87239}"/>
              </a:ext>
            </a:extLst>
          </p:cNvPr>
          <p:cNvSpPr>
            <a:spLocks noGrp="1"/>
          </p:cNvSpPr>
          <p:nvPr/>
        </p:nvSpPr>
        <p:spPr>
          <a:xfrm>
            <a:off x="2476500" y="4686300"/>
            <a:ext cx="304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8A93A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A93A3"/>
                </a:solidFill>
                <a:latin typeface="Aptos"/>
                <a:ea typeface="Aptos"/>
                <a:cs typeface="Aptos"/>
              </a:rPr>
              <a:t>Record values and names hidden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A14A811-B234-4D95-94A6-E99521916370}"/>
              </a:ext>
            </a:extLst>
          </p:cNvPr>
          <p:cNvSpPr>
            <a:spLocks noGrp="1"/>
          </p:cNvSpPr>
          <p:nvPr/>
        </p:nvSpPr>
        <p:spPr>
          <a:xfrm>
            <a:off x="7791450" y="1428750"/>
            <a:ext cx="3829050" cy="4648200"/>
          </a:xfrm>
          <a:prstGeom prst="roundRect">
            <a:avLst>
              <a:gd name="adj" fmla="val 4975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ECA9E14-7BAD-4DCF-89D0-81CA79172B89}"/>
              </a:ext>
            </a:extLst>
          </p:cNvPr>
          <p:cNvSpPr>
            <a:spLocks noGrp="1"/>
          </p:cNvSpPr>
          <p:nvPr/>
        </p:nvSpPr>
        <p:spPr>
          <a:xfrm>
            <a:off x="8077200" y="1809750"/>
            <a:ext cx="3257550" cy="971550"/>
          </a:xfrm>
          <a:prstGeom prst="roundRect">
            <a:avLst>
              <a:gd name="adj" fmla="val 15686"/>
            </a:avLst>
          </a:prstGeom>
          <a:solidFill>
            <a:srgbClr val="DBEAFE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DFE41D-6AFA-4E9B-A32F-7FC205894A6D}"/>
              </a:ext>
            </a:extLst>
          </p:cNvPr>
          <p:cNvSpPr>
            <a:spLocks noGrp="1"/>
          </p:cNvSpPr>
          <p:nvPr/>
        </p:nvSpPr>
        <p:spPr>
          <a:xfrm>
            <a:off x="8286750" y="1962150"/>
            <a:ext cx="95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VIEW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D9A42E-B42C-40F7-A44F-57A9E3708200}"/>
              </a:ext>
            </a:extLst>
          </p:cNvPr>
          <p:cNvSpPr>
            <a:spLocks noGrp="1"/>
          </p:cNvSpPr>
          <p:nvPr/>
        </p:nvSpPr>
        <p:spPr>
          <a:xfrm>
            <a:off x="8286750" y="2257425"/>
            <a:ext cx="2724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Open the record and verify the details.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AC1952A-2C67-4218-AB2A-45042264DCF5}"/>
              </a:ext>
            </a:extLst>
          </p:cNvPr>
          <p:cNvSpPr>
            <a:spLocks noGrp="1"/>
          </p:cNvSpPr>
          <p:nvPr/>
        </p:nvSpPr>
        <p:spPr>
          <a:xfrm>
            <a:off x="8077200" y="3048000"/>
            <a:ext cx="3257550" cy="971550"/>
          </a:xfrm>
          <a:prstGeom prst="roundRect">
            <a:avLst>
              <a:gd name="adj" fmla="val 15686"/>
            </a:avLst>
          </a:prstGeom>
          <a:solidFill>
            <a:srgbClr val="FEF3C7"/>
          </a:solidFill>
          <a:ln w="9525">
            <a:solidFill>
              <a:srgbClr val="D97706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F1A9339-4D88-4A10-8091-D5CCA771698B}"/>
              </a:ext>
            </a:extLst>
          </p:cNvPr>
          <p:cNvSpPr>
            <a:spLocks noGrp="1"/>
          </p:cNvSpPr>
          <p:nvPr/>
        </p:nvSpPr>
        <p:spPr>
          <a:xfrm>
            <a:off x="8286750" y="3200400"/>
            <a:ext cx="95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EDIT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DEB80A-E9BB-4812-A58D-76235D8AD30A}"/>
              </a:ext>
            </a:extLst>
          </p:cNvPr>
          <p:cNvSpPr>
            <a:spLocks noGrp="1"/>
          </p:cNvSpPr>
          <p:nvPr/>
        </p:nvSpPr>
        <p:spPr>
          <a:xfrm>
            <a:off x="8286750" y="3495675"/>
            <a:ext cx="2724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Correct an authorized mistake; do not rewrite history.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EA60FC8-0D15-4445-A9DB-884501BE20B1}"/>
              </a:ext>
            </a:extLst>
          </p:cNvPr>
          <p:cNvSpPr>
            <a:spLocks noGrp="1"/>
          </p:cNvSpPr>
          <p:nvPr/>
        </p:nvSpPr>
        <p:spPr>
          <a:xfrm>
            <a:off x="8077200" y="4286250"/>
            <a:ext cx="3257550" cy="971550"/>
          </a:xfrm>
          <a:prstGeom prst="roundRect">
            <a:avLst>
              <a:gd name="adj" fmla="val 15686"/>
            </a:avLst>
          </a:prstGeom>
          <a:solidFill>
            <a:srgbClr val="FEE2E2"/>
          </a:solidFill>
          <a:ln w="9525">
            <a:solidFill>
              <a:srgbClr val="DC2626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E2A6CF7-C869-44D5-BBF7-9A20EC05277D}"/>
              </a:ext>
            </a:extLst>
          </p:cNvPr>
          <p:cNvSpPr>
            <a:spLocks noGrp="1"/>
          </p:cNvSpPr>
          <p:nvPr/>
        </p:nvSpPr>
        <p:spPr>
          <a:xfrm>
            <a:off x="8286750" y="4438650"/>
            <a:ext cx="95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DELETE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8C7A0A-29F8-45DA-BE37-B7F0BE27A93E}"/>
              </a:ext>
            </a:extLst>
          </p:cNvPr>
          <p:cNvSpPr>
            <a:spLocks noGrp="1"/>
          </p:cNvSpPr>
          <p:nvPr/>
        </p:nvSpPr>
        <p:spPr>
          <a:xfrm>
            <a:off x="8286750" y="4733925"/>
            <a:ext cx="2724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Use only for an invalid or duplicate record, and confirm carefully.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A17DF8-6761-4B17-AD59-BEE9A1B705DD}"/>
              </a:ext>
            </a:extLst>
          </p:cNvPr>
          <p:cNvSpPr>
            <a:spLocks noGrp="1"/>
          </p:cNvSpPr>
          <p:nvPr/>
        </p:nvSpPr>
        <p:spPr>
          <a:xfrm>
            <a:off x="8191500" y="560070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542"/>
          </a:bodyPr>
          <a:lstStyle/>
          <a:p>
            <a:pPr algn="ctr">
              <a:defRPr sz="1200" b="1">
                <a:solidFill>
                  <a:srgbClr val="5B64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B6474"/>
                </a:solidFill>
                <a:latin typeface="Aptos"/>
                <a:ea typeface="Aptos"/>
                <a:cs typeface="Aptos"/>
              </a:rPr>
              <a:t>Actions may be hidden when your account does not have permission.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E6490E3-F96A-4219-A813-080C9F094742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438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Inspection Checksheet Recording System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4C5209A-1A80-4A27-99C1-9C0BAAEF5B2A}"/>
              </a:ext>
            </a:extLst>
          </p:cNvPr>
          <p:cNvSpPr>
            <a:spLocks noGrp="1"/>
          </p:cNvSpPr>
          <p:nvPr/>
        </p:nvSpPr>
        <p:spPr>
          <a:xfrm>
            <a:off x="11191875" y="64960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69332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768FC02-508E-4FD5-841E-8E38D6D93785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ICRS USER ORIENTATION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774564-956E-4E3C-8F0A-FF6C1332D031}"/>
              </a:ext>
            </a:extLst>
          </p:cNvPr>
          <p:cNvSpPr>
            <a:spLocks noGrp="1"/>
          </p:cNvSpPr>
          <p:nvPr/>
        </p:nvSpPr>
        <p:spPr>
          <a:xfrm>
            <a:off x="590550" y="5905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Import safely: Upload → Preview → Confirm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0201782E-5479-471F-8C5D-4A35E9FAF5E1}"/>
              </a:ext>
            </a:extLst>
          </p:cNvPr>
          <p:cNvSpPr>
            <a:spLocks noGrp="1"/>
          </p:cNvSpPr>
          <p:nvPr/>
        </p:nvSpPr>
        <p:spPr>
          <a:xfrm>
            <a:off x="590550" y="1181100"/>
            <a:ext cx="11010900" cy="0"/>
          </a:xfrm>
          <a:prstGeom prst="line">
            <a:avLst/>
          </a:prstGeom>
          <a:noFill/>
          <a:ln w="9525">
            <a:solidFill>
              <a:srgbClr val="D9DEE7"/>
            </a:solidFill>
            <a:prstDash val="solid"/>
          </a:ln>
        </p:spPr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3"/>
          <a:srcRect l="829" r="829"/>
          <a:stretch>
            <a:fillRect/>
          </a:stretch>
        </p:blipFill>
        <p:spPr>
          <a:xfrm>
            <a:off x="571500" y="1428750"/>
            <a:ext cx="7239000" cy="4705350"/>
          </a:xfrm>
          <a:prstGeom prst="roundRect">
            <a:avLst>
              <a:gd name="adj" fmla="val 2834"/>
            </a:avLst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403F23D-9722-41BD-8871-1D206B234C72}"/>
              </a:ext>
            </a:extLst>
          </p:cNvPr>
          <p:cNvSpPr>
            <a:spLocks noGrp="1"/>
          </p:cNvSpPr>
          <p:nvPr/>
        </p:nvSpPr>
        <p:spPr>
          <a:xfrm>
            <a:off x="571500" y="1428750"/>
            <a:ext cx="7239000" cy="4705350"/>
          </a:xfrm>
          <a:prstGeom prst="roundRect">
            <a:avLst>
              <a:gd name="adj" fmla="val 2834"/>
            </a:avLst>
          </a:prstGeom>
          <a:noFill/>
          <a:ln w="9525">
            <a:solidFill>
              <a:srgbClr val="CBD2DF"/>
            </a:solidFill>
            <a:prstDash val="solid"/>
          </a:ln>
        </p:spPr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0FC7CEE-F40A-48A0-A885-B08FB8149467}"/>
              </a:ext>
            </a:extLst>
          </p:cNvPr>
          <p:cNvSpPr>
            <a:spLocks noGrp="1"/>
          </p:cNvSpPr>
          <p:nvPr/>
        </p:nvSpPr>
        <p:spPr>
          <a:xfrm>
            <a:off x="6503670" y="1495425"/>
            <a:ext cx="1230630" cy="329375"/>
          </a:xfrm>
          <a:prstGeom prst="roundRect">
            <a:avLst>
              <a:gd name="adj" fmla="val 37594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9A05CA-7480-4352-980C-93B38197C94F}"/>
              </a:ext>
            </a:extLst>
          </p:cNvPr>
          <p:cNvSpPr>
            <a:spLocks noGrp="1"/>
          </p:cNvSpPr>
          <p:nvPr/>
        </p:nvSpPr>
        <p:spPr>
          <a:xfrm>
            <a:off x="6579870" y="1581150"/>
            <a:ext cx="113538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00" b="1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74151"/>
                </a:solidFill>
                <a:latin typeface="Aptos"/>
                <a:ea typeface="Aptos"/>
                <a:cs typeface="Aptos"/>
              </a:rPr>
              <a:t>Operator / Inspector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4C189010-4143-4229-B71E-AC54301D2098}"/>
              </a:ext>
            </a:extLst>
          </p:cNvPr>
          <p:cNvSpPr>
            <a:spLocks noGrp="1"/>
          </p:cNvSpPr>
          <p:nvPr/>
        </p:nvSpPr>
        <p:spPr>
          <a:xfrm>
            <a:off x="8096250" y="1752600"/>
            <a:ext cx="2952750" cy="800100"/>
          </a:xfrm>
          <a:prstGeom prst="rightArrow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  <p:txBody>
          <a:bodyPr lIns="171450" tIns="47625" rIns="238125" bIns="47625" anchor="ctr">
            <a:normAutofit fontScale="60606"/>
          </a:bodyPr>
          <a:lstStyle/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1</a:t>
            </a:r>
          </a:p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UPLOAD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5C867F0-DFEE-4433-9F3C-B9C557EDD6D4}"/>
              </a:ext>
            </a:extLst>
          </p:cNvPr>
          <p:cNvSpPr>
            <a:spLocks noGrp="1"/>
          </p:cNvSpPr>
          <p:nvPr/>
        </p:nvSpPr>
        <p:spPr>
          <a:xfrm>
            <a:off x="8096250" y="2857500"/>
            <a:ext cx="2952750" cy="800100"/>
          </a:xfrm>
          <a:prstGeom prst="rightArrow">
            <a:avLst/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  <p:txBody>
          <a:bodyPr lIns="171450" tIns="47625" rIns="238125" bIns="47625" anchor="ctr">
            <a:normAutofit fontScale="60606"/>
          </a:bodyPr>
          <a:lstStyle/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2</a:t>
            </a:r>
          </a:p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PREVIEW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788E801C-62D6-49DE-A07C-8577E2E58529}"/>
              </a:ext>
            </a:extLst>
          </p:cNvPr>
          <p:cNvSpPr>
            <a:spLocks noGrp="1"/>
          </p:cNvSpPr>
          <p:nvPr/>
        </p:nvSpPr>
        <p:spPr>
          <a:xfrm>
            <a:off x="8096250" y="3962400"/>
            <a:ext cx="2952750" cy="800100"/>
          </a:xfrm>
          <a:prstGeom prst="rightArrow">
            <a:avLst/>
          </a:prstGeom>
          <a:solidFill>
            <a:srgbClr val="16A34A"/>
          </a:solidFill>
          <a:ln w="0">
            <a:solidFill>
              <a:srgbClr val="16A34A"/>
            </a:solidFill>
            <a:prstDash val="solid"/>
          </a:ln>
        </p:spPr>
        <p:txBody>
          <a:bodyPr lIns="171450" tIns="47625" rIns="238125" bIns="47625" anchor="ctr">
            <a:normAutofit fontScale="60606"/>
          </a:bodyPr>
          <a:lstStyle/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3</a:t>
            </a:r>
          </a:p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CONFIRM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85F482-3371-4426-AE84-482492DFEAB9}"/>
              </a:ext>
            </a:extLst>
          </p:cNvPr>
          <p:cNvSpPr>
            <a:spLocks noGrp="1"/>
          </p:cNvSpPr>
          <p:nvPr/>
        </p:nvSpPr>
        <p:spPr>
          <a:xfrm>
            <a:off x="8248650" y="51435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the correct template.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93B175-201E-4516-AA2E-882AE395D884}"/>
              </a:ext>
            </a:extLst>
          </p:cNvPr>
          <p:cNvSpPr>
            <a:spLocks noGrp="1"/>
          </p:cNvSpPr>
          <p:nvPr/>
        </p:nvSpPr>
        <p:spPr>
          <a:xfrm>
            <a:off x="8248650" y="5495925"/>
            <a:ext cx="2667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75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Read duplicate and error results before confirming.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9FBD9C-1A55-42F6-8762-26772871F65E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438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Inspection Checksheet Recording System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8C1B8F-6D4B-4A01-B9C7-382A636A38D2}"/>
              </a:ext>
            </a:extLst>
          </p:cNvPr>
          <p:cNvSpPr>
            <a:spLocks noGrp="1"/>
          </p:cNvSpPr>
          <p:nvPr/>
        </p:nvSpPr>
        <p:spPr>
          <a:xfrm>
            <a:off x="11191875" y="64960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07271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36BF87D-CBC4-4E8E-BF9D-B9B897E20BD6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ICRS USER ORIENTATION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70B03A-1501-458D-A691-B0BF981DB4C5}"/>
              </a:ext>
            </a:extLst>
          </p:cNvPr>
          <p:cNvSpPr>
            <a:spLocks noGrp="1"/>
          </p:cNvSpPr>
          <p:nvPr/>
        </p:nvSpPr>
        <p:spPr>
          <a:xfrm>
            <a:off x="590550" y="5905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Annealing, Temperature, and Torque use the shared pattern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89283BD6-685E-4792-90F8-22B1F2B71CD1}"/>
              </a:ext>
            </a:extLst>
          </p:cNvPr>
          <p:cNvSpPr>
            <a:spLocks noGrp="1"/>
          </p:cNvSpPr>
          <p:nvPr/>
        </p:nvSpPr>
        <p:spPr>
          <a:xfrm>
            <a:off x="590550" y="1181100"/>
            <a:ext cx="11010900" cy="0"/>
          </a:xfrm>
          <a:prstGeom prst="line">
            <a:avLst/>
          </a:prstGeom>
          <a:noFill/>
          <a:ln w="9525">
            <a:solidFill>
              <a:srgbClr val="D9DEE7"/>
            </a:solidFill>
            <a:prstDash val="solid"/>
          </a:ln>
        </p:spPr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846FBF0-98C8-4071-AF87-3020C9132C87}"/>
              </a:ext>
            </a:extLst>
          </p:cNvPr>
          <p:cNvSpPr>
            <a:spLocks noGrp="1"/>
          </p:cNvSpPr>
          <p:nvPr/>
        </p:nvSpPr>
        <p:spPr>
          <a:xfrm>
            <a:off x="552450" y="1524000"/>
            <a:ext cx="3505200" cy="4286250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pic>
        <p:nvPicPr>
          <p:cNvPr id="40" name="Picture 39"/>
          <p:cNvPicPr>
            <a:picLocks noChangeAspect="1"/>
          </p:cNvPicPr>
          <p:nvPr/>
        </p:nvPicPr>
        <p:blipFill>
          <a:blip r:embed="rId3"/>
          <a:srcRect t="11111" b="11111"/>
          <a:stretch>
            <a:fillRect/>
          </a:stretch>
        </p:blipFill>
        <p:spPr>
          <a:xfrm>
            <a:off x="685800" y="1676400"/>
            <a:ext cx="3238500" cy="2095500"/>
          </a:xfrm>
          <a:prstGeom prst="roundRect">
            <a:avLst>
              <a:gd name="adj" fmla="val 6364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C170F27-9847-43DD-9A1B-7760B27EEF6A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3238500" cy="2095500"/>
          </a:xfrm>
          <a:prstGeom prst="roundRect">
            <a:avLst>
              <a:gd name="adj" fmla="val 6364"/>
            </a:avLst>
          </a:prstGeom>
          <a:noFill/>
          <a:ln w="9525">
            <a:solidFill>
              <a:srgbClr val="CBD2DF"/>
            </a:solidFill>
            <a:prstDash val="solid"/>
          </a:ln>
        </p:spPr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B45A23C-76B7-4CD2-B1B1-478118FCF389}"/>
              </a:ext>
            </a:extLst>
          </p:cNvPr>
          <p:cNvSpPr>
            <a:spLocks noGrp="1"/>
          </p:cNvSpPr>
          <p:nvPr/>
        </p:nvSpPr>
        <p:spPr>
          <a:xfrm>
            <a:off x="3297555" y="1743075"/>
            <a:ext cx="550545" cy="146685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18D274-72B6-45AF-8FC3-0ECBF5579A5B}"/>
              </a:ext>
            </a:extLst>
          </p:cNvPr>
          <p:cNvSpPr>
            <a:spLocks noGrp="1"/>
          </p:cNvSpPr>
          <p:nvPr/>
        </p:nvSpPr>
        <p:spPr>
          <a:xfrm>
            <a:off x="3373755" y="1828800"/>
            <a:ext cx="45529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2500"/>
          </a:bodyPr>
          <a:lstStyle/>
          <a:p>
            <a:pPr algn="ctr">
              <a:defRPr sz="900" b="1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74151"/>
                </a:solidFill>
                <a:latin typeface="Aptos"/>
                <a:ea typeface="Aptos"/>
                <a:cs typeface="Aptos"/>
              </a:rPr>
              <a:t>Operator / Inspector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F0515A9-566D-4F37-AEA1-3C1C7BEF961B}"/>
              </a:ext>
            </a:extLst>
          </p:cNvPr>
          <p:cNvSpPr>
            <a:spLocks noGrp="1"/>
          </p:cNvSpPr>
          <p:nvPr/>
        </p:nvSpPr>
        <p:spPr>
          <a:xfrm>
            <a:off x="685800" y="2952750"/>
            <a:ext cx="3238500" cy="819150"/>
          </a:xfrm>
          <a:prstGeom prst="roundRect">
            <a:avLst>
              <a:gd name="adj" fmla="val 0"/>
            </a:avLst>
          </a:prstGeom>
          <a:solidFill>
            <a:srgbClr val="F7F8FB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20EE4-9C33-45A7-8505-06E097C9E513}"/>
              </a:ext>
            </a:extLst>
          </p:cNvPr>
          <p:cNvSpPr>
            <a:spLocks noGrp="1"/>
          </p:cNvSpPr>
          <p:nvPr/>
        </p:nvSpPr>
        <p:spPr>
          <a:xfrm>
            <a:off x="1447800" y="3257550"/>
            <a:ext cx="171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050" b="1">
                <a:solidFill>
                  <a:srgbClr val="8A93A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A93A3"/>
                </a:solidFill>
                <a:latin typeface="Aptos"/>
                <a:ea typeface="Aptos"/>
                <a:cs typeface="Aptos"/>
              </a:rPr>
              <a:t>Sample rows hidden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836941B-8696-4446-A64C-213C34EE47C1}"/>
              </a:ext>
            </a:extLst>
          </p:cNvPr>
          <p:cNvSpPr>
            <a:spLocks noGrp="1"/>
          </p:cNvSpPr>
          <p:nvPr/>
        </p:nvSpPr>
        <p:spPr>
          <a:xfrm>
            <a:off x="838200" y="4000500"/>
            <a:ext cx="2933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7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ANNEALING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06FCE9-33E3-4990-B33E-9A29AEABFF8A}"/>
              </a:ext>
            </a:extLst>
          </p:cNvPr>
          <p:cNvSpPr>
            <a:spLocks noGrp="1"/>
          </p:cNvSpPr>
          <p:nvPr/>
        </p:nvSpPr>
        <p:spPr>
          <a:xfrm>
            <a:off x="885825" y="4476750"/>
            <a:ext cx="28384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Item, supplier lot, machine, temperature, and time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1684E0-7A44-42F0-9F63-4005B454A173}"/>
              </a:ext>
            </a:extLst>
          </p:cNvPr>
          <p:cNvSpPr>
            <a:spLocks noGrp="1"/>
          </p:cNvSpPr>
          <p:nvPr/>
        </p:nvSpPr>
        <p:spPr>
          <a:xfrm>
            <a:off x="885825" y="5391150"/>
            <a:ext cx="28384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125" b="1">
                <a:solidFill>
                  <a:srgbClr val="5B647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B6474"/>
                </a:solidFill>
                <a:latin typeface="Aptos"/>
                <a:ea typeface="Aptos"/>
                <a:cs typeface="Aptos"/>
              </a:rPr>
              <a:t>Search • Create • Review • Update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D81E0DC-E0E6-4007-B5BD-6A980F5F41B6}"/>
              </a:ext>
            </a:extLst>
          </p:cNvPr>
          <p:cNvSpPr>
            <a:spLocks noGrp="1"/>
          </p:cNvSpPr>
          <p:nvPr/>
        </p:nvSpPr>
        <p:spPr>
          <a:xfrm>
            <a:off x="4419600" y="1524000"/>
            <a:ext cx="3505200" cy="4286250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pic>
        <p:nvPicPr>
          <p:cNvPr id="50" name="Picture 49"/>
          <p:cNvPicPr>
            <a:picLocks noChangeAspect="1"/>
          </p:cNvPicPr>
          <p:nvPr/>
        </p:nvPicPr>
        <p:blipFill>
          <a:blip r:embed="rId4"/>
          <a:srcRect t="11111" b="11111"/>
          <a:stretch>
            <a:fillRect/>
          </a:stretch>
        </p:blipFill>
        <p:spPr>
          <a:xfrm>
            <a:off x="4552950" y="1676400"/>
            <a:ext cx="3238500" cy="2095500"/>
          </a:xfrm>
          <a:prstGeom prst="roundRect">
            <a:avLst>
              <a:gd name="adj" fmla="val 6364"/>
            </a:avLst>
          </a:prstGeom>
        </p:spPr>
      </p:pic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D1FA34E-07DE-48E0-AA31-5A50C3E21E66}"/>
              </a:ext>
            </a:extLst>
          </p:cNvPr>
          <p:cNvSpPr>
            <a:spLocks noGrp="1"/>
          </p:cNvSpPr>
          <p:nvPr/>
        </p:nvSpPr>
        <p:spPr>
          <a:xfrm>
            <a:off x="4552950" y="1676400"/>
            <a:ext cx="3238500" cy="2095500"/>
          </a:xfrm>
          <a:prstGeom prst="roundRect">
            <a:avLst>
              <a:gd name="adj" fmla="val 6364"/>
            </a:avLst>
          </a:prstGeom>
          <a:noFill/>
          <a:ln w="9525">
            <a:solidFill>
              <a:srgbClr val="CBD2DF"/>
            </a:solidFill>
            <a:prstDash val="solid"/>
          </a:ln>
        </p:spPr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59FF144-835A-4BED-B8C9-BEA5D86C4AE0}"/>
              </a:ext>
            </a:extLst>
          </p:cNvPr>
          <p:cNvSpPr>
            <a:spLocks noGrp="1"/>
          </p:cNvSpPr>
          <p:nvPr/>
        </p:nvSpPr>
        <p:spPr>
          <a:xfrm>
            <a:off x="7164705" y="1743075"/>
            <a:ext cx="550545" cy="146685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46F96DE-9893-4924-A352-247DE414F0C1}"/>
              </a:ext>
            </a:extLst>
          </p:cNvPr>
          <p:cNvSpPr>
            <a:spLocks noGrp="1"/>
          </p:cNvSpPr>
          <p:nvPr/>
        </p:nvSpPr>
        <p:spPr>
          <a:xfrm>
            <a:off x="7240905" y="1828800"/>
            <a:ext cx="45529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2500"/>
          </a:bodyPr>
          <a:lstStyle/>
          <a:p>
            <a:pPr algn="ctr">
              <a:defRPr sz="900" b="1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74151"/>
                </a:solidFill>
                <a:latin typeface="Aptos"/>
                <a:ea typeface="Aptos"/>
                <a:cs typeface="Aptos"/>
              </a:rPr>
              <a:t>Operator / Inspector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55B06CD-1525-4E2F-9840-A63C81DB28A5}"/>
              </a:ext>
            </a:extLst>
          </p:cNvPr>
          <p:cNvSpPr>
            <a:spLocks noGrp="1"/>
          </p:cNvSpPr>
          <p:nvPr/>
        </p:nvSpPr>
        <p:spPr>
          <a:xfrm>
            <a:off x="4552950" y="2952750"/>
            <a:ext cx="3238500" cy="819150"/>
          </a:xfrm>
          <a:prstGeom prst="roundRect">
            <a:avLst>
              <a:gd name="adj" fmla="val 0"/>
            </a:avLst>
          </a:prstGeom>
          <a:solidFill>
            <a:srgbClr val="F7F8FB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64114EF-4AFF-48B5-B78E-0E5C9B90F351}"/>
              </a:ext>
            </a:extLst>
          </p:cNvPr>
          <p:cNvSpPr>
            <a:spLocks noGrp="1"/>
          </p:cNvSpPr>
          <p:nvPr/>
        </p:nvSpPr>
        <p:spPr>
          <a:xfrm>
            <a:off x="5314950" y="3257550"/>
            <a:ext cx="171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050" b="1">
                <a:solidFill>
                  <a:srgbClr val="8A93A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A93A3"/>
                </a:solidFill>
                <a:latin typeface="Aptos"/>
                <a:ea typeface="Aptos"/>
                <a:cs typeface="Aptos"/>
              </a:rPr>
              <a:t>Sample rows hidden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2E04B1A-43C7-4FEF-B0C9-83EB36979A86}"/>
              </a:ext>
            </a:extLst>
          </p:cNvPr>
          <p:cNvSpPr>
            <a:spLocks noGrp="1"/>
          </p:cNvSpPr>
          <p:nvPr/>
        </p:nvSpPr>
        <p:spPr>
          <a:xfrm>
            <a:off x="4705350" y="4000500"/>
            <a:ext cx="2933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7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TEMPERATURE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3F8D0E-AA33-41B2-BB9A-BF6B80348DCC}"/>
              </a:ext>
            </a:extLst>
          </p:cNvPr>
          <p:cNvSpPr>
            <a:spLocks noGrp="1"/>
          </p:cNvSpPr>
          <p:nvPr/>
        </p:nvSpPr>
        <p:spPr>
          <a:xfrm>
            <a:off x="4752975" y="4476750"/>
            <a:ext cx="28384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Equipment, person in charge, AM/PM readings, and dates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A135F21-1E72-47BD-883C-6C03F0B89375}"/>
              </a:ext>
            </a:extLst>
          </p:cNvPr>
          <p:cNvSpPr>
            <a:spLocks noGrp="1"/>
          </p:cNvSpPr>
          <p:nvPr/>
        </p:nvSpPr>
        <p:spPr>
          <a:xfrm>
            <a:off x="4752975" y="5391150"/>
            <a:ext cx="28384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125" b="1">
                <a:solidFill>
                  <a:srgbClr val="5B647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B6474"/>
                </a:solidFill>
                <a:latin typeface="Aptos"/>
                <a:ea typeface="Aptos"/>
                <a:cs typeface="Aptos"/>
              </a:rPr>
              <a:t>Search • Create • Review • Update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B47EFD0-B8B0-44DF-A6C9-663065E9B35B}"/>
              </a:ext>
            </a:extLst>
          </p:cNvPr>
          <p:cNvSpPr>
            <a:spLocks noGrp="1"/>
          </p:cNvSpPr>
          <p:nvPr/>
        </p:nvSpPr>
        <p:spPr>
          <a:xfrm>
            <a:off x="8286750" y="1524000"/>
            <a:ext cx="3505200" cy="4286250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pic>
        <p:nvPicPr>
          <p:cNvPr id="60" name="Picture 59"/>
          <p:cNvPicPr>
            <a:picLocks noChangeAspect="1"/>
          </p:cNvPicPr>
          <p:nvPr/>
        </p:nvPicPr>
        <p:blipFill>
          <a:blip r:embed="rId5"/>
          <a:srcRect t="11111" b="11111"/>
          <a:stretch>
            <a:fillRect/>
          </a:stretch>
        </p:blipFill>
        <p:spPr>
          <a:xfrm>
            <a:off x="8420100" y="1676400"/>
            <a:ext cx="3238500" cy="2095500"/>
          </a:xfrm>
          <a:prstGeom prst="roundRect">
            <a:avLst>
              <a:gd name="adj" fmla="val 6364"/>
            </a:avLst>
          </a:prstGeom>
        </p:spPr>
      </p:pic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119DC4D-151D-4154-8E52-CCDAA602E267}"/>
              </a:ext>
            </a:extLst>
          </p:cNvPr>
          <p:cNvSpPr>
            <a:spLocks noGrp="1"/>
          </p:cNvSpPr>
          <p:nvPr/>
        </p:nvSpPr>
        <p:spPr>
          <a:xfrm>
            <a:off x="8420100" y="1676400"/>
            <a:ext cx="3238500" cy="2095500"/>
          </a:xfrm>
          <a:prstGeom prst="roundRect">
            <a:avLst>
              <a:gd name="adj" fmla="val 6364"/>
            </a:avLst>
          </a:prstGeom>
          <a:noFill/>
          <a:ln w="9525">
            <a:solidFill>
              <a:srgbClr val="CBD2DF"/>
            </a:solidFill>
            <a:prstDash val="solid"/>
          </a:ln>
        </p:spPr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FE60EC7A-9056-452B-8BF7-E1CBAD397E34}"/>
              </a:ext>
            </a:extLst>
          </p:cNvPr>
          <p:cNvSpPr>
            <a:spLocks noGrp="1"/>
          </p:cNvSpPr>
          <p:nvPr/>
        </p:nvSpPr>
        <p:spPr>
          <a:xfrm>
            <a:off x="11031855" y="1743075"/>
            <a:ext cx="550545" cy="146685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CC1C2B9-0CEB-4B28-A553-5E8019F8B53F}"/>
              </a:ext>
            </a:extLst>
          </p:cNvPr>
          <p:cNvSpPr>
            <a:spLocks noGrp="1"/>
          </p:cNvSpPr>
          <p:nvPr/>
        </p:nvSpPr>
        <p:spPr>
          <a:xfrm>
            <a:off x="11108055" y="1828800"/>
            <a:ext cx="45529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2500"/>
          </a:bodyPr>
          <a:lstStyle/>
          <a:p>
            <a:pPr algn="ctr">
              <a:defRPr sz="900" b="1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74151"/>
                </a:solidFill>
                <a:latin typeface="Aptos"/>
                <a:ea typeface="Aptos"/>
                <a:cs typeface="Aptos"/>
              </a:rPr>
              <a:t>Operator / Inspector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10F2E5A-6A71-40EE-AE60-6AA7500230CD}"/>
              </a:ext>
            </a:extLst>
          </p:cNvPr>
          <p:cNvSpPr>
            <a:spLocks noGrp="1"/>
          </p:cNvSpPr>
          <p:nvPr/>
        </p:nvSpPr>
        <p:spPr>
          <a:xfrm>
            <a:off x="8420100" y="2952750"/>
            <a:ext cx="3238500" cy="819150"/>
          </a:xfrm>
          <a:prstGeom prst="roundRect">
            <a:avLst>
              <a:gd name="adj" fmla="val 0"/>
            </a:avLst>
          </a:prstGeom>
          <a:solidFill>
            <a:srgbClr val="F7F8FB"/>
          </a:solidFill>
          <a:ln w="0">
            <a:noFill/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79DD01-7688-48CE-A437-A490D80ACA20}"/>
              </a:ext>
            </a:extLst>
          </p:cNvPr>
          <p:cNvSpPr>
            <a:spLocks noGrp="1"/>
          </p:cNvSpPr>
          <p:nvPr/>
        </p:nvSpPr>
        <p:spPr>
          <a:xfrm>
            <a:off x="9182100" y="3257550"/>
            <a:ext cx="171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050" b="1">
                <a:solidFill>
                  <a:srgbClr val="8A93A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A93A3"/>
                </a:solidFill>
                <a:latin typeface="Aptos"/>
                <a:ea typeface="Aptos"/>
                <a:cs typeface="Aptos"/>
              </a:rPr>
              <a:t>Sample rows hidden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701062B-FAD6-455F-B96E-F671A3AC9250}"/>
              </a:ext>
            </a:extLst>
          </p:cNvPr>
          <p:cNvSpPr>
            <a:spLocks noGrp="1"/>
          </p:cNvSpPr>
          <p:nvPr/>
        </p:nvSpPr>
        <p:spPr>
          <a:xfrm>
            <a:off x="8572500" y="4000500"/>
            <a:ext cx="2933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72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TORQUE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DA97EAB-3177-413A-B0A0-C3CF210E6614}"/>
              </a:ext>
            </a:extLst>
          </p:cNvPr>
          <p:cNvSpPr>
            <a:spLocks noGrp="1"/>
          </p:cNvSpPr>
          <p:nvPr/>
        </p:nvSpPr>
        <p:spPr>
          <a:xfrm>
            <a:off x="8620125" y="4476750"/>
            <a:ext cx="28384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0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74151"/>
                </a:solidFill>
                <a:latin typeface="Aptos"/>
                <a:ea typeface="Aptos"/>
                <a:cs typeface="Aptos"/>
              </a:rPr>
              <a:t>Driver details, line, screw type, process, and readings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272B756-5F55-4332-BEE8-3E9CDBFBD966}"/>
              </a:ext>
            </a:extLst>
          </p:cNvPr>
          <p:cNvSpPr>
            <a:spLocks noGrp="1"/>
          </p:cNvSpPr>
          <p:nvPr/>
        </p:nvSpPr>
        <p:spPr>
          <a:xfrm>
            <a:off x="8620125" y="5391150"/>
            <a:ext cx="28384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125" b="1">
                <a:solidFill>
                  <a:srgbClr val="5B647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B6474"/>
                </a:solidFill>
                <a:latin typeface="Aptos"/>
                <a:ea typeface="Aptos"/>
                <a:cs typeface="Aptos"/>
              </a:rPr>
              <a:t>Search • Create • Review • Update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EA05563-9EFC-4153-8DA1-9AC53238218C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438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Inspection Checksheet Recording System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2A6408F-ACA0-4344-AE5F-6AF443D06789}"/>
              </a:ext>
            </a:extLst>
          </p:cNvPr>
          <p:cNvSpPr>
            <a:spLocks noGrp="1"/>
          </p:cNvSpPr>
          <p:nvPr/>
        </p:nvSpPr>
        <p:spPr>
          <a:xfrm>
            <a:off x="11191875" y="64960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246349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82F218D-54F7-4DA7-A2AB-9BCE0B537802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ICRS USER ORIENTATION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6891756-B2F1-443D-883A-BAEE96629109}"/>
              </a:ext>
            </a:extLst>
          </p:cNvPr>
          <p:cNvSpPr>
            <a:spLocks noGrp="1"/>
          </p:cNvSpPr>
          <p:nvPr/>
        </p:nvSpPr>
        <p:spPr>
          <a:xfrm>
            <a:off x="590550" y="5905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Magnetism adds batches and inspection checkpoints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60E073D7-8A60-4537-9C87-951655A7B731}"/>
              </a:ext>
            </a:extLst>
          </p:cNvPr>
          <p:cNvSpPr>
            <a:spLocks noGrp="1"/>
          </p:cNvSpPr>
          <p:nvPr/>
        </p:nvSpPr>
        <p:spPr>
          <a:xfrm>
            <a:off x="590550" y="1181100"/>
            <a:ext cx="11010900" cy="0"/>
          </a:xfrm>
          <a:prstGeom prst="line">
            <a:avLst/>
          </a:prstGeom>
          <a:noFill/>
          <a:ln w="9525">
            <a:solidFill>
              <a:srgbClr val="D9DEE7"/>
            </a:solidFill>
            <a:prstDash val="solid"/>
          </a:ln>
        </p:spPr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3"/>
          <a:srcRect l="5448" r="5448"/>
          <a:stretch>
            <a:fillRect/>
          </a:stretch>
        </p:blipFill>
        <p:spPr>
          <a:xfrm>
            <a:off x="552450" y="1428750"/>
            <a:ext cx="6572250" cy="4714875"/>
          </a:xfrm>
          <a:prstGeom prst="roundRect">
            <a:avLst>
              <a:gd name="adj" fmla="val 2828"/>
            </a:avLst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DD7CB5F-8D5C-433B-ABB5-068DDCD7C58F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6572250" cy="4714875"/>
          </a:xfrm>
          <a:prstGeom prst="roundRect">
            <a:avLst>
              <a:gd name="adj" fmla="val 2828"/>
            </a:avLst>
          </a:prstGeom>
          <a:noFill/>
          <a:ln w="9525">
            <a:solidFill>
              <a:srgbClr val="CBD2DF"/>
            </a:solidFill>
            <a:prstDash val="solid"/>
          </a:ln>
        </p:spPr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8788D86-507F-420C-A214-6F1174A7B081}"/>
              </a:ext>
            </a:extLst>
          </p:cNvPr>
          <p:cNvSpPr>
            <a:spLocks noGrp="1"/>
          </p:cNvSpPr>
          <p:nvPr/>
        </p:nvSpPr>
        <p:spPr>
          <a:xfrm>
            <a:off x="5931218" y="1495425"/>
            <a:ext cx="1117283" cy="330041"/>
          </a:xfrm>
          <a:prstGeom prst="roundRect">
            <a:avLst>
              <a:gd name="adj" fmla="val 37518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7DD9BB4-AD22-4C0B-935F-AE21C0E664E3}"/>
              </a:ext>
            </a:extLst>
          </p:cNvPr>
          <p:cNvSpPr>
            <a:spLocks noGrp="1"/>
          </p:cNvSpPr>
          <p:nvPr/>
        </p:nvSpPr>
        <p:spPr>
          <a:xfrm>
            <a:off x="6007418" y="1581150"/>
            <a:ext cx="1022033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00" b="1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74151"/>
                </a:solidFill>
                <a:latin typeface="Aptos"/>
                <a:ea typeface="Aptos"/>
                <a:cs typeface="Aptos"/>
              </a:rPr>
              <a:t>Operator / Inspector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1E8549B-2131-4C20-8087-2D96662F43D8}"/>
              </a:ext>
            </a:extLst>
          </p:cNvPr>
          <p:cNvSpPr>
            <a:spLocks noGrp="1"/>
          </p:cNvSpPr>
          <p:nvPr/>
        </p:nvSpPr>
        <p:spPr>
          <a:xfrm>
            <a:off x="7524750" y="1428750"/>
            <a:ext cx="4095750" cy="4714875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5CBCA1-A0FA-43E0-B379-AEA2C907C6F5}"/>
              </a:ext>
            </a:extLst>
          </p:cNvPr>
          <p:cNvSpPr>
            <a:spLocks noGrp="1"/>
          </p:cNvSpPr>
          <p:nvPr/>
        </p:nvSpPr>
        <p:spPr>
          <a:xfrm>
            <a:off x="7905750" y="1752600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875" b="1">
                <a:solidFill>
                  <a:srgbClr val="9333E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9333EA"/>
                </a:solidFill>
                <a:latin typeface="Aptos"/>
                <a:ea typeface="Aptos"/>
                <a:cs typeface="Aptos"/>
              </a:rPr>
              <a:t>Magnetism workflow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7B5E866-B903-40D2-8862-197642491EB0}"/>
              </a:ext>
            </a:extLst>
          </p:cNvPr>
          <p:cNvSpPr>
            <a:spLocks noGrp="1"/>
          </p:cNvSpPr>
          <p:nvPr/>
        </p:nvSpPr>
        <p:spPr>
          <a:xfrm>
            <a:off x="7924800" y="2419350"/>
            <a:ext cx="361950" cy="361950"/>
          </a:xfrm>
          <a:prstGeom prst="ellipse">
            <a:avLst/>
          </a:prstGeom>
          <a:solidFill>
            <a:srgbClr val="9333EA"/>
          </a:solidFill>
          <a:ln w="0">
            <a:solidFill>
              <a:srgbClr val="9333EA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321237-9D5A-4668-9745-CDD75811121A}"/>
              </a:ext>
            </a:extLst>
          </p:cNvPr>
          <p:cNvSpPr>
            <a:spLocks noGrp="1"/>
          </p:cNvSpPr>
          <p:nvPr/>
        </p:nvSpPr>
        <p:spPr>
          <a:xfrm>
            <a:off x="8420100" y="2419350"/>
            <a:ext cx="2667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Create the checksheet header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C1E76873-041B-45ED-8BC1-35A142048B1D}"/>
              </a:ext>
            </a:extLst>
          </p:cNvPr>
          <p:cNvSpPr>
            <a:spLocks noGrp="1"/>
          </p:cNvSpPr>
          <p:nvPr/>
        </p:nvSpPr>
        <p:spPr>
          <a:xfrm>
            <a:off x="8096250" y="2800350"/>
            <a:ext cx="0" cy="333375"/>
          </a:xfrm>
          <a:prstGeom prst="line">
            <a:avLst/>
          </a:prstGeom>
          <a:noFill/>
          <a:ln w="28575">
            <a:solidFill>
              <a:srgbClr val="C4B5FD"/>
            </a:solidFill>
            <a:prstDash val="solid"/>
          </a:ln>
        </p:spPr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D1FE676-C84F-4CEA-AFAD-6894E2945281}"/>
              </a:ext>
            </a:extLst>
          </p:cNvPr>
          <p:cNvSpPr>
            <a:spLocks noGrp="1"/>
          </p:cNvSpPr>
          <p:nvPr/>
        </p:nvSpPr>
        <p:spPr>
          <a:xfrm>
            <a:off x="7924800" y="3162300"/>
            <a:ext cx="361950" cy="361950"/>
          </a:xfrm>
          <a:prstGeom prst="ellipse">
            <a:avLst/>
          </a:prstGeom>
          <a:solidFill>
            <a:srgbClr val="9333EA"/>
          </a:solidFill>
          <a:ln w="0">
            <a:solidFill>
              <a:srgbClr val="9333EA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FA47E54-5A00-4507-AF29-6B57F6851945}"/>
              </a:ext>
            </a:extLst>
          </p:cNvPr>
          <p:cNvSpPr>
            <a:spLocks noGrp="1"/>
          </p:cNvSpPr>
          <p:nvPr/>
        </p:nvSpPr>
        <p:spPr>
          <a:xfrm>
            <a:off x="8420100" y="3162300"/>
            <a:ext cx="2667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Add the production batch</a:t>
            </a: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7996011D-8105-42F2-ACF8-FF0D57694D3C}"/>
              </a:ext>
            </a:extLst>
          </p:cNvPr>
          <p:cNvSpPr>
            <a:spLocks noGrp="1"/>
          </p:cNvSpPr>
          <p:nvPr/>
        </p:nvSpPr>
        <p:spPr>
          <a:xfrm>
            <a:off x="8096250" y="3543300"/>
            <a:ext cx="0" cy="333375"/>
          </a:xfrm>
          <a:prstGeom prst="line">
            <a:avLst/>
          </a:prstGeom>
          <a:noFill/>
          <a:ln w="28575">
            <a:solidFill>
              <a:srgbClr val="C4B5FD"/>
            </a:solidFill>
            <a:prstDash val="solid"/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505CD23-36A2-410D-97C0-BFFA83E8D5DA}"/>
              </a:ext>
            </a:extLst>
          </p:cNvPr>
          <p:cNvSpPr>
            <a:spLocks noGrp="1"/>
          </p:cNvSpPr>
          <p:nvPr/>
        </p:nvSpPr>
        <p:spPr>
          <a:xfrm>
            <a:off x="7924800" y="3905250"/>
            <a:ext cx="361950" cy="361950"/>
          </a:xfrm>
          <a:prstGeom prst="ellipse">
            <a:avLst/>
          </a:prstGeom>
          <a:solidFill>
            <a:srgbClr val="9333EA"/>
          </a:solidFill>
          <a:ln w="0">
            <a:solidFill>
              <a:srgbClr val="9333EA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AF3B118-BB77-4642-99F0-7870D12F00D8}"/>
              </a:ext>
            </a:extLst>
          </p:cNvPr>
          <p:cNvSpPr>
            <a:spLocks noGrp="1"/>
          </p:cNvSpPr>
          <p:nvPr/>
        </p:nvSpPr>
        <p:spPr>
          <a:xfrm>
            <a:off x="8420100" y="3905250"/>
            <a:ext cx="2667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Enter inspection checkpoints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0A398D31-E1D4-49BB-BE26-F8B8685405EB}"/>
              </a:ext>
            </a:extLst>
          </p:cNvPr>
          <p:cNvSpPr>
            <a:spLocks noGrp="1"/>
          </p:cNvSpPr>
          <p:nvPr/>
        </p:nvSpPr>
        <p:spPr>
          <a:xfrm>
            <a:off x="8096250" y="4286250"/>
            <a:ext cx="0" cy="333375"/>
          </a:xfrm>
          <a:prstGeom prst="line">
            <a:avLst/>
          </a:prstGeom>
          <a:noFill/>
          <a:ln w="28575">
            <a:solidFill>
              <a:srgbClr val="C4B5FD"/>
            </a:solidFill>
            <a:prstDash val="solid"/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312A265-CE19-42F5-92DB-8EF164D5171C}"/>
              </a:ext>
            </a:extLst>
          </p:cNvPr>
          <p:cNvSpPr>
            <a:spLocks noGrp="1"/>
          </p:cNvSpPr>
          <p:nvPr/>
        </p:nvSpPr>
        <p:spPr>
          <a:xfrm>
            <a:off x="7924800" y="4648200"/>
            <a:ext cx="361950" cy="361950"/>
          </a:xfrm>
          <a:prstGeom prst="ellipse">
            <a:avLst/>
          </a:prstGeom>
          <a:solidFill>
            <a:srgbClr val="9333EA"/>
          </a:solidFill>
          <a:ln w="0">
            <a:solidFill>
              <a:srgbClr val="9333EA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B9D0CFF-4973-4937-BBE4-513DA4092F12}"/>
              </a:ext>
            </a:extLst>
          </p:cNvPr>
          <p:cNvSpPr>
            <a:spLocks noGrp="1"/>
          </p:cNvSpPr>
          <p:nvPr/>
        </p:nvSpPr>
        <p:spPr>
          <a:xfrm>
            <a:off x="8420100" y="4648200"/>
            <a:ext cx="2667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Save and review the result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550BB8A-7A6F-455F-AA8A-BBA3E532F58F}"/>
              </a:ext>
            </a:extLst>
          </p:cNvPr>
          <p:cNvSpPr>
            <a:spLocks noGrp="1"/>
          </p:cNvSpPr>
          <p:nvPr/>
        </p:nvSpPr>
        <p:spPr>
          <a:xfrm>
            <a:off x="7810500" y="5486400"/>
            <a:ext cx="3524250" cy="438150"/>
          </a:xfrm>
          <a:prstGeom prst="roundRect">
            <a:avLst>
              <a:gd name="adj" fmla="val 26087"/>
            </a:avLst>
          </a:prstGeom>
          <a:solidFill>
            <a:srgbClr val="F3E8FF"/>
          </a:solidFill>
          <a:ln w="9525">
            <a:solidFill>
              <a:srgbClr val="C4B5FD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4116BA3-33BF-4B2D-8FF6-63FED5B35463}"/>
              </a:ext>
            </a:extLst>
          </p:cNvPr>
          <p:cNvSpPr>
            <a:spLocks noGrp="1"/>
          </p:cNvSpPr>
          <p:nvPr/>
        </p:nvSpPr>
        <p:spPr>
          <a:xfrm>
            <a:off x="7972425" y="5600700"/>
            <a:ext cx="32194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9333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333EA"/>
                </a:solidFill>
                <a:latin typeface="Aptos"/>
                <a:ea typeface="Aptos"/>
                <a:cs typeface="Aptos"/>
              </a:rPr>
              <a:t>One checksheet can contain multiple batches.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D94D43-4438-4D97-9866-446D5AA56F08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438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Inspection Checksheet Recording System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1F37650-AC5D-45F1-A478-49CBE59FECBB}"/>
              </a:ext>
            </a:extLst>
          </p:cNvPr>
          <p:cNvSpPr>
            <a:spLocks noGrp="1"/>
          </p:cNvSpPr>
          <p:nvPr/>
        </p:nvSpPr>
        <p:spPr>
          <a:xfrm>
            <a:off x="11191875" y="64960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8216665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E0D251D-7C94-449A-B0EA-D51BEFBE2E2A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ICRS USER ORIENTATION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A9D5AD3-6BA6-451E-8C92-4B52EC369C93}"/>
              </a:ext>
            </a:extLst>
          </p:cNvPr>
          <p:cNvSpPr>
            <a:spLocks noGrp="1"/>
          </p:cNvSpPr>
          <p:nvPr/>
        </p:nvSpPr>
        <p:spPr>
          <a:xfrm>
            <a:off x="590550" y="5905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Welding is driven by checksheet type and item code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49C64A26-D42D-4DEB-AC78-F711035AA4CA}"/>
              </a:ext>
            </a:extLst>
          </p:cNvPr>
          <p:cNvSpPr>
            <a:spLocks noGrp="1"/>
          </p:cNvSpPr>
          <p:nvPr/>
        </p:nvSpPr>
        <p:spPr>
          <a:xfrm>
            <a:off x="590550" y="1181100"/>
            <a:ext cx="11010900" cy="0"/>
          </a:xfrm>
          <a:prstGeom prst="line">
            <a:avLst/>
          </a:prstGeom>
          <a:noFill/>
          <a:ln w="9525">
            <a:solidFill>
              <a:srgbClr val="D9DEE7"/>
            </a:solidFill>
            <a:prstDash val="solid"/>
          </a:ln>
        </p:spPr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3"/>
          <a:srcRect t="5590" b="5590"/>
          <a:stretch>
            <a:fillRect/>
          </a:stretch>
        </p:blipFill>
        <p:spPr>
          <a:xfrm>
            <a:off x="514350" y="1428750"/>
            <a:ext cx="8286750" cy="4762500"/>
          </a:xfrm>
          <a:prstGeom prst="roundRect">
            <a:avLst>
              <a:gd name="adj" fmla="val 2800"/>
            </a:avLst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96AFBA-73CA-44FD-B7F6-E6FEC00B8177}"/>
              </a:ext>
            </a:extLst>
          </p:cNvPr>
          <p:cNvSpPr>
            <a:spLocks noGrp="1"/>
          </p:cNvSpPr>
          <p:nvPr/>
        </p:nvSpPr>
        <p:spPr>
          <a:xfrm>
            <a:off x="514350" y="1428750"/>
            <a:ext cx="8286750" cy="4762500"/>
          </a:xfrm>
          <a:prstGeom prst="roundRect">
            <a:avLst>
              <a:gd name="adj" fmla="val 2800"/>
            </a:avLst>
          </a:prstGeom>
          <a:noFill/>
          <a:ln w="9525">
            <a:solidFill>
              <a:srgbClr val="CBD2DF"/>
            </a:solidFill>
            <a:prstDash val="solid"/>
          </a:ln>
        </p:spPr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ED3AD9C-40F9-44E7-8A6A-03006A70879A}"/>
              </a:ext>
            </a:extLst>
          </p:cNvPr>
          <p:cNvSpPr>
            <a:spLocks noGrp="1"/>
          </p:cNvSpPr>
          <p:nvPr/>
        </p:nvSpPr>
        <p:spPr>
          <a:xfrm>
            <a:off x="7316153" y="1495425"/>
            <a:ext cx="1408748" cy="333375"/>
          </a:xfrm>
          <a:prstGeom prst="roundRect">
            <a:avLst>
              <a:gd name="adj" fmla="val 37143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C6DB50-7AE4-4314-9B7D-474A1B2DB92B}"/>
              </a:ext>
            </a:extLst>
          </p:cNvPr>
          <p:cNvSpPr>
            <a:spLocks noGrp="1"/>
          </p:cNvSpPr>
          <p:nvPr/>
        </p:nvSpPr>
        <p:spPr>
          <a:xfrm>
            <a:off x="7392353" y="1581150"/>
            <a:ext cx="1313498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00" b="1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74151"/>
                </a:solidFill>
                <a:latin typeface="Aptos"/>
                <a:ea typeface="Aptos"/>
                <a:cs typeface="Aptos"/>
              </a:rPr>
              <a:t>Operator / Inspector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1EC1925-D392-481C-B71D-5AC92356A915}"/>
              </a:ext>
            </a:extLst>
          </p:cNvPr>
          <p:cNvSpPr>
            <a:spLocks noGrp="1"/>
          </p:cNvSpPr>
          <p:nvPr/>
        </p:nvSpPr>
        <p:spPr>
          <a:xfrm>
            <a:off x="9067800" y="1428750"/>
            <a:ext cx="2552700" cy="4762500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EDDD798-1D46-4FDF-A198-6958BC44D224}"/>
              </a:ext>
            </a:extLst>
          </p:cNvPr>
          <p:cNvSpPr>
            <a:spLocks noGrp="1"/>
          </p:cNvSpPr>
          <p:nvPr/>
        </p:nvSpPr>
        <p:spPr>
          <a:xfrm>
            <a:off x="9277350" y="1714500"/>
            <a:ext cx="361950" cy="361950"/>
          </a:xfrm>
          <a:prstGeom prst="ellipse">
            <a:avLst/>
          </a:prstGeom>
          <a:solidFill>
            <a:srgbClr val="EA580C"/>
          </a:solidFill>
          <a:ln w="0">
            <a:solidFill>
              <a:srgbClr val="EA580C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8AB4BAD-8251-4C82-B4C8-F7B3BC0EAEFB}"/>
              </a:ext>
            </a:extLst>
          </p:cNvPr>
          <p:cNvSpPr>
            <a:spLocks noGrp="1"/>
          </p:cNvSpPr>
          <p:nvPr/>
        </p:nvSpPr>
        <p:spPr>
          <a:xfrm>
            <a:off x="9753600" y="1724025"/>
            <a:ext cx="1619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593"/>
          </a:bodyPr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Choose the checksheet type.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3FDAFB0-4B4A-48A2-A663-286FF701A6B0}"/>
              </a:ext>
            </a:extLst>
          </p:cNvPr>
          <p:cNvSpPr>
            <a:spLocks noGrp="1"/>
          </p:cNvSpPr>
          <p:nvPr/>
        </p:nvSpPr>
        <p:spPr>
          <a:xfrm>
            <a:off x="9277350" y="2457450"/>
            <a:ext cx="361950" cy="361950"/>
          </a:xfrm>
          <a:prstGeom prst="ellipse">
            <a:avLst/>
          </a:prstGeom>
          <a:solidFill>
            <a:srgbClr val="EA580C"/>
          </a:solidFill>
          <a:ln w="0">
            <a:solidFill>
              <a:srgbClr val="EA580C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1A4C40-83D6-4EF6-AD7F-B32C10A15A0C}"/>
              </a:ext>
            </a:extLst>
          </p:cNvPr>
          <p:cNvSpPr>
            <a:spLocks noGrp="1"/>
          </p:cNvSpPr>
          <p:nvPr/>
        </p:nvSpPr>
        <p:spPr>
          <a:xfrm>
            <a:off x="9753600" y="2466975"/>
            <a:ext cx="1619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593"/>
          </a:bodyPr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Select the correct item code.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CC0F921-EE0E-42AF-AAC2-6A040B550023}"/>
              </a:ext>
            </a:extLst>
          </p:cNvPr>
          <p:cNvSpPr>
            <a:spLocks noGrp="1"/>
          </p:cNvSpPr>
          <p:nvPr/>
        </p:nvSpPr>
        <p:spPr>
          <a:xfrm>
            <a:off x="9277350" y="3200400"/>
            <a:ext cx="361950" cy="361950"/>
          </a:xfrm>
          <a:prstGeom prst="ellipse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1F7E973-87B1-4E74-B0BD-ABC8919041C0}"/>
              </a:ext>
            </a:extLst>
          </p:cNvPr>
          <p:cNvSpPr>
            <a:spLocks noGrp="1"/>
          </p:cNvSpPr>
          <p:nvPr/>
        </p:nvSpPr>
        <p:spPr>
          <a:xfrm>
            <a:off x="9753600" y="3209925"/>
            <a:ext cx="1619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593"/>
          </a:bodyPr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Read the validation message.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18F1A59-08C4-4D17-BD2E-5BF48B2B2D22}"/>
              </a:ext>
            </a:extLst>
          </p:cNvPr>
          <p:cNvSpPr>
            <a:spLocks noGrp="1"/>
          </p:cNvSpPr>
          <p:nvPr/>
        </p:nvSpPr>
        <p:spPr>
          <a:xfrm>
            <a:off x="9277350" y="3943350"/>
            <a:ext cx="361950" cy="361950"/>
          </a:xfrm>
          <a:prstGeom prst="ellipse">
            <a:avLst/>
          </a:prstGeom>
          <a:solidFill>
            <a:srgbClr val="16A34A"/>
          </a:solidFill>
          <a:ln w="0">
            <a:solidFill>
              <a:srgbClr val="16A34A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C578CAC-9E83-4637-AEE0-819CD9CF17FF}"/>
              </a:ext>
            </a:extLst>
          </p:cNvPr>
          <p:cNvSpPr>
            <a:spLocks noGrp="1"/>
          </p:cNvSpPr>
          <p:nvPr/>
        </p:nvSpPr>
        <p:spPr>
          <a:xfrm>
            <a:off x="9753600" y="3952875"/>
            <a:ext cx="1619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593"/>
          </a:bodyPr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Complete production and material fields.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901762E-76BF-496D-BE93-8D35A5214F58}"/>
              </a:ext>
            </a:extLst>
          </p:cNvPr>
          <p:cNvSpPr>
            <a:spLocks noGrp="1"/>
          </p:cNvSpPr>
          <p:nvPr/>
        </p:nvSpPr>
        <p:spPr>
          <a:xfrm>
            <a:off x="9277350" y="4876800"/>
            <a:ext cx="361950" cy="361950"/>
          </a:xfrm>
          <a:prstGeom prst="ellipse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650AB5-50BA-4E08-9F4C-520F3DB87E0E}"/>
              </a:ext>
            </a:extLst>
          </p:cNvPr>
          <p:cNvSpPr>
            <a:spLocks noGrp="1"/>
          </p:cNvSpPr>
          <p:nvPr/>
        </p:nvSpPr>
        <p:spPr>
          <a:xfrm>
            <a:off x="9753600" y="4886325"/>
            <a:ext cx="1619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593"/>
          </a:bodyPr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Enter samples, personnel, and remarks.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0BC9F2-9560-4665-8734-BA45F6CAE3CF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438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Inspection Checksheet Recording System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4A5B3BE-FE3F-4566-AA4F-952A9036103C}"/>
              </a:ext>
            </a:extLst>
          </p:cNvPr>
          <p:cNvSpPr>
            <a:spLocks noGrp="1"/>
          </p:cNvSpPr>
          <p:nvPr/>
        </p:nvSpPr>
        <p:spPr>
          <a:xfrm>
            <a:off x="11191875" y="64960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736960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47A0A61-A766-4E7E-BCB3-BBC72D1928AE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ICRS USER ORIENTATION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FD40B6-A36E-4360-A6BE-2AB695CAE31E}"/>
              </a:ext>
            </a:extLst>
          </p:cNvPr>
          <p:cNvSpPr>
            <a:spLocks noGrp="1"/>
          </p:cNvSpPr>
          <p:nvPr/>
        </p:nvSpPr>
        <p:spPr>
          <a:xfrm>
            <a:off x="590550" y="5905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Material Monitoring organizes main lots and sub-lots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4AC5D8A4-2608-4A72-9150-B9BE4D729BF1}"/>
              </a:ext>
            </a:extLst>
          </p:cNvPr>
          <p:cNvSpPr>
            <a:spLocks noGrp="1"/>
          </p:cNvSpPr>
          <p:nvPr/>
        </p:nvSpPr>
        <p:spPr>
          <a:xfrm>
            <a:off x="590550" y="1181100"/>
            <a:ext cx="11010900" cy="0"/>
          </a:xfrm>
          <a:prstGeom prst="line">
            <a:avLst/>
          </a:prstGeom>
          <a:noFill/>
          <a:ln w="9525">
            <a:solidFill>
              <a:srgbClr val="D9DEE7"/>
            </a:solidFill>
            <a:prstDash val="solid"/>
          </a:ln>
        </p:spPr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3"/>
          <a:srcRect t="5557" b="5557"/>
          <a:stretch>
            <a:fillRect/>
          </a:stretch>
        </p:blipFill>
        <p:spPr>
          <a:xfrm>
            <a:off x="552450" y="1428750"/>
            <a:ext cx="8382000" cy="4762500"/>
          </a:xfrm>
          <a:prstGeom prst="roundRect">
            <a:avLst>
              <a:gd name="adj" fmla="val 2800"/>
            </a:avLst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2A5C10E-9BFD-4B34-93A7-E49C13D7BECE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8382000" cy="4762500"/>
          </a:xfrm>
          <a:prstGeom prst="roundRect">
            <a:avLst>
              <a:gd name="adj" fmla="val 2800"/>
            </a:avLst>
          </a:prstGeom>
          <a:noFill/>
          <a:ln w="9525">
            <a:solidFill>
              <a:srgbClr val="CBD2DF"/>
            </a:solidFill>
            <a:prstDash val="solid"/>
          </a:ln>
        </p:spPr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814B3C3-3D22-4541-9D9C-8E13D34B1C93}"/>
              </a:ext>
            </a:extLst>
          </p:cNvPr>
          <p:cNvSpPr>
            <a:spLocks noGrp="1"/>
          </p:cNvSpPr>
          <p:nvPr/>
        </p:nvSpPr>
        <p:spPr>
          <a:xfrm>
            <a:off x="7433310" y="1495425"/>
            <a:ext cx="1424940" cy="333375"/>
          </a:xfrm>
          <a:prstGeom prst="roundRect">
            <a:avLst>
              <a:gd name="adj" fmla="val 37143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B8BAB7-9747-4FC6-84E6-67930C810299}"/>
              </a:ext>
            </a:extLst>
          </p:cNvPr>
          <p:cNvSpPr>
            <a:spLocks noGrp="1"/>
          </p:cNvSpPr>
          <p:nvPr/>
        </p:nvSpPr>
        <p:spPr>
          <a:xfrm>
            <a:off x="7509510" y="1581150"/>
            <a:ext cx="132969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00" b="1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74151"/>
                </a:solidFill>
                <a:latin typeface="Aptos"/>
                <a:ea typeface="Aptos"/>
                <a:cs typeface="Aptos"/>
              </a:rPr>
              <a:t>Operator / Inspector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8DD08A7-8E89-435E-A494-CEAA053484E7}"/>
              </a:ext>
            </a:extLst>
          </p:cNvPr>
          <p:cNvSpPr>
            <a:spLocks noGrp="1"/>
          </p:cNvSpPr>
          <p:nvPr/>
        </p:nvSpPr>
        <p:spPr>
          <a:xfrm>
            <a:off x="9201150" y="1428750"/>
            <a:ext cx="2419350" cy="4762500"/>
          </a:xfrm>
          <a:prstGeom prst="roundRect">
            <a:avLst>
              <a:gd name="adj" fmla="val 7087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8A309C9-FAF8-4B9C-8F70-8282567D4B94}"/>
              </a:ext>
            </a:extLst>
          </p:cNvPr>
          <p:cNvSpPr>
            <a:spLocks noGrp="1"/>
          </p:cNvSpPr>
          <p:nvPr/>
        </p:nvSpPr>
        <p:spPr>
          <a:xfrm>
            <a:off x="9391650" y="1790700"/>
            <a:ext cx="361950" cy="361950"/>
          </a:xfrm>
          <a:prstGeom prst="ellipse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146A2D-CA5B-4F15-90F7-13690BADAAB4}"/>
              </a:ext>
            </a:extLst>
          </p:cNvPr>
          <p:cNvSpPr>
            <a:spLocks noGrp="1"/>
          </p:cNvSpPr>
          <p:nvPr/>
        </p:nvSpPr>
        <p:spPr>
          <a:xfrm>
            <a:off x="9867900" y="1800225"/>
            <a:ext cx="1485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Select Material Type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9AEC32C-E3B3-494F-AF99-E7B5485A73BA}"/>
              </a:ext>
            </a:extLst>
          </p:cNvPr>
          <p:cNvSpPr>
            <a:spLocks noGrp="1"/>
          </p:cNvSpPr>
          <p:nvPr/>
        </p:nvSpPr>
        <p:spPr>
          <a:xfrm>
            <a:off x="9391650" y="2571750"/>
            <a:ext cx="361950" cy="361950"/>
          </a:xfrm>
          <a:prstGeom prst="ellipse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515908-BD3A-48A9-9FB1-D64C3BA75C73}"/>
              </a:ext>
            </a:extLst>
          </p:cNvPr>
          <p:cNvSpPr>
            <a:spLocks noGrp="1"/>
          </p:cNvSpPr>
          <p:nvPr/>
        </p:nvSpPr>
        <p:spPr>
          <a:xfrm>
            <a:off x="9867900" y="2581275"/>
            <a:ext cx="1485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Enter the main lot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D524815-5C32-4565-810B-87682A603EFF}"/>
              </a:ext>
            </a:extLst>
          </p:cNvPr>
          <p:cNvSpPr>
            <a:spLocks noGrp="1"/>
          </p:cNvSpPr>
          <p:nvPr/>
        </p:nvSpPr>
        <p:spPr>
          <a:xfrm>
            <a:off x="9391650" y="3352800"/>
            <a:ext cx="361950" cy="361950"/>
          </a:xfrm>
          <a:prstGeom prst="ellipse">
            <a:avLst/>
          </a:prstGeom>
          <a:solidFill>
            <a:srgbClr val="16A34A"/>
          </a:solidFill>
          <a:ln w="0">
            <a:solidFill>
              <a:srgbClr val="16A34A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4018F7-89F9-4346-8976-6490D4E74C59}"/>
              </a:ext>
            </a:extLst>
          </p:cNvPr>
          <p:cNvSpPr>
            <a:spLocks noGrp="1"/>
          </p:cNvSpPr>
          <p:nvPr/>
        </p:nvSpPr>
        <p:spPr>
          <a:xfrm>
            <a:off x="9867900" y="3362325"/>
            <a:ext cx="1524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80103"/>
          </a:bodyPr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Confirm the auto-generated letter code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BE19305-FF3A-42D6-8064-3993CDD5432F}"/>
              </a:ext>
            </a:extLst>
          </p:cNvPr>
          <p:cNvSpPr>
            <a:spLocks noGrp="1"/>
          </p:cNvSpPr>
          <p:nvPr/>
        </p:nvSpPr>
        <p:spPr>
          <a:xfrm>
            <a:off x="9391650" y="4324350"/>
            <a:ext cx="361950" cy="361950"/>
          </a:xfrm>
          <a:prstGeom prst="ellipse">
            <a:avLst/>
          </a:prstGeom>
          <a:solidFill>
            <a:srgbClr val="EA580C"/>
          </a:solidFill>
          <a:ln w="0">
            <a:solidFill>
              <a:srgbClr val="EA580C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90FE582-A948-4934-89E3-4CC16A520401}"/>
              </a:ext>
            </a:extLst>
          </p:cNvPr>
          <p:cNvSpPr>
            <a:spLocks noGrp="1"/>
          </p:cNvSpPr>
          <p:nvPr/>
        </p:nvSpPr>
        <p:spPr>
          <a:xfrm>
            <a:off x="9867900" y="4333875"/>
            <a:ext cx="1524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593"/>
          </a:bodyPr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Enter the displayed sub-lot fields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2BAE03B-5067-4A25-9760-FD1DB9DE9E6C}"/>
              </a:ext>
            </a:extLst>
          </p:cNvPr>
          <p:cNvSpPr>
            <a:spLocks noGrp="1"/>
          </p:cNvSpPr>
          <p:nvPr/>
        </p:nvSpPr>
        <p:spPr>
          <a:xfrm>
            <a:off x="9391650" y="5448300"/>
            <a:ext cx="2000250" cy="457200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A5B4FC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3674270-DCBB-4A20-BB0F-E925E405A727}"/>
              </a:ext>
            </a:extLst>
          </p:cNvPr>
          <p:cNvSpPr>
            <a:spLocks noGrp="1"/>
          </p:cNvSpPr>
          <p:nvPr/>
        </p:nvSpPr>
        <p:spPr>
          <a:xfrm>
            <a:off x="9486900" y="5524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444"/>
          </a:bodyPr>
          <a:lstStyle/>
          <a:p>
            <a:pPr algn="ctr">
              <a:defRPr sz="112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Sub-lot fields appear after Material Type is selected.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EF49291-D740-48C8-BD30-16E4F4E479DD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438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Inspection Checksheet Recording System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E4B3DF-9F5E-4348-9967-6A1F2DDDCFD9}"/>
              </a:ext>
            </a:extLst>
          </p:cNvPr>
          <p:cNvSpPr>
            <a:spLocks noGrp="1"/>
          </p:cNvSpPr>
          <p:nvPr/>
        </p:nvSpPr>
        <p:spPr>
          <a:xfrm>
            <a:off x="11191875" y="64960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836518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E1E9A7-2AFE-41F7-900E-7A2F76AEA2F3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ICRS USER ORIENTATION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54A91E-0E24-40C9-A103-2D386C692566}"/>
              </a:ext>
            </a:extLst>
          </p:cNvPr>
          <p:cNvSpPr>
            <a:spLocks noGrp="1"/>
          </p:cNvSpPr>
          <p:nvPr/>
        </p:nvSpPr>
        <p:spPr>
          <a:xfrm>
            <a:off x="590550" y="5905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Prevent the mistakes that create bad records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85C430BC-A377-436A-89E1-2168BC47D675}"/>
              </a:ext>
            </a:extLst>
          </p:cNvPr>
          <p:cNvSpPr>
            <a:spLocks noGrp="1"/>
          </p:cNvSpPr>
          <p:nvPr/>
        </p:nvSpPr>
        <p:spPr>
          <a:xfrm>
            <a:off x="590550" y="1181100"/>
            <a:ext cx="11010900" cy="0"/>
          </a:xfrm>
          <a:prstGeom prst="line">
            <a:avLst/>
          </a:prstGeom>
          <a:noFill/>
          <a:ln w="9525">
            <a:solidFill>
              <a:srgbClr val="D9DEE7"/>
            </a:solidFill>
            <a:prstDash val="solid"/>
          </a:ln>
        </p:spPr>
      </p:sp>
      <p:pic>
        <p:nvPicPr>
          <p:cNvPr id="29" name="Picture 28"/>
          <p:cNvPicPr>
            <a:picLocks noChangeAspect="1"/>
          </p:cNvPicPr>
          <p:nvPr/>
        </p:nvPicPr>
        <p:blipFill>
          <a:blip r:embed="rId3"/>
          <a:srcRect l="7083" r="7083"/>
          <a:stretch>
            <a:fillRect/>
          </a:stretch>
        </p:blipFill>
        <p:spPr>
          <a:xfrm>
            <a:off x="552450" y="1428750"/>
            <a:ext cx="6191250" cy="4667250"/>
          </a:xfrm>
          <a:prstGeom prst="roundRect">
            <a:avLst>
              <a:gd name="adj" fmla="val 2857"/>
            </a:avLst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8184389-0091-4C84-82C5-E69C2128B445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6191250" cy="4667250"/>
          </a:xfrm>
          <a:prstGeom prst="roundRect">
            <a:avLst>
              <a:gd name="adj" fmla="val 2857"/>
            </a:avLst>
          </a:prstGeom>
          <a:noFill/>
          <a:ln w="9525">
            <a:solidFill>
              <a:srgbClr val="CBD2DF"/>
            </a:solidFill>
            <a:prstDash val="solid"/>
          </a:ln>
        </p:spPr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FFF6AF4-570E-4AA1-8129-950B0897B8BE}"/>
              </a:ext>
            </a:extLst>
          </p:cNvPr>
          <p:cNvSpPr>
            <a:spLocks noGrp="1"/>
          </p:cNvSpPr>
          <p:nvPr/>
        </p:nvSpPr>
        <p:spPr>
          <a:xfrm>
            <a:off x="5614988" y="1495425"/>
            <a:ext cx="1052513" cy="326708"/>
          </a:xfrm>
          <a:prstGeom prst="roundRect">
            <a:avLst>
              <a:gd name="adj" fmla="val 37901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77C923-1F91-4344-8FCD-A9E71C2A95CD}"/>
              </a:ext>
            </a:extLst>
          </p:cNvPr>
          <p:cNvSpPr>
            <a:spLocks noGrp="1"/>
          </p:cNvSpPr>
          <p:nvPr/>
        </p:nvSpPr>
        <p:spPr>
          <a:xfrm>
            <a:off x="5691188" y="1581150"/>
            <a:ext cx="957263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104"/>
          </a:bodyPr>
          <a:lstStyle/>
          <a:p>
            <a:pPr algn="ctr">
              <a:defRPr sz="900" b="1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74151"/>
                </a:solidFill>
                <a:latin typeface="Aptos"/>
                <a:ea typeface="Aptos"/>
                <a:cs typeface="Aptos"/>
              </a:rPr>
              <a:t>Operator / Inspector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41A6D35-1A7B-4472-AA23-E83528460927}"/>
              </a:ext>
            </a:extLst>
          </p:cNvPr>
          <p:cNvSpPr>
            <a:spLocks noGrp="1"/>
          </p:cNvSpPr>
          <p:nvPr/>
        </p:nvSpPr>
        <p:spPr>
          <a:xfrm>
            <a:off x="7143750" y="1428750"/>
            <a:ext cx="4476750" cy="466725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EEBCFBF-C7BC-40FC-87CA-FD98113A8532}"/>
              </a:ext>
            </a:extLst>
          </p:cNvPr>
          <p:cNvSpPr>
            <a:spLocks noGrp="1"/>
          </p:cNvSpPr>
          <p:nvPr/>
        </p:nvSpPr>
        <p:spPr>
          <a:xfrm>
            <a:off x="7410450" y="1771650"/>
            <a:ext cx="914400" cy="32385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2ACAD31-E9D4-438A-8D5E-DBF50B592910}"/>
              </a:ext>
            </a:extLst>
          </p:cNvPr>
          <p:cNvSpPr>
            <a:spLocks noGrp="1"/>
          </p:cNvSpPr>
          <p:nvPr/>
        </p:nvSpPr>
        <p:spPr>
          <a:xfrm>
            <a:off x="7486650" y="1847850"/>
            <a:ext cx="76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75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DO NOT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418D92-CFC6-4D71-BE45-F5DF6257CB2B}"/>
              </a:ext>
            </a:extLst>
          </p:cNvPr>
          <p:cNvSpPr>
            <a:spLocks noGrp="1"/>
          </p:cNvSpPr>
          <p:nvPr/>
        </p:nvSpPr>
        <p:spPr>
          <a:xfrm>
            <a:off x="8524875" y="1752600"/>
            <a:ext cx="271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Create before searching for an existing record.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76685CE-E3BB-4B0C-9C3E-72227C55ABFD}"/>
              </a:ext>
            </a:extLst>
          </p:cNvPr>
          <p:cNvSpPr>
            <a:spLocks noGrp="1"/>
          </p:cNvSpPr>
          <p:nvPr/>
        </p:nvSpPr>
        <p:spPr>
          <a:xfrm>
            <a:off x="7410450" y="2552700"/>
            <a:ext cx="914400" cy="32385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E1AE97-8007-46DA-A61E-7692B86CF848}"/>
              </a:ext>
            </a:extLst>
          </p:cNvPr>
          <p:cNvSpPr>
            <a:spLocks noGrp="1"/>
          </p:cNvSpPr>
          <p:nvPr/>
        </p:nvSpPr>
        <p:spPr>
          <a:xfrm>
            <a:off x="7486650" y="2628900"/>
            <a:ext cx="76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75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DO NOT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F04E8EB-5D7F-4289-827D-CDE758CE5ACA}"/>
              </a:ext>
            </a:extLst>
          </p:cNvPr>
          <p:cNvSpPr>
            <a:spLocks noGrp="1"/>
          </p:cNvSpPr>
          <p:nvPr/>
        </p:nvSpPr>
        <p:spPr>
          <a:xfrm>
            <a:off x="8524875" y="2533650"/>
            <a:ext cx="271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Ignore required fields or validation messages.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CA4622-9C1C-45EE-AD20-10132F5D4170}"/>
              </a:ext>
            </a:extLst>
          </p:cNvPr>
          <p:cNvSpPr>
            <a:spLocks noGrp="1"/>
          </p:cNvSpPr>
          <p:nvPr/>
        </p:nvSpPr>
        <p:spPr>
          <a:xfrm>
            <a:off x="7410450" y="3333750"/>
            <a:ext cx="914400" cy="32385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0D8693-07FA-4AA5-A059-D19409994BBF}"/>
              </a:ext>
            </a:extLst>
          </p:cNvPr>
          <p:cNvSpPr>
            <a:spLocks noGrp="1"/>
          </p:cNvSpPr>
          <p:nvPr/>
        </p:nvSpPr>
        <p:spPr>
          <a:xfrm>
            <a:off x="7486650" y="3409950"/>
            <a:ext cx="76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75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DO NOT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A3758A5-2F94-465E-838D-AB00FF707D95}"/>
              </a:ext>
            </a:extLst>
          </p:cNvPr>
          <p:cNvSpPr>
            <a:spLocks noGrp="1"/>
          </p:cNvSpPr>
          <p:nvPr/>
        </p:nvSpPr>
        <p:spPr>
          <a:xfrm>
            <a:off x="8524875" y="3314700"/>
            <a:ext cx="271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Confirm an import without reviewing duplicates and errors.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36341CA-79F4-4318-B220-0D6B03BD9E01}"/>
              </a:ext>
            </a:extLst>
          </p:cNvPr>
          <p:cNvSpPr>
            <a:spLocks noGrp="1"/>
          </p:cNvSpPr>
          <p:nvPr/>
        </p:nvSpPr>
        <p:spPr>
          <a:xfrm>
            <a:off x="7410450" y="4114800"/>
            <a:ext cx="914400" cy="32385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33A4F22-B473-4AE1-ACF9-84804E6469BC}"/>
              </a:ext>
            </a:extLst>
          </p:cNvPr>
          <p:cNvSpPr>
            <a:spLocks noGrp="1"/>
          </p:cNvSpPr>
          <p:nvPr/>
        </p:nvSpPr>
        <p:spPr>
          <a:xfrm>
            <a:off x="7486650" y="4191000"/>
            <a:ext cx="76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75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DO NOT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C7DB514-4161-42B7-8962-C53E9514F1AA}"/>
              </a:ext>
            </a:extLst>
          </p:cNvPr>
          <p:cNvSpPr>
            <a:spLocks noGrp="1"/>
          </p:cNvSpPr>
          <p:nvPr/>
        </p:nvSpPr>
        <p:spPr>
          <a:xfrm>
            <a:off x="8524875" y="4095750"/>
            <a:ext cx="271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Enter “0” when the instruction means blank or not recorded.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10DBB96C-94A0-45E7-9A63-959E409816F1}"/>
              </a:ext>
            </a:extLst>
          </p:cNvPr>
          <p:cNvSpPr>
            <a:spLocks noGrp="1"/>
          </p:cNvSpPr>
          <p:nvPr/>
        </p:nvSpPr>
        <p:spPr>
          <a:xfrm>
            <a:off x="7410450" y="4895850"/>
            <a:ext cx="914400" cy="32385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9525">
            <a:solidFill>
              <a:srgbClr val="86EFAC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419EF90-5CD8-447B-90E1-DB9DAE7299A1}"/>
              </a:ext>
            </a:extLst>
          </p:cNvPr>
          <p:cNvSpPr>
            <a:spLocks noGrp="1"/>
          </p:cNvSpPr>
          <p:nvPr/>
        </p:nvSpPr>
        <p:spPr>
          <a:xfrm>
            <a:off x="7486650" y="4972050"/>
            <a:ext cx="76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7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ALWAYS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20F0D10-51BB-417F-859E-1EE88D116F42}"/>
              </a:ext>
            </a:extLst>
          </p:cNvPr>
          <p:cNvSpPr>
            <a:spLocks noGrp="1"/>
          </p:cNvSpPr>
          <p:nvPr/>
        </p:nvSpPr>
        <p:spPr>
          <a:xfrm>
            <a:off x="8524875" y="4876800"/>
            <a:ext cx="271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Review the saved record before moving to the next task.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75F890-52B5-4A03-A828-7545BC7B0587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438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Inspection Checksheet Recording System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E10AC99-5345-41E9-A985-3205A91300CA}"/>
              </a:ext>
            </a:extLst>
          </p:cNvPr>
          <p:cNvSpPr>
            <a:spLocks noGrp="1"/>
          </p:cNvSpPr>
          <p:nvPr/>
        </p:nvSpPr>
        <p:spPr>
          <a:xfrm>
            <a:off x="11191875" y="64960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342860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12E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FC6E73F-760C-45A7-834F-BC946A204AB4}"/>
              </a:ext>
            </a:extLst>
          </p:cNvPr>
          <p:cNvSpPr>
            <a:spLocks noGrp="1"/>
          </p:cNvSpPr>
          <p:nvPr/>
        </p:nvSpPr>
        <p:spPr>
          <a:xfrm>
            <a:off x="590550" y="457200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C7D2F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7D2FE"/>
                </a:solidFill>
                <a:latin typeface="Aptos"/>
                <a:ea typeface="Aptos"/>
                <a:cs typeface="Aptos"/>
              </a:rPr>
              <a:t>PRACTICE 01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5F4E10E-55C1-4736-A34B-E975D8D231DE}"/>
              </a:ext>
            </a:extLst>
          </p:cNvPr>
          <p:cNvSpPr>
            <a:spLocks noGrp="1"/>
          </p:cNvSpPr>
          <p:nvPr/>
        </p:nvSpPr>
        <p:spPr>
          <a:xfrm>
            <a:off x="590550" y="781050"/>
            <a:ext cx="6762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Create a sample Torque record</a:t>
            </a:r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rcRect l="4325" r="4325"/>
          <a:stretch>
            <a:fillRect/>
          </a:stretch>
        </p:blipFill>
        <p:spPr>
          <a:xfrm>
            <a:off x="6286500" y="781050"/>
            <a:ext cx="5334000" cy="4857750"/>
          </a:xfrm>
          <a:prstGeom prst="roundRect">
            <a:avLst>
              <a:gd name="adj" fmla="val 2745"/>
            </a:avLst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EA5C473-0157-4C48-8AC3-F5BD7410C73A}"/>
              </a:ext>
            </a:extLst>
          </p:cNvPr>
          <p:cNvSpPr>
            <a:spLocks noGrp="1"/>
          </p:cNvSpPr>
          <p:nvPr/>
        </p:nvSpPr>
        <p:spPr>
          <a:xfrm>
            <a:off x="6286500" y="781050"/>
            <a:ext cx="5334000" cy="4857750"/>
          </a:xfrm>
          <a:prstGeom prst="roundRect">
            <a:avLst>
              <a:gd name="adj" fmla="val 2745"/>
            </a:avLst>
          </a:prstGeom>
          <a:noFill/>
          <a:ln w="9525">
            <a:solidFill>
              <a:srgbClr val="CBD2DF"/>
            </a:solidFill>
            <a:prstDash val="solid"/>
          </a:ln>
        </p:spPr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3A938C5-224D-4096-B2A7-95DE9B7CF4AD}"/>
              </a:ext>
            </a:extLst>
          </p:cNvPr>
          <p:cNvSpPr>
            <a:spLocks noGrp="1"/>
          </p:cNvSpPr>
          <p:nvPr/>
        </p:nvSpPr>
        <p:spPr>
          <a:xfrm>
            <a:off x="10637520" y="847725"/>
            <a:ext cx="906780" cy="340043"/>
          </a:xfrm>
          <a:prstGeom prst="roundRect">
            <a:avLst>
              <a:gd name="adj" fmla="val 3641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4FC306-1D54-4020-80D9-8F82E76E022D}"/>
              </a:ext>
            </a:extLst>
          </p:cNvPr>
          <p:cNvSpPr>
            <a:spLocks noGrp="1"/>
          </p:cNvSpPr>
          <p:nvPr/>
        </p:nvSpPr>
        <p:spPr>
          <a:xfrm>
            <a:off x="10713720" y="933450"/>
            <a:ext cx="81153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154"/>
          </a:bodyPr>
          <a:lstStyle/>
          <a:p>
            <a:pPr algn="ctr">
              <a:defRPr sz="900" b="1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74151"/>
                </a:solidFill>
                <a:latin typeface="Aptos"/>
                <a:ea typeface="Aptos"/>
                <a:cs typeface="Aptos"/>
              </a:rPr>
              <a:t>Operator / Inspector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37AB0D3-7257-4E5C-890C-49BEC9B81913}"/>
              </a:ext>
            </a:extLst>
          </p:cNvPr>
          <p:cNvSpPr>
            <a:spLocks noGrp="1"/>
          </p:cNvSpPr>
          <p:nvPr/>
        </p:nvSpPr>
        <p:spPr>
          <a:xfrm>
            <a:off x="590550" y="1676400"/>
            <a:ext cx="5143500" cy="3238500"/>
          </a:xfrm>
          <a:prstGeom prst="roundRect">
            <a:avLst>
              <a:gd name="adj" fmla="val 5882"/>
            </a:avLst>
          </a:prstGeom>
          <a:solidFill>
            <a:srgbClr val="FFFFFF">
              <a:alpha val="7059"/>
            </a:srgbClr>
          </a:solidFill>
          <a:ln w="9525">
            <a:solidFill>
              <a:srgbClr val="818CF8"/>
            </a:solidFill>
            <a:prstDash val="solid"/>
          </a:ln>
        </p:spPr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825077F-0119-4F10-9429-0D97DD16A2CA}"/>
              </a:ext>
            </a:extLst>
          </p:cNvPr>
          <p:cNvSpPr>
            <a:spLocks noGrp="1"/>
          </p:cNvSpPr>
          <p:nvPr/>
        </p:nvSpPr>
        <p:spPr>
          <a:xfrm>
            <a:off x="952500" y="2038350"/>
            <a:ext cx="361950" cy="361950"/>
          </a:xfrm>
          <a:prstGeom prst="ellipse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468108-27AD-41FD-962E-B3544D61273D}"/>
              </a:ext>
            </a:extLst>
          </p:cNvPr>
          <p:cNvSpPr>
            <a:spLocks noGrp="1"/>
          </p:cNvSpPr>
          <p:nvPr/>
        </p:nvSpPr>
        <p:spPr>
          <a:xfrm>
            <a:off x="1428750" y="204787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Open Torque Records → New Record.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B34F34A-A2D2-490F-AEBD-9282DB7CA053}"/>
              </a:ext>
            </a:extLst>
          </p:cNvPr>
          <p:cNvSpPr>
            <a:spLocks noGrp="1"/>
          </p:cNvSpPr>
          <p:nvPr/>
        </p:nvSpPr>
        <p:spPr>
          <a:xfrm>
            <a:off x="952500" y="2705100"/>
            <a:ext cx="361950" cy="361950"/>
          </a:xfrm>
          <a:prstGeom prst="ellipse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8A9EFC-1CCB-4A48-B924-59CB8732C4B1}"/>
              </a:ext>
            </a:extLst>
          </p:cNvPr>
          <p:cNvSpPr>
            <a:spLocks noGrp="1"/>
          </p:cNvSpPr>
          <p:nvPr/>
        </p:nvSpPr>
        <p:spPr>
          <a:xfrm>
            <a:off x="1428750" y="271462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Use the trainer’s sample date and model.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98B4533-41E8-448B-ADAB-E0C42D57FF29}"/>
              </a:ext>
            </a:extLst>
          </p:cNvPr>
          <p:cNvSpPr>
            <a:spLocks noGrp="1"/>
          </p:cNvSpPr>
          <p:nvPr/>
        </p:nvSpPr>
        <p:spPr>
          <a:xfrm>
            <a:off x="952500" y="3371850"/>
            <a:ext cx="361950" cy="361950"/>
          </a:xfrm>
          <a:prstGeom prst="ellipse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0BDE11-0B75-44E0-AD09-2396D473ABEA}"/>
              </a:ext>
            </a:extLst>
          </p:cNvPr>
          <p:cNvSpPr>
            <a:spLocks noGrp="1"/>
          </p:cNvSpPr>
          <p:nvPr/>
        </p:nvSpPr>
        <p:spPr>
          <a:xfrm>
            <a:off x="1428750" y="338137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Complete every required field.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C833A98-8E0A-4DE7-BFB7-99F997506F45}"/>
              </a:ext>
            </a:extLst>
          </p:cNvPr>
          <p:cNvSpPr>
            <a:spLocks noGrp="1"/>
          </p:cNvSpPr>
          <p:nvPr/>
        </p:nvSpPr>
        <p:spPr>
          <a:xfrm>
            <a:off x="952500" y="4038600"/>
            <a:ext cx="361950" cy="361950"/>
          </a:xfrm>
          <a:prstGeom prst="ellipse">
            <a:avLst/>
          </a:prstGeom>
          <a:solidFill>
            <a:srgbClr val="16A34A"/>
          </a:solidFill>
          <a:ln w="0">
            <a:solidFill>
              <a:srgbClr val="16A34A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3ADFB64-5727-4709-8D81-866A38C323C1}"/>
              </a:ext>
            </a:extLst>
          </p:cNvPr>
          <p:cNvSpPr>
            <a:spLocks noGrp="1"/>
          </p:cNvSpPr>
          <p:nvPr/>
        </p:nvSpPr>
        <p:spPr>
          <a:xfrm>
            <a:off x="1428750" y="404812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Review the form before saving.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EBB51B9-87E3-4025-A46B-0CA104124547}"/>
              </a:ext>
            </a:extLst>
          </p:cNvPr>
          <p:cNvSpPr>
            <a:spLocks noGrp="1"/>
          </p:cNvSpPr>
          <p:nvPr/>
        </p:nvSpPr>
        <p:spPr>
          <a:xfrm>
            <a:off x="590550" y="5238750"/>
            <a:ext cx="5143500" cy="685800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9525">
            <a:solidFill>
              <a:srgbClr val="86EFAC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E8A8E7-5CC6-471E-87A7-783618F9F8A3}"/>
              </a:ext>
            </a:extLst>
          </p:cNvPr>
          <p:cNvSpPr>
            <a:spLocks noGrp="1"/>
          </p:cNvSpPr>
          <p:nvPr/>
        </p:nvSpPr>
        <p:spPr>
          <a:xfrm>
            <a:off x="838200" y="5419725"/>
            <a:ext cx="4648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392"/>
          </a:bodyPr>
          <a:lstStyle/>
          <a:p>
            <a:pPr algn="ctr">
              <a:defRPr sz="1350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Expected result: a saved record that opens without validation errors.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DB3610-84BE-4350-90CC-D5E43ACBB2E0}"/>
              </a:ext>
            </a:extLst>
          </p:cNvPr>
          <p:cNvSpPr>
            <a:spLocks noGrp="1"/>
          </p:cNvSpPr>
          <p:nvPr/>
        </p:nvSpPr>
        <p:spPr>
          <a:xfrm>
            <a:off x="914400" y="6210300"/>
            <a:ext cx="1028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75" b="1">
                <a:solidFill>
                  <a:srgbClr val="FDE6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DE68A"/>
                </a:solidFill>
                <a:latin typeface="Aptos"/>
                <a:ea typeface="Aptos"/>
                <a:cs typeface="Aptos"/>
              </a:rPr>
              <a:t>Use a trainer-approved sample only. Do not enter a fake record into production.</a:t>
            </a:r>
          </a:p>
        </p:txBody>
      </p:sp>
    </p:spTree>
    <p:extLst>
      <p:ext uri="{BB962C8B-B14F-4D97-AF65-F5344CB8AC3E}">
        <p14:creationId xmlns:p14="http://schemas.microsoft.com/office/powerpoint/2010/main" val="1160609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12E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ECAC963-CD9D-427B-B1B6-E75177A00A7A}"/>
              </a:ext>
            </a:extLst>
          </p:cNvPr>
          <p:cNvSpPr>
            <a:spLocks noGrp="1"/>
          </p:cNvSpPr>
          <p:nvPr/>
        </p:nvSpPr>
        <p:spPr>
          <a:xfrm>
            <a:off x="590550" y="457200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C7D2F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7D2FE"/>
                </a:solidFill>
                <a:latin typeface="Aptos"/>
                <a:ea typeface="Aptos"/>
                <a:cs typeface="Aptos"/>
              </a:rPr>
              <a:t>PRACTICE 02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E0DE0F4-81AD-45B6-9971-F150205AD644}"/>
              </a:ext>
            </a:extLst>
          </p:cNvPr>
          <p:cNvSpPr>
            <a:spLocks noGrp="1"/>
          </p:cNvSpPr>
          <p:nvPr/>
        </p:nvSpPr>
        <p:spPr>
          <a:xfrm>
            <a:off x="590550" y="781050"/>
            <a:ext cx="7239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Locate and review an existing record</a:t>
            </a:r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rcRect l="6448" r="6448"/>
          <a:stretch>
            <a:fillRect/>
          </a:stretch>
        </p:blipFill>
        <p:spPr>
          <a:xfrm>
            <a:off x="5715000" y="1428750"/>
            <a:ext cx="5905500" cy="4333875"/>
          </a:xfrm>
          <a:prstGeom prst="roundRect">
            <a:avLst>
              <a:gd name="adj" fmla="val 3077"/>
            </a:avLst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47CF394-77E9-40EF-A934-30B2790230E7}"/>
              </a:ext>
            </a:extLst>
          </p:cNvPr>
          <p:cNvSpPr>
            <a:spLocks noGrp="1"/>
          </p:cNvSpPr>
          <p:nvPr/>
        </p:nvSpPr>
        <p:spPr>
          <a:xfrm>
            <a:off x="5715000" y="1428750"/>
            <a:ext cx="5905500" cy="4333875"/>
          </a:xfrm>
          <a:prstGeom prst="roundRect">
            <a:avLst>
              <a:gd name="adj" fmla="val 3077"/>
            </a:avLst>
          </a:prstGeom>
          <a:noFill/>
          <a:ln w="9525">
            <a:solidFill>
              <a:srgbClr val="CBD2DF"/>
            </a:solidFill>
            <a:prstDash val="solid"/>
          </a:ln>
        </p:spPr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064DD41-7514-4747-848E-988DF02F3780}"/>
              </a:ext>
            </a:extLst>
          </p:cNvPr>
          <p:cNvSpPr>
            <a:spLocks noGrp="1"/>
          </p:cNvSpPr>
          <p:nvPr/>
        </p:nvSpPr>
        <p:spPr>
          <a:xfrm>
            <a:off x="10540365" y="1495425"/>
            <a:ext cx="1003935" cy="303371"/>
          </a:xfrm>
          <a:prstGeom prst="roundRect">
            <a:avLst>
              <a:gd name="adj" fmla="val 40816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239C46-2802-4BC1-8388-62A2EF09755E}"/>
              </a:ext>
            </a:extLst>
          </p:cNvPr>
          <p:cNvSpPr>
            <a:spLocks noGrp="1"/>
          </p:cNvSpPr>
          <p:nvPr/>
        </p:nvSpPr>
        <p:spPr>
          <a:xfrm>
            <a:off x="10616565" y="1581150"/>
            <a:ext cx="90868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129"/>
          </a:bodyPr>
          <a:lstStyle/>
          <a:p>
            <a:pPr algn="ctr">
              <a:defRPr sz="900" b="1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74151"/>
                </a:solidFill>
                <a:latin typeface="Aptos"/>
                <a:ea typeface="Aptos"/>
                <a:cs typeface="Aptos"/>
              </a:rPr>
              <a:t>Operator / Inspector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731914B-0A5D-47D8-B7EF-E75C8B6BD510}"/>
              </a:ext>
            </a:extLst>
          </p:cNvPr>
          <p:cNvSpPr>
            <a:spLocks noGrp="1"/>
          </p:cNvSpPr>
          <p:nvPr/>
        </p:nvSpPr>
        <p:spPr>
          <a:xfrm>
            <a:off x="5715000" y="3333750"/>
            <a:ext cx="5905500" cy="2428875"/>
          </a:xfrm>
          <a:prstGeom prst="roundRect">
            <a:avLst>
              <a:gd name="adj" fmla="val 0"/>
            </a:avLst>
          </a:prstGeom>
          <a:solidFill>
            <a:srgbClr val="F7F8FB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3AF7AA-542F-484E-8C90-A18EB9990DDF}"/>
              </a:ext>
            </a:extLst>
          </p:cNvPr>
          <p:cNvSpPr>
            <a:spLocks noGrp="1"/>
          </p:cNvSpPr>
          <p:nvPr/>
        </p:nvSpPr>
        <p:spPr>
          <a:xfrm>
            <a:off x="7286625" y="4362450"/>
            <a:ext cx="2762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8A93A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A93A3"/>
                </a:solidFill>
                <a:latin typeface="Aptos"/>
                <a:ea typeface="Aptos"/>
                <a:cs typeface="Aptos"/>
              </a:rPr>
              <a:t>Training record details hidden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838B020-B6C5-409E-B09D-38C16684D7EA}"/>
              </a:ext>
            </a:extLst>
          </p:cNvPr>
          <p:cNvSpPr>
            <a:spLocks noGrp="1"/>
          </p:cNvSpPr>
          <p:nvPr/>
        </p:nvSpPr>
        <p:spPr>
          <a:xfrm>
            <a:off x="590550" y="1657350"/>
            <a:ext cx="4667250" cy="3429000"/>
          </a:xfrm>
          <a:prstGeom prst="roundRect">
            <a:avLst>
              <a:gd name="adj" fmla="val 5556"/>
            </a:avLst>
          </a:prstGeom>
          <a:solidFill>
            <a:srgbClr val="FFFFFF">
              <a:alpha val="7059"/>
            </a:srgbClr>
          </a:solidFill>
          <a:ln w="9525">
            <a:solidFill>
              <a:srgbClr val="818CF8"/>
            </a:solidFill>
            <a:prstDash val="solid"/>
          </a:ln>
        </p:spPr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B4FA0C4-9707-4D72-9983-145908A05999}"/>
              </a:ext>
            </a:extLst>
          </p:cNvPr>
          <p:cNvSpPr>
            <a:spLocks noGrp="1"/>
          </p:cNvSpPr>
          <p:nvPr/>
        </p:nvSpPr>
        <p:spPr>
          <a:xfrm>
            <a:off x="952500" y="2019300"/>
            <a:ext cx="361950" cy="361950"/>
          </a:xfrm>
          <a:prstGeom prst="ellipse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C35E932-8FAE-4761-B7C0-86E32D39D6E7}"/>
              </a:ext>
            </a:extLst>
          </p:cNvPr>
          <p:cNvSpPr>
            <a:spLocks noGrp="1"/>
          </p:cNvSpPr>
          <p:nvPr/>
        </p:nvSpPr>
        <p:spPr>
          <a:xfrm>
            <a:off x="1428750" y="2028825"/>
            <a:ext cx="3429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Open the assigned inspection module.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F9FC2B2-95E1-4A80-9BB1-63E3A9D81C4B}"/>
              </a:ext>
            </a:extLst>
          </p:cNvPr>
          <p:cNvSpPr>
            <a:spLocks noGrp="1"/>
          </p:cNvSpPr>
          <p:nvPr/>
        </p:nvSpPr>
        <p:spPr>
          <a:xfrm>
            <a:off x="952500" y="2705100"/>
            <a:ext cx="361950" cy="361950"/>
          </a:xfrm>
          <a:prstGeom prst="ellipse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E38210-80EA-47D6-937E-7256AE5574D7}"/>
              </a:ext>
            </a:extLst>
          </p:cNvPr>
          <p:cNvSpPr>
            <a:spLocks noGrp="1"/>
          </p:cNvSpPr>
          <p:nvPr/>
        </p:nvSpPr>
        <p:spPr>
          <a:xfrm>
            <a:off x="1428750" y="2714625"/>
            <a:ext cx="3429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Search using the trainer’s reference.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72D88D4-B90F-4814-B20B-8D135D74A716}"/>
              </a:ext>
            </a:extLst>
          </p:cNvPr>
          <p:cNvSpPr>
            <a:spLocks noGrp="1"/>
          </p:cNvSpPr>
          <p:nvPr/>
        </p:nvSpPr>
        <p:spPr>
          <a:xfrm>
            <a:off x="952500" y="3390900"/>
            <a:ext cx="361950" cy="361950"/>
          </a:xfrm>
          <a:prstGeom prst="ellipse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4BB2E5-EF84-4AB7-B58D-65DAB2D76978}"/>
              </a:ext>
            </a:extLst>
          </p:cNvPr>
          <p:cNvSpPr>
            <a:spLocks noGrp="1"/>
          </p:cNvSpPr>
          <p:nvPr/>
        </p:nvSpPr>
        <p:spPr>
          <a:xfrm>
            <a:off x="1428750" y="3400425"/>
            <a:ext cx="3429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Open the matching record.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7949C1F-8639-4A7E-96B8-35FF5780EC3E}"/>
              </a:ext>
            </a:extLst>
          </p:cNvPr>
          <p:cNvSpPr>
            <a:spLocks noGrp="1"/>
          </p:cNvSpPr>
          <p:nvPr/>
        </p:nvSpPr>
        <p:spPr>
          <a:xfrm>
            <a:off x="952500" y="4076700"/>
            <a:ext cx="361950" cy="361950"/>
          </a:xfrm>
          <a:prstGeom prst="ellipse">
            <a:avLst/>
          </a:prstGeom>
          <a:solidFill>
            <a:srgbClr val="16A34A"/>
          </a:solidFill>
          <a:ln w="0">
            <a:solidFill>
              <a:srgbClr val="16A34A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FB54B82-D5FB-438B-8641-1EAC6634E654}"/>
              </a:ext>
            </a:extLst>
          </p:cNvPr>
          <p:cNvSpPr>
            <a:spLocks noGrp="1"/>
          </p:cNvSpPr>
          <p:nvPr/>
        </p:nvSpPr>
        <p:spPr>
          <a:xfrm>
            <a:off x="1428750" y="4086225"/>
            <a:ext cx="3429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593"/>
          </a:bodyPr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Verify date, code/lot, equipment, values, and responsible person.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90CEEC7-104F-4EDB-97AA-5C32B447D055}"/>
              </a:ext>
            </a:extLst>
          </p:cNvPr>
          <p:cNvSpPr>
            <a:spLocks noGrp="1"/>
          </p:cNvSpPr>
          <p:nvPr/>
        </p:nvSpPr>
        <p:spPr>
          <a:xfrm>
            <a:off x="590550" y="5391150"/>
            <a:ext cx="4667250" cy="647700"/>
          </a:xfrm>
          <a:prstGeom prst="roundRect">
            <a:avLst>
              <a:gd name="adj" fmla="val 23529"/>
            </a:avLst>
          </a:prstGeom>
          <a:solidFill>
            <a:srgbClr val="DCFCE7"/>
          </a:solidFill>
          <a:ln w="9525">
            <a:solidFill>
              <a:srgbClr val="86EFA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9134467-1E21-4344-9221-A1C425BA6AD2}"/>
              </a:ext>
            </a:extLst>
          </p:cNvPr>
          <p:cNvSpPr>
            <a:spLocks noGrp="1"/>
          </p:cNvSpPr>
          <p:nvPr/>
        </p:nvSpPr>
        <p:spPr>
          <a:xfrm>
            <a:off x="800100" y="5543550"/>
            <a:ext cx="4248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7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Expected result: the correct record is identified and its key fields are verified.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6279817-4C96-4FAF-AC33-D497EBDA5DB7}"/>
              </a:ext>
            </a:extLst>
          </p:cNvPr>
          <p:cNvSpPr>
            <a:spLocks noGrp="1"/>
          </p:cNvSpPr>
          <p:nvPr/>
        </p:nvSpPr>
        <p:spPr>
          <a:xfrm>
            <a:off x="6324600" y="5962650"/>
            <a:ext cx="468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1">
                <a:solidFill>
                  <a:srgbClr val="FDE68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DE68A"/>
                </a:solidFill>
                <a:latin typeface="Aptos"/>
                <a:ea typeface="Aptos"/>
                <a:cs typeface="Aptos"/>
              </a:rPr>
              <a:t>Do not edit the record during this exercise.</a:t>
            </a:r>
          </a:p>
        </p:txBody>
      </p:sp>
    </p:spTree>
    <p:extLst>
      <p:ext uri="{BB962C8B-B14F-4D97-AF65-F5344CB8AC3E}">
        <p14:creationId xmlns:p14="http://schemas.microsoft.com/office/powerpoint/2010/main" val="1731160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C8CD936D-CA32-4C0A-AAF9-A382E703A37D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QUICK REFERENCE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49FEE8-EEF9-430D-BFDE-F9BAF27E3AB1}"/>
              </a:ext>
            </a:extLst>
          </p:cNvPr>
          <p:cNvSpPr>
            <a:spLocks noGrp="1"/>
          </p:cNvSpPr>
          <p:nvPr/>
        </p:nvSpPr>
        <p:spPr>
          <a:xfrm>
            <a:off x="590550" y="5905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five habits of reliable ICRS use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7BA5EFFB-6D38-43E6-A491-09BD81DCB190}"/>
              </a:ext>
            </a:extLst>
          </p:cNvPr>
          <p:cNvSpPr>
            <a:spLocks noGrp="1"/>
          </p:cNvSpPr>
          <p:nvPr/>
        </p:nvSpPr>
        <p:spPr>
          <a:xfrm>
            <a:off x="590550" y="1181100"/>
            <a:ext cx="11010900" cy="0"/>
          </a:xfrm>
          <a:prstGeom prst="line">
            <a:avLst/>
          </a:prstGeom>
          <a:noFill/>
          <a:ln w="9525">
            <a:solidFill>
              <a:srgbClr val="D9DEE7"/>
            </a:solidFill>
            <a:prstDash val="solid"/>
          </a:ln>
        </p:spPr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30A7B1D-1099-4719-8FE6-8ED5B49618A9}"/>
              </a:ext>
            </a:extLst>
          </p:cNvPr>
          <p:cNvSpPr>
            <a:spLocks noGrp="1"/>
          </p:cNvSpPr>
          <p:nvPr/>
        </p:nvSpPr>
        <p:spPr>
          <a:xfrm>
            <a:off x="800100" y="1524000"/>
            <a:ext cx="10572750" cy="666750"/>
          </a:xfrm>
          <a:prstGeom prst="roundRect">
            <a:avLst>
              <a:gd name="adj" fmla="val 24286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F3E5C38-7A6F-41AA-9151-0AB32268980E}"/>
              </a:ext>
            </a:extLst>
          </p:cNvPr>
          <p:cNvSpPr>
            <a:spLocks noGrp="1"/>
          </p:cNvSpPr>
          <p:nvPr/>
        </p:nvSpPr>
        <p:spPr>
          <a:xfrm>
            <a:off x="1028700" y="1676400"/>
            <a:ext cx="361950" cy="361950"/>
          </a:xfrm>
          <a:prstGeom prst="ellipse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D032AD6-5BCE-4876-ADB2-DB3B4115735C}"/>
              </a:ext>
            </a:extLst>
          </p:cNvPr>
          <p:cNvSpPr>
            <a:spLocks noGrp="1"/>
          </p:cNvSpPr>
          <p:nvPr/>
        </p:nvSpPr>
        <p:spPr>
          <a:xfrm>
            <a:off x="1619250" y="1657350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Search first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9E2F61-3C3C-481C-ADD2-334600168DD1}"/>
              </a:ext>
            </a:extLst>
          </p:cNvPr>
          <p:cNvSpPr>
            <a:spLocks noGrp="1"/>
          </p:cNvSpPr>
          <p:nvPr/>
        </p:nvSpPr>
        <p:spPr>
          <a:xfrm>
            <a:off x="4572000" y="1666875"/>
            <a:ext cx="628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5B647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B6474"/>
                </a:solidFill>
                <a:latin typeface="Aptos"/>
                <a:ea typeface="Aptos"/>
                <a:cs typeface="Aptos"/>
              </a:rPr>
              <a:t>Avoid duplicate records.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4CDE3AF-F61D-435A-B8FD-148DE45C82DF}"/>
              </a:ext>
            </a:extLst>
          </p:cNvPr>
          <p:cNvSpPr>
            <a:spLocks noGrp="1"/>
          </p:cNvSpPr>
          <p:nvPr/>
        </p:nvSpPr>
        <p:spPr>
          <a:xfrm>
            <a:off x="800100" y="2400300"/>
            <a:ext cx="10572750" cy="666750"/>
          </a:xfrm>
          <a:prstGeom prst="roundRect">
            <a:avLst>
              <a:gd name="adj" fmla="val 24286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2864859-4956-4A29-AAE6-A7D17AC51B91}"/>
              </a:ext>
            </a:extLst>
          </p:cNvPr>
          <p:cNvSpPr>
            <a:spLocks noGrp="1"/>
          </p:cNvSpPr>
          <p:nvPr/>
        </p:nvSpPr>
        <p:spPr>
          <a:xfrm>
            <a:off x="1028700" y="2552700"/>
            <a:ext cx="361950" cy="361950"/>
          </a:xfrm>
          <a:prstGeom prst="ellipse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45A4B3-9474-42E5-96D8-3B09CBA0B32E}"/>
              </a:ext>
            </a:extLst>
          </p:cNvPr>
          <p:cNvSpPr>
            <a:spLocks noGrp="1"/>
          </p:cNvSpPr>
          <p:nvPr/>
        </p:nvSpPr>
        <p:spPr>
          <a:xfrm>
            <a:off x="1619250" y="2533650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Read the form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9AD8C8-9E84-4DB3-A5A3-382FA3D7211B}"/>
              </a:ext>
            </a:extLst>
          </p:cNvPr>
          <p:cNvSpPr>
            <a:spLocks noGrp="1"/>
          </p:cNvSpPr>
          <p:nvPr/>
        </p:nvSpPr>
        <p:spPr>
          <a:xfrm>
            <a:off x="4572000" y="2543175"/>
            <a:ext cx="628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5B647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B6474"/>
                </a:solidFill>
                <a:latin typeface="Aptos"/>
                <a:ea typeface="Aptos"/>
                <a:cs typeface="Aptos"/>
              </a:rPr>
              <a:t>Follow required fields and validation.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1687679-BFDA-40D0-A604-0C28C9274AC2}"/>
              </a:ext>
            </a:extLst>
          </p:cNvPr>
          <p:cNvSpPr>
            <a:spLocks noGrp="1"/>
          </p:cNvSpPr>
          <p:nvPr/>
        </p:nvSpPr>
        <p:spPr>
          <a:xfrm>
            <a:off x="800100" y="3276600"/>
            <a:ext cx="10572750" cy="666750"/>
          </a:xfrm>
          <a:prstGeom prst="roundRect">
            <a:avLst>
              <a:gd name="adj" fmla="val 24286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EE226E7-172C-463C-9C20-385546CDE1F6}"/>
              </a:ext>
            </a:extLst>
          </p:cNvPr>
          <p:cNvSpPr>
            <a:spLocks noGrp="1"/>
          </p:cNvSpPr>
          <p:nvPr/>
        </p:nvSpPr>
        <p:spPr>
          <a:xfrm>
            <a:off x="1028700" y="3429000"/>
            <a:ext cx="361950" cy="361950"/>
          </a:xfrm>
          <a:prstGeom prst="ellipse">
            <a:avLst/>
          </a:prstGeom>
          <a:solidFill>
            <a:srgbClr val="16A34A"/>
          </a:solidFill>
          <a:ln w="0">
            <a:solidFill>
              <a:srgbClr val="16A34A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C76BEA-0999-4E18-9D54-28F1E1F777DC}"/>
              </a:ext>
            </a:extLst>
          </p:cNvPr>
          <p:cNvSpPr>
            <a:spLocks noGrp="1"/>
          </p:cNvSpPr>
          <p:nvPr/>
        </p:nvSpPr>
        <p:spPr>
          <a:xfrm>
            <a:off x="1619250" y="3409950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Enter actual data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A96FECC-9C91-47F6-B465-FCA5312DD632}"/>
              </a:ext>
            </a:extLst>
          </p:cNvPr>
          <p:cNvSpPr>
            <a:spLocks noGrp="1"/>
          </p:cNvSpPr>
          <p:nvPr/>
        </p:nvSpPr>
        <p:spPr>
          <a:xfrm>
            <a:off x="4572000" y="3419475"/>
            <a:ext cx="628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5B647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B6474"/>
                </a:solidFill>
                <a:latin typeface="Aptos"/>
                <a:ea typeface="Aptos"/>
                <a:cs typeface="Aptos"/>
              </a:rPr>
              <a:t>Never copy unverified values.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86F1DD2-1264-4106-8E82-2D36D48109E8}"/>
              </a:ext>
            </a:extLst>
          </p:cNvPr>
          <p:cNvSpPr>
            <a:spLocks noGrp="1"/>
          </p:cNvSpPr>
          <p:nvPr/>
        </p:nvSpPr>
        <p:spPr>
          <a:xfrm>
            <a:off x="800100" y="4152900"/>
            <a:ext cx="10572750" cy="666750"/>
          </a:xfrm>
          <a:prstGeom prst="roundRect">
            <a:avLst>
              <a:gd name="adj" fmla="val 24286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209B422-C3AE-4EA7-BA41-579AABC55B2B}"/>
              </a:ext>
            </a:extLst>
          </p:cNvPr>
          <p:cNvSpPr>
            <a:spLocks noGrp="1"/>
          </p:cNvSpPr>
          <p:nvPr/>
        </p:nvSpPr>
        <p:spPr>
          <a:xfrm>
            <a:off x="1028700" y="4305300"/>
            <a:ext cx="361950" cy="361950"/>
          </a:xfrm>
          <a:prstGeom prst="ellipse">
            <a:avLst/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97376E5-09C4-454A-945A-8F64D057DD04}"/>
              </a:ext>
            </a:extLst>
          </p:cNvPr>
          <p:cNvSpPr>
            <a:spLocks noGrp="1"/>
          </p:cNvSpPr>
          <p:nvPr/>
        </p:nvSpPr>
        <p:spPr>
          <a:xfrm>
            <a:off x="1619250" y="4286250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Preview imports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8D3CACA-5B0C-46C8-8295-692C58F4B99E}"/>
              </a:ext>
            </a:extLst>
          </p:cNvPr>
          <p:cNvSpPr>
            <a:spLocks noGrp="1"/>
          </p:cNvSpPr>
          <p:nvPr/>
        </p:nvSpPr>
        <p:spPr>
          <a:xfrm>
            <a:off x="4572000" y="4295775"/>
            <a:ext cx="628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5B647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B6474"/>
                </a:solidFill>
                <a:latin typeface="Aptos"/>
                <a:ea typeface="Aptos"/>
                <a:cs typeface="Aptos"/>
              </a:rPr>
              <a:t>Resolve errors before confirming.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5CD0C8E-652C-4051-A6DD-4DD4B1B6DCCD}"/>
              </a:ext>
            </a:extLst>
          </p:cNvPr>
          <p:cNvSpPr>
            <a:spLocks noGrp="1"/>
          </p:cNvSpPr>
          <p:nvPr/>
        </p:nvSpPr>
        <p:spPr>
          <a:xfrm>
            <a:off x="800100" y="5029200"/>
            <a:ext cx="10572750" cy="666750"/>
          </a:xfrm>
          <a:prstGeom prst="roundRect">
            <a:avLst>
              <a:gd name="adj" fmla="val 24286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7156FD8-7BFC-476C-B607-72E0EF27D9A1}"/>
              </a:ext>
            </a:extLst>
          </p:cNvPr>
          <p:cNvSpPr>
            <a:spLocks noGrp="1"/>
          </p:cNvSpPr>
          <p:nvPr/>
        </p:nvSpPr>
        <p:spPr>
          <a:xfrm>
            <a:off x="1028700" y="5181600"/>
            <a:ext cx="361950" cy="361950"/>
          </a:xfrm>
          <a:prstGeom prst="ellipse">
            <a:avLst/>
          </a:prstGeom>
          <a:solidFill>
            <a:srgbClr val="EA580C"/>
          </a:solidFill>
          <a:ln w="0">
            <a:solidFill>
              <a:srgbClr val="EA580C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A31E727-4A7A-49A6-968E-532BD810D459}"/>
              </a:ext>
            </a:extLst>
          </p:cNvPr>
          <p:cNvSpPr>
            <a:spLocks noGrp="1"/>
          </p:cNvSpPr>
          <p:nvPr/>
        </p:nvSpPr>
        <p:spPr>
          <a:xfrm>
            <a:off x="1619250" y="5162550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Review after saving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2B25B63-17B7-46F7-8EC3-393CFD7FD508}"/>
              </a:ext>
            </a:extLst>
          </p:cNvPr>
          <p:cNvSpPr>
            <a:spLocks noGrp="1"/>
          </p:cNvSpPr>
          <p:nvPr/>
        </p:nvSpPr>
        <p:spPr>
          <a:xfrm>
            <a:off x="4572000" y="5172075"/>
            <a:ext cx="628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5B647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B6474"/>
                </a:solidFill>
                <a:latin typeface="Aptos"/>
                <a:ea typeface="Aptos"/>
                <a:cs typeface="Aptos"/>
              </a:rPr>
              <a:t>Verify the record while the work is fresh.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2A2DEB05-BFB1-4E95-B723-68DD51327296}"/>
              </a:ext>
            </a:extLst>
          </p:cNvPr>
          <p:cNvSpPr>
            <a:spLocks noGrp="1"/>
          </p:cNvSpPr>
          <p:nvPr/>
        </p:nvSpPr>
        <p:spPr>
          <a:xfrm>
            <a:off x="3048000" y="6096000"/>
            <a:ext cx="6096000" cy="438150"/>
          </a:xfrm>
          <a:prstGeom prst="roundRect">
            <a:avLst>
              <a:gd name="adj" fmla="val 39130"/>
            </a:avLst>
          </a:prstGeom>
          <a:solidFill>
            <a:srgbClr val="4F46E5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9C91E57-5043-4B5B-B87D-8B6DA6132147}"/>
              </a:ext>
            </a:extLst>
          </p:cNvPr>
          <p:cNvSpPr>
            <a:spLocks noGrp="1"/>
          </p:cNvSpPr>
          <p:nvPr/>
        </p:nvSpPr>
        <p:spPr>
          <a:xfrm>
            <a:off x="3314700" y="6200775"/>
            <a:ext cx="556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When unsure: stop, review, and ask the responsible supervisor or inspector.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57560A-5E9E-4809-AEF1-48263309DC66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438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Inspection Checksheet Recording System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783B46-D692-4D19-8F98-BA22051B001C}"/>
              </a:ext>
            </a:extLst>
          </p:cNvPr>
          <p:cNvSpPr>
            <a:spLocks noGrp="1"/>
          </p:cNvSpPr>
          <p:nvPr/>
        </p:nvSpPr>
        <p:spPr>
          <a:xfrm>
            <a:off x="11191875" y="64960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9222892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1833</Words>
  <Application>Microsoft Office PowerPoint</Application>
  <DocSecurity>0</DocSecurity>
  <PresentationFormat>Widescreen</PresentationFormat>
  <Paragraphs>315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Aptos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Llorrente  Jed Ian</cp:lastModifiedBy>
  <cp:revision>1</cp:revision>
  <dcterms:created xsi:type="dcterms:W3CDTF">2026-06-23T04:21:41Z</dcterms:created>
  <dcterms:modified xsi:type="dcterms:W3CDTF">2026-06-24T00:47:04Z</dcterms:modified>
</cp:coreProperties>
</file>