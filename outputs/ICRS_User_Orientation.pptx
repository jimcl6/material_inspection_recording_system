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bab32cb3046b1" /><Relationship Type="http://schemas.openxmlformats.org/officeDocument/2006/relationships/extended-properties" Target="/docProps/app.xml" Id="R086612fdf2654dc7" /><Relationship Type="http://schemas.openxmlformats.org/officeDocument/2006/relationships/officeDocument" Target="/ppt/presentation.xml" Id="Rbb125ca240d6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57604814674e5f"/>
  </p:sldMasterIdLst>
  <p:notesMasterIdLst>
    <p:notesMasterId xmlns:r="http://schemas.openxmlformats.org/officeDocument/2006/relationships" r:id="R52fc395af98a4dbf"/>
  </p:notesMasterIdLst>
  <p:sldIdLst>
    <p:sldId xmlns:r="http://schemas.openxmlformats.org/officeDocument/2006/relationships" id="256" r:id="Re2bed68a75a94dc5"/>
    <p:sldId xmlns:r="http://schemas.openxmlformats.org/officeDocument/2006/relationships" id="257" r:id="R6d047ae7c56c4d69"/>
    <p:sldId xmlns:r="http://schemas.openxmlformats.org/officeDocument/2006/relationships" id="258" r:id="Rcc65577275fd4d45"/>
    <p:sldId xmlns:r="http://schemas.openxmlformats.org/officeDocument/2006/relationships" id="259" r:id="Rc1772d104d6d43cc"/>
    <p:sldId xmlns:r="http://schemas.openxmlformats.org/officeDocument/2006/relationships" id="260" r:id="R74155957eee14521"/>
    <p:sldId xmlns:r="http://schemas.openxmlformats.org/officeDocument/2006/relationships" id="261" r:id="Rc6a7c27b53d04877"/>
    <p:sldId xmlns:r="http://schemas.openxmlformats.org/officeDocument/2006/relationships" id="262" r:id="Ra5b9aa14acf2416a"/>
    <p:sldId xmlns:r="http://schemas.openxmlformats.org/officeDocument/2006/relationships" id="263" r:id="R6bcf86fd8ad14b69"/>
    <p:sldId xmlns:r="http://schemas.openxmlformats.org/officeDocument/2006/relationships" id="264" r:id="Rf38fb0c8e4c449f6"/>
    <p:sldId xmlns:r="http://schemas.openxmlformats.org/officeDocument/2006/relationships" id="265" r:id="R0d3c3a26a2af429c"/>
    <p:sldId xmlns:r="http://schemas.openxmlformats.org/officeDocument/2006/relationships" id="266" r:id="R55b45e6b8a744865"/>
    <p:sldId xmlns:r="http://schemas.openxmlformats.org/officeDocument/2006/relationships" id="267" r:id="R556225ad504f44d8"/>
    <p:sldId xmlns:r="http://schemas.openxmlformats.org/officeDocument/2006/relationships" id="268" r:id="Rd3ea4306da844722"/>
    <p:sldId xmlns:r="http://schemas.openxmlformats.org/officeDocument/2006/relationships" id="269" r:id="R12e83ca86ecf4b09"/>
    <p:sldId xmlns:r="http://schemas.openxmlformats.org/officeDocument/2006/relationships" id="270" r:id="R41222bd0f12443bd"/>
    <p:sldId xmlns:r="http://schemas.openxmlformats.org/officeDocument/2006/relationships" id="271" r:id="Rbece60bd99704893"/>
    <p:sldId xmlns:r="http://schemas.openxmlformats.org/officeDocument/2006/relationships" id="272" r:id="Rd067d2aba5c74f6a"/>
    <p:sldId xmlns:r="http://schemas.openxmlformats.org/officeDocument/2006/relationships" id="273" r:id="R6970b68060a34d29"/>
    <p:sldId xmlns:r="http://schemas.openxmlformats.org/officeDocument/2006/relationships" id="274" r:id="R7ee5eb6dd25842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68797a0b04f88" /><Relationship Type="http://schemas.openxmlformats.org/officeDocument/2006/relationships/slideMaster" Target="/ppt/slideMasters/slideMaster1.xml" Id="R0e57604814674e5f" /><Relationship Type="http://schemas.openxmlformats.org/officeDocument/2006/relationships/notesMaster" Target="/ppt/notesMasters/notesMaster1.xml" Id="R52fc395af98a4dbf" /><Relationship Type="http://schemas.openxmlformats.org/officeDocument/2006/relationships/presProps" Target="/ppt/presProps.xml" Id="R2cbaee35174146d3" /><Relationship Type="http://schemas.openxmlformats.org/officeDocument/2006/relationships/tableStyles" Target="/ppt/tableStyles.xml" Id="R9929f9c860d841d3" /><Relationship Type="http://schemas.openxmlformats.org/officeDocument/2006/relationships/slide" Target="/ppt/slides/slide1.xml" Id="Re2bed68a75a94dc5" /><Relationship Type="http://schemas.openxmlformats.org/officeDocument/2006/relationships/slide" Target="/ppt/slides/slide2.xml" Id="R6d047ae7c56c4d69" /><Relationship Type="http://schemas.openxmlformats.org/officeDocument/2006/relationships/slide" Target="/ppt/slides/slide3.xml" Id="Rcc65577275fd4d45" /><Relationship Type="http://schemas.openxmlformats.org/officeDocument/2006/relationships/slide" Target="/ppt/slides/slide4.xml" Id="Rc1772d104d6d43cc" /><Relationship Type="http://schemas.openxmlformats.org/officeDocument/2006/relationships/slide" Target="/ppt/slides/slide5.xml" Id="R74155957eee14521" /><Relationship Type="http://schemas.openxmlformats.org/officeDocument/2006/relationships/slide" Target="/ppt/slides/slide6.xml" Id="Rc6a7c27b53d04877" /><Relationship Type="http://schemas.openxmlformats.org/officeDocument/2006/relationships/slide" Target="/ppt/slides/slide7.xml" Id="Ra5b9aa14acf2416a" /><Relationship Type="http://schemas.openxmlformats.org/officeDocument/2006/relationships/slide" Target="/ppt/slides/slide8.xml" Id="R6bcf86fd8ad14b69" /><Relationship Type="http://schemas.openxmlformats.org/officeDocument/2006/relationships/slide" Target="/ppt/slides/slide9.xml" Id="Rf38fb0c8e4c449f6" /><Relationship Type="http://schemas.openxmlformats.org/officeDocument/2006/relationships/slide" Target="/ppt/slides/slide10.xml" Id="R0d3c3a26a2af429c" /><Relationship Type="http://schemas.openxmlformats.org/officeDocument/2006/relationships/slide" Target="/ppt/slides/slide11.xml" Id="R55b45e6b8a744865" /><Relationship Type="http://schemas.openxmlformats.org/officeDocument/2006/relationships/slide" Target="/ppt/slides/slide12.xml" Id="R556225ad504f44d8" /><Relationship Type="http://schemas.openxmlformats.org/officeDocument/2006/relationships/slide" Target="/ppt/slides/slide13.xml" Id="Rd3ea4306da844722" /><Relationship Type="http://schemas.openxmlformats.org/officeDocument/2006/relationships/slide" Target="/ppt/slides/slide14.xml" Id="R12e83ca86ecf4b09" /><Relationship Type="http://schemas.openxmlformats.org/officeDocument/2006/relationships/slide" Target="/ppt/slides/slide15.xml" Id="R41222bd0f12443bd" /><Relationship Type="http://schemas.openxmlformats.org/officeDocument/2006/relationships/slide" Target="/ppt/slides/slide16.xml" Id="Rbece60bd99704893" /><Relationship Type="http://schemas.openxmlformats.org/officeDocument/2006/relationships/slide" Target="/ppt/slides/slide17.xml" Id="Rd067d2aba5c74f6a" /><Relationship Type="http://schemas.openxmlformats.org/officeDocument/2006/relationships/slide" Target="/ppt/slides/slide18.xml" Id="R6970b68060a34d29" /><Relationship Type="http://schemas.openxmlformats.org/officeDocument/2006/relationships/slide" Target="/ppt/slides/slide19.xml" Id="R7ee5eb6dd258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3fe26e2f941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4e748fa164d3b" /><Relationship Type="http://schemas.openxmlformats.org/officeDocument/2006/relationships/notesMaster" Target="/ppt/notesMasters/notesMaster1.xml" Id="Rc0ee99795cb5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30ea5051748cc" /><Relationship Type="http://schemas.openxmlformats.org/officeDocument/2006/relationships/notesMaster" Target="/ppt/notesMasters/notesMaster1.xml" Id="R8a4a5ec79cae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afcc8fad740e3" /><Relationship Type="http://schemas.openxmlformats.org/officeDocument/2006/relationships/notesMaster" Target="/ppt/notesMasters/notesMaster1.xml" Id="R5f3b9ef37dd648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f215ce0084aa6" /><Relationship Type="http://schemas.openxmlformats.org/officeDocument/2006/relationships/notesMaster" Target="/ppt/notesMasters/notesMaster1.xml" Id="Rf4e07efef9f7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c89ceda8d46d8" /><Relationship Type="http://schemas.openxmlformats.org/officeDocument/2006/relationships/notesMaster" Target="/ppt/notesMasters/notesMaster1.xml" Id="R19abb3e64e5f42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b7c3547024d64" /><Relationship Type="http://schemas.openxmlformats.org/officeDocument/2006/relationships/notesMaster" Target="/ppt/notesMasters/notesMaster1.xml" Id="R6c42d98aa6cd43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82248853d4cab" /><Relationship Type="http://schemas.openxmlformats.org/officeDocument/2006/relationships/notesMaster" Target="/ppt/notesMasters/notesMaster1.xml" Id="Rb5083cafa7a744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4b35c6aab248ee" /><Relationship Type="http://schemas.openxmlformats.org/officeDocument/2006/relationships/notesMaster" Target="/ppt/notesMasters/notesMaster1.xml" Id="R22fbea79e68e46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a2aa40d514476" /><Relationship Type="http://schemas.openxmlformats.org/officeDocument/2006/relationships/notesMaster" Target="/ppt/notesMasters/notesMaster1.xml" Id="R17a0686bd00c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e3680a45df4e78" /><Relationship Type="http://schemas.openxmlformats.org/officeDocument/2006/relationships/notesMaster" Target="/ppt/notesMasters/notesMaster1.xml" Id="Rd7561ae1cc9b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36440582594e69" /><Relationship Type="http://schemas.openxmlformats.org/officeDocument/2006/relationships/notesMaster" Target="/ppt/notesMasters/notesMaster1.xml" Id="R16be5e9a1ce146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8362a8bf994206" /><Relationship Type="http://schemas.openxmlformats.org/officeDocument/2006/relationships/notesMaster" Target="/ppt/notesMasters/notesMaster1.xml" Id="R00da25a702744e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16808c6c924399" /><Relationship Type="http://schemas.openxmlformats.org/officeDocument/2006/relationships/notesMaster" Target="/ppt/notesMasters/notesMaster1.xml" Id="R8e7f177caea74b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ea20d00d274bed" /><Relationship Type="http://schemas.openxmlformats.org/officeDocument/2006/relationships/notesMaster" Target="/ppt/notesMasters/notesMaster1.xml" Id="Rfe8eb22b371c4d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2401c277614b8c" /><Relationship Type="http://schemas.openxmlformats.org/officeDocument/2006/relationships/notesMaster" Target="/ppt/notesMasters/notesMaster1.xml" Id="R4ed3f02a26c249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08e5e3282a4d11" /><Relationship Type="http://schemas.openxmlformats.org/officeDocument/2006/relationships/notesMaster" Target="/ppt/notesMasters/notesMaster1.xml" Id="R803ead54bbb14d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cf83d8c1e743ff" /><Relationship Type="http://schemas.openxmlformats.org/officeDocument/2006/relationships/notesMaster" Target="/ppt/notesMasters/notesMaster1.xml" Id="R3515b7fb0c894e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6471f9ea0444e5" /><Relationship Type="http://schemas.openxmlformats.org/officeDocument/2006/relationships/notesMaster" Target="/ppt/notesMasters/notesMaster1.xml" Id="R54014a1417f545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dddf778779472a" /><Relationship Type="http://schemas.openxmlformats.org/officeDocument/2006/relationships/notesMaster" Target="/ppt/notesMasters/notesMaster1.xml" Id="R4c6e681703df4c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the group and explain that this session focuses on the daily operator and inspector workflow.</a:t>
            </a:r>
          </a:p>
          <a:p xmlns:a="http://schemas.openxmlformats.org/drawingml/2006/main">
            <a:r>
              <a:t>The screenshots are from the current ICRS interface with personal and production-sensitive details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a practical orientation, not a detailed system-administration session.</a:t>
            </a:r>
          </a:p>
          <a:p xmlns:a="http://schemas.openxmlformats.org/drawingml/2006/main">
            <a:r>
              <a:t>Tell participants they will complete two short practice tasks near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email and password fields.</a:t>
            </a:r>
          </a:p>
          <a:p xmlns:a="http://schemas.openxmlformats.org/drawingml/2006/main">
            <a:r>
              <a:t>Explain that Remember me is appropriate only for a device assigned to the user and protected by company policy.</a:t>
            </a:r>
          </a:p>
          <a:p xmlns:a="http://schemas.openxmlformats.org/drawingml/2006/main">
            <a:r>
              <a:t>If access fails, verify the email first, then contact the assigned system administrator.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is the safest place to return when unsure where to go.</a:t>
            </a:r>
          </a:p>
          <a:p xmlns:a="http://schemas.openxmlformats.org/drawingml/2006/main">
            <a:r>
              <a:t>The visible modules depend on the user's assigned access.</a:t>
            </a:r>
          </a:p>
          <a:p xmlns:a="http://schemas.openxmlformats.org/drawingml/2006/main">
            <a:r>
              <a:t>Use the top-right profile menu to review profile information or log 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sidebar from top to bottom and connect each module to the corresponding inspection process.</a:t>
            </a:r>
          </a:p>
          <a:p xmlns:a="http://schemas.openxmlformats.org/drawingml/2006/main">
            <a:r>
              <a:t>Annealing and Welding expand to show additional actions when the user has permission.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Permissions determine which modules and actions appear.</a:t>
            </a:r>
          </a:p>
          <a:p xmlns:a="http://schemas.openxmlformats.org/drawingml/2006/main">
            <a:r>
              <a:t>A missing Create, Edit, Import, Export, or Delete action normally means the account is not assigned that permission.</a:t>
            </a:r>
          </a:p>
          <a:p xmlns:a="http://schemas.openxmlformats.org/drawingml/2006/main">
            <a:r>
              <a:t>Never work around access rules by borrowing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mental model for the remainder of the training.</a:t>
            </a:r>
          </a:p>
          <a:p xmlns:a="http://schemas.openxmlformats.org/drawingml/2006/main">
            <a:r>
              <a:t>Most modules differ in their fields, but the overall find-create-review-update pattern is consistent.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Encourage users to search first to avoid duplicate records.</a:t>
            </a:r>
          </a:p>
          <a:p xmlns:a="http://schemas.openxmlformats.org/drawingml/2006/main">
            <a:r>
              <a:t>The available filters change by module—for example, machine number, driver model, line, type, or date.</a:t>
            </a:r>
          </a:p>
          <a:p xmlns:a="http://schemas.openxmlformats.org/drawingml/2006/main">
            <a:r>
              <a:t>Open and review the matching result before deciding to create a new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required-field asterisk.</a:t>
            </a:r>
          </a:p>
          <a:p xmlns:a="http://schemas.openxmlformats.org/drawingml/2006/main">
            <a:r>
              <a:t>Explain that the visible upper section is only part of the form; users must scroll to complete readings and remarks.</a:t>
            </a:r>
          </a:p>
          <a:p xmlns:a="http://schemas.openxmlformats.org/drawingml/2006/main">
            <a:r>
              <a:t>Values must come from the actual inspection source, not from memory or a previous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actions column and explain the difference between viewing, editing, and deleting.</a:t>
            </a:r>
          </a:p>
          <a:p xmlns:a="http://schemas.openxmlformats.org/drawingml/2006/main">
            <a:r>
              <a:t>If uncertain whether a record should be deleted, stop and ask the responsible supervisor or inspector.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 is never a one-click action.</a:t>
            </a:r>
          </a:p>
          <a:p xmlns:a="http://schemas.openxmlformats.org/drawingml/2006/main">
            <a:r>
              <a:t>Users upload a supported Excel file, preview the parsed rows, review new records, duplicates, and errors, then confirm.</a:t>
            </a:r>
          </a:p>
          <a:p xmlns:a="http://schemas.openxmlformats.org/drawingml/2006/main">
            <a:r>
              <a:t>If the preview looks wrong, cancel and fix the workbook rather than forcing the import.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repeat the full workflow three times; emphasize that these modules share the same list, filters, create form, details, and edit pattern.</a:t>
            </a:r>
          </a:p>
          <a:p xmlns:a="http://schemas.openxmlformats.org/drawingml/2006/main">
            <a:r>
              <a:t>The field names differ according to the inspection being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Magnetism differs from the simple one-form modules.</a:t>
            </a:r>
          </a:p>
          <a:p xmlns:a="http://schemas.openxmlformats.org/drawingml/2006/main">
            <a:r>
              <a:t>Start with the checksheet header, then work inside it to create production batches and enter checkpoints.</a:t>
            </a:r>
          </a:p>
          <a:p xmlns:a="http://schemas.openxmlformats.org/drawingml/2006/main">
            <a:r>
              <a:t>The current training database has no Magnetism checksheets, so the slide illustrates the live create screen and the verified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checksheet type and item code determine which fields and validation guidance apply.</a:t>
            </a:r>
          </a:p>
          <a:p xmlns:a="http://schemas.openxmlformats.org/drawingml/2006/main">
            <a:r>
              <a:t>Users should read the blue validation message before entering measurement data.</a:t>
            </a:r>
          </a:p>
          <a:p xmlns:a="http://schemas.openxmlformats.org/drawingml/2006/main">
            <a:r>
              <a:t>Continue below the visible area to complete samples, personnel, and remarks.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Type controls which sub-lot fields appear.</a:t>
            </a:r>
          </a:p>
          <a:p xmlns:a="http://schemas.openxmlformats.org/drawingml/2006/main">
            <a:r>
              <a:t>The letter code is generated by the system and should not be manually guessed.</a:t>
            </a:r>
          </a:p>
          <a:p xmlns:a="http://schemas.openxmlformats.org/drawingml/2006/main">
            <a:r>
              <a:t>Verify the main lot, quantity, operator, job number, and all visible sub-lot numbers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Slow down here; these are the habits that protect data quality.</a:t>
            </a:r>
          </a:p>
          <a:p xmlns:a="http://schemas.openxmlformats.org/drawingml/2006/main">
            <a:r>
              <a:t>Keep literal form semantics. A blank or not-recorded field is not automatically the same as zero.</a:t>
            </a:r>
          </a:p>
          <a:p xmlns:a="http://schemas.openxmlformats.org/drawingml/2006/main">
            <a:r>
              <a:t>For imports, the preview is the safety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three to four minutes.</a:t>
            </a:r>
          </a:p>
          <a:p xmlns:a="http://schemas.openxmlformats.org/drawingml/2006/main">
            <a:r>
              <a:t>If this is the production environment, demonstrate without clicking the final save button unless the trainer has authorized a controlled sample record.</a:t>
            </a:r>
          </a:p>
          <a:p xmlns:a="http://schemas.openxmlformats.org/drawingml/2006/main">
            <a:r>
              <a:t>Ask participants to point out the required fields and the final review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two to three minutes.</a:t>
            </a:r>
          </a:p>
          <a:p xmlns:a="http://schemas.openxmlformats.org/drawingml/2006/main">
            <a:r>
              <a:t>Provide a safe reference value that exists in the training environment.</a:t>
            </a:r>
          </a:p>
          <a:p xmlns:a="http://schemas.openxmlformats.org/drawingml/2006/main">
            <a:r>
              <a:t>The goal is correct identification and review, not editing.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participants to repeat the five habits.</a:t>
            </a:r>
          </a:p>
          <a:p xmlns:a="http://schemas.openxmlformats.org/drawingml/2006/main">
            <a:r>
              <a:t>Invite questions and identify the local contact person for access or data-quality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883d684d4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b18b0e13ad4344" /><Relationship Type="http://schemas.openxmlformats.org/officeDocument/2006/relationships/slideLayout" Target="/ppt/slideLayouts/slideLayout1.xml" Id="R6f8a9e7989e24b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8a9e7989e24b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dbd94055448bc" /><Relationship Type="http://schemas.openxmlformats.org/officeDocument/2006/relationships/image" Target="/ppt/media/image.jpeg" Id="R91588651a27043c0" /><Relationship Type="http://schemas.openxmlformats.org/officeDocument/2006/relationships/notesSlide" Target="/ppt/notesSlides/notesSlide1.xml" Id="Rf386bd974659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e93db0a7e4cb1" /><Relationship Type="http://schemas.openxmlformats.org/officeDocument/2006/relationships/notesSlide" Target="/ppt/notesSlides/notesSlide2.xml" Id="R37a5dd0000af43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023c45fe946dc" /><Relationship Type="http://schemas.openxmlformats.org/officeDocument/2006/relationships/image" Target="/ppt/media/image2.jpeg" Id="R2f257d1fddf047c4" /><Relationship Type="http://schemas.openxmlformats.org/officeDocument/2006/relationships/notesSlide" Target="/ppt/notesSlides/notesSlide3.xml" Id="R92e4a72fac6c43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e1fe9d3cb46ca" /><Relationship Type="http://schemas.openxmlformats.org/officeDocument/2006/relationships/image" Target="/ppt/media/image3.jpeg" Id="R74276be8bbab468d" /><Relationship Type="http://schemas.openxmlformats.org/officeDocument/2006/relationships/notesSlide" Target="/ppt/notesSlides/notesSlide4.xml" Id="Rcdc93b1a6209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a05e33c54fcf" /><Relationship Type="http://schemas.openxmlformats.org/officeDocument/2006/relationships/image" Target="/ppt/media/image4.jpeg" Id="Rf78cb71be8314863" /><Relationship Type="http://schemas.openxmlformats.org/officeDocument/2006/relationships/notesSlide" Target="/ppt/notesSlides/notesSlide5.xml" Id="R7c4c6f020ef640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8a5e09b2a471a" /><Relationship Type="http://schemas.openxmlformats.org/officeDocument/2006/relationships/image" Target="/ppt/media/image5.jpeg" Id="R9fea8c8d4d1c4ad3" /><Relationship Type="http://schemas.openxmlformats.org/officeDocument/2006/relationships/image" Target="/ppt/media/image6.jpeg" Id="Rae7c2c317c964036" /><Relationship Type="http://schemas.openxmlformats.org/officeDocument/2006/relationships/notesSlide" Target="/ppt/notesSlides/notesSlide6.xml" Id="R072edac8b16d4f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81b2afc11453a" /><Relationship Type="http://schemas.openxmlformats.org/officeDocument/2006/relationships/notesSlide" Target="/ppt/notesSlides/notesSlide7.xml" Id="R489df36886f0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f9f87eec640d6" /><Relationship Type="http://schemas.openxmlformats.org/officeDocument/2006/relationships/image" Target="/ppt/media/image7.jpeg" Id="R373747e433604f24" /><Relationship Type="http://schemas.openxmlformats.org/officeDocument/2006/relationships/notesSlide" Target="/ppt/notesSlides/notesSlide8.xml" Id="R8841fda2fb1c47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8041c13664654" /><Relationship Type="http://schemas.openxmlformats.org/officeDocument/2006/relationships/image" Target="/ppt/media/image8.jpeg" Id="R6a6c42d961ef48f8" /><Relationship Type="http://schemas.openxmlformats.org/officeDocument/2006/relationships/notesSlide" Target="/ppt/notesSlides/notesSlide9.xml" Id="R0ee8280e1edb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3da5cc429440a" /><Relationship Type="http://schemas.openxmlformats.org/officeDocument/2006/relationships/image" Target="/ppt/media/image9.jpeg" Id="R468cf43596824115" /><Relationship Type="http://schemas.openxmlformats.org/officeDocument/2006/relationships/notesSlide" Target="/ppt/notesSlides/notesSlide10.xml" Id="R8ed014a5dd64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e88dad02046b5" /><Relationship Type="http://schemas.openxmlformats.org/officeDocument/2006/relationships/image" Target="/ppt/media/image10.jpeg" Id="R71671dbcaef1402e" /><Relationship Type="http://schemas.openxmlformats.org/officeDocument/2006/relationships/notesSlide" Target="/ppt/notesSlides/notesSlide11.xml" Id="R3f8458b85333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73691b8c4225" /><Relationship Type="http://schemas.openxmlformats.org/officeDocument/2006/relationships/image" Target="/ppt/media/image11.jpeg" Id="R333480cbeb4f4d15" /><Relationship Type="http://schemas.openxmlformats.org/officeDocument/2006/relationships/image" Target="/ppt/media/image12.jpeg" Id="R179ea470be9b4179" /><Relationship Type="http://schemas.openxmlformats.org/officeDocument/2006/relationships/image" Target="/ppt/media/image13.jpeg" Id="R602e0da97efc4724" /><Relationship Type="http://schemas.openxmlformats.org/officeDocument/2006/relationships/notesSlide" Target="/ppt/notesSlides/notesSlide12.xml" Id="R11c9ee7008a04a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bd7e11f19450c" /><Relationship Type="http://schemas.openxmlformats.org/officeDocument/2006/relationships/image" Target="/ppt/media/image14.jpeg" Id="R2ba6a4f3f2f1481a" /><Relationship Type="http://schemas.openxmlformats.org/officeDocument/2006/relationships/notesSlide" Target="/ppt/notesSlides/notesSlide13.xml" Id="Ref63645b54aa4c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da47538049b5" /><Relationship Type="http://schemas.openxmlformats.org/officeDocument/2006/relationships/image" Target="/ppt/media/image15.jpeg" Id="Ra494236e01dc4bd6" /><Relationship Type="http://schemas.openxmlformats.org/officeDocument/2006/relationships/notesSlide" Target="/ppt/notesSlides/notesSlide14.xml" Id="R874a0fc5da9644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ecc410ddc4ac3" /><Relationship Type="http://schemas.openxmlformats.org/officeDocument/2006/relationships/image" Target="/ppt/media/image16.jpeg" Id="R691c5934930b4efe" /><Relationship Type="http://schemas.openxmlformats.org/officeDocument/2006/relationships/notesSlide" Target="/ppt/notesSlides/notesSlide15.xml" Id="Rc744096b63cd4a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a850cdd434346" /><Relationship Type="http://schemas.openxmlformats.org/officeDocument/2006/relationships/image" Target="/ppt/media/image17.jpeg" Id="Rdcfcba3d89a946f7" /><Relationship Type="http://schemas.openxmlformats.org/officeDocument/2006/relationships/notesSlide" Target="/ppt/notesSlides/notesSlide16.xml" Id="R5b570311481748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a5b1ee1ed43cd" /><Relationship Type="http://schemas.openxmlformats.org/officeDocument/2006/relationships/image" Target="/ppt/media/image18.jpeg" Id="R1442b237674847de" /><Relationship Type="http://schemas.openxmlformats.org/officeDocument/2006/relationships/notesSlide" Target="/ppt/notesSlides/notesSlide17.xml" Id="R90244d999a014f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087b2c3f143d3" /><Relationship Type="http://schemas.openxmlformats.org/officeDocument/2006/relationships/image" Target="/ppt/media/image19.jpeg" Id="R895214c66c2341f5" /><Relationship Type="http://schemas.openxmlformats.org/officeDocument/2006/relationships/notesSlide" Target="/ppt/notesSlides/notesSlide18.xml" Id="R0945845cc4264c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8527cd7b340ff" /><Relationship Type="http://schemas.openxmlformats.org/officeDocument/2006/relationships/notesSlide" Target="/ppt/notesSlides/notesSlide19.xml" Id="R9aab10850f4241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2E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88651a27043c0"/>
          <a:srcRect xmlns:a="http://schemas.openxmlformats.org/drawingml/2006/main" l="22802" t="0" r="2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81050"/>
            <a:ext cx="5048250" cy="5286375"/>
          </a:xfrm>
          <a:prstGeom xmlns:a="http://schemas.openxmlformats.org/drawingml/2006/main" prst="roundRect">
            <a:avLst>
              <a:gd name="adj" fmla="val 264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3CB57-C9BD-4668-B6F7-6CF93BC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48250" cy="5286375"/>
          </a:xfrm>
          <a:prstGeom xmlns:a="http://schemas.openxmlformats.org/drawingml/2006/main" prst="roundRect">
            <a:avLst>
              <a:gd name="adj" fmla="val 264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B47A4-2DA5-45CE-9A34-2EB7E710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847725"/>
            <a:ext cx="858203" cy="361950"/>
          </a:xfrm>
          <a:prstGeom xmlns:a="http://schemas.openxmlformats.org/drawingml/2006/main" prst="roundRect">
            <a:avLst>
              <a:gd name="adj" fmla="val 342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3444E-743C-4962-862B-0FA4961A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933450"/>
            <a:ext cx="76295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8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BA041-F0D8-4D7B-9958-520D5EB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62000"/>
            <a:ext cx="5086350" cy="5324475"/>
          </a:xfrm>
          <a:prstGeom xmlns:a="http://schemas.openxmlformats.org/drawingml/2006/main" prst="roundRect">
            <a:avLst>
              <a:gd name="adj" fmla="val 33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818C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A8B18-61A9-4004-B589-5E85C2BB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D2FE"/>
                </a:solidFill>
                <a:latin typeface="Aptos"/>
                <a:ea typeface="Aptos"/>
                <a:cs typeface="Aptos"/>
              </a:rPr>
              <a:t>ICRS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5C680-A807-4C92-81CF-F8E2D35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Using the Inspection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Checksheet Recording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8E935-1E90-405B-9D17-7A1C8B8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D2FE"/>
                </a:solidFill>
                <a:latin typeface="Aptos"/>
                <a:ea typeface="Aptos"/>
                <a:cs typeface="Aptos"/>
              </a:rPr>
              <a:t>Operator &amp; Inspector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66B5B-A243-4F6F-A5A2-42C9A869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0E7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0E7FF"/>
                </a:solidFill>
                <a:latin typeface="Aptos"/>
                <a:ea typeface="Aptos"/>
                <a:cs typeface="Aptos"/>
              </a:rPr>
              <a:t>A practical guide to finding, recording,</a:t>
            </a:r>
          </a:p>
          <a:p xmlns:a="http://schemas.openxmlformats.org/drawingml/2006/main">
            <a:pPr algn="l">
              <a:defRPr sz="1650" b="0">
                <a:solidFill>
                  <a:srgbClr val="E0E7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0E7FF"/>
                </a:solidFill>
                <a:latin typeface="Aptos"/>
                <a:ea typeface="Aptos"/>
                <a:cs typeface="Aptos"/>
              </a:rPr>
              <a:t>reviewing, and updating inspection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DC619-5C5D-4AB4-B8D2-84365B4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8575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A5B4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DE369-8DB9-42C4-BDC7-8501B70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578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20–25 minute guided session</a:t>
            </a:r>
          </a:p>
        </p:txBody>
      </p:sp>
    </p:spTree>
    <p:extLst>
      <p:ext uri="{BB962C8B-B14F-4D97-AF65-F5344CB8AC3E}">
        <p14:creationId xmlns:p14="http://schemas.microsoft.com/office/powerpoint/2010/main" val="1845267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54A72-EE3A-4037-B62A-D41BCA58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49DF0-A5C0-4594-BD5D-05A056A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you will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036AB-89F9-4A73-AA8B-0BAE6B88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51EA6-C66E-49F0-A2AF-6AFB2960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333750" cy="342900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1DD63-C2F1-4345-ABB3-6992A1B6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5262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14B71-310E-4AF1-B76A-15A6BB9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Navigate confidently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982F4-2BB8-4CC9-806C-2090D66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533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Move between the dashboard and the inspection modules.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5160A-AE8F-405D-A89A-EC362F07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57350"/>
            <a:ext cx="3333750" cy="342900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7C50C-9FDF-4AF6-9D5D-2ED92BB2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A34A"/>
                </a:solidFill>
              </a:defRPr>
            </a:pPr>
            <a:r>
              <a:rPr sz="3450" b="1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149DB-0E93-46C6-B7D4-9A30DD6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 correctly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27E99-4160-4BCF-8208-4F0BB152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71925"/>
            <a:ext cx="2533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Create a new record and recognize required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23883-9D03-4ED4-90B1-8BA61DF4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333750" cy="342900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F7922-454F-45F0-BC20-7720060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5262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A580C"/>
                </a:solidFill>
              </a:defRPr>
            </a:pPr>
            <a:r>
              <a:rPr sz="3450" b="1">
                <a:solidFill>
                  <a:srgbClr val="EA580C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89B2E-2593-4E1F-A5D2-136619E6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safely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5F3AC-CA66-4D11-A0A0-29A9DE6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71925"/>
            <a:ext cx="2533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Search, verify, update, import, and avoid common mistakes.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FB467-7BF2-4799-8626-37C79FE1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C96A7-31A5-4B40-AF70-4103E62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1894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C5445-BE34-4F20-82C8-47AED67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5FFCA-D2EE-4571-920B-F6753546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 in securely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00956-8E67-4829-AD00-DC9A231E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57d1fddf047c4"/>
          <a:srcRect xmlns:a="http://schemas.openxmlformats.org/drawingml/2006/main" l="1686" t="0" r="16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619125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9C8F8-FF47-49E8-8893-8C6A4267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4095750"/>
          </a:xfrm>
          <a:prstGeom xmlns:a="http://schemas.openxmlformats.org/drawingml/2006/main" prst="roundRect">
            <a:avLst>
              <a:gd name="adj" fmla="val 3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5786-0462-4C5E-8953-A55555D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4191000" cy="40957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EDD76-B6BB-4ADE-8625-FEB9558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FA7AC-1492-4769-8E61-E9BF206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your assigned email.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4692A-7D3E-4532-B6C2-2D41E7C8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1CE22-9660-45EC-B41D-B8962F13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955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your password.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D594E-EEA8-41FD-B614-C8ACAAA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0C811-FCE7-430B-87E7-69D67C9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“Remember me” only on an assigned device.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B7034-6FCF-4353-B235-70DAF5A8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38A03-97D7-4EF3-B785-24B030D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57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 Log 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A33FE-648E-4138-A21F-9D541D2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Never share credentials or save them on a public/shared computer.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2155A-D5F4-4996-84FB-5C721551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16681-39D7-40D7-8573-E3B681E3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7595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B0E23-C32B-430F-B0E7-EF72D0C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3982B-6620-48FA-BB65-00C2D594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Your starting point: the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3C350-3ECD-4B39-8391-34010971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76be8bbab468d"/>
          <a:srcRect xmlns:a="http://schemas.openxmlformats.org/drawingml/2006/main" l="0" t="18691" r="0" b="18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11049000" cy="4476750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41C60-73B3-4A32-9560-B17F297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4476750"/>
          </a:xfrm>
          <a:prstGeom xmlns:a="http://schemas.openxmlformats.org/drawingml/2006/main" prst="roundRect">
            <a:avLst>
              <a:gd name="adj" fmla="val 297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283DC-3146-4507-BDF6-F927A88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95425"/>
            <a:ext cx="1447800" cy="313373"/>
          </a:xfrm>
          <a:prstGeom xmlns:a="http://schemas.openxmlformats.org/drawingml/2006/main" prst="roundRect">
            <a:avLst>
              <a:gd name="adj" fmla="val 395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572BE-31C2-4AF9-A768-D61012D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811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AD8D8-712F-40CE-A098-AFF60A8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25C59-E165-496E-AD03-054F0C55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2CEA0-609C-417C-8D24-B2C9251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1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4DC67-62DE-4903-A596-78D9BB2F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9048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04FBC-573E-4850-AB6D-5991070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Sidebar navigation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9E7CE-7B3E-4CB6-9205-7274D0C2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5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 Module shortcuts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45241-27C8-46D6-BEF6-B122E6E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75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 Profile &amp; log 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346DD-CD8A-4701-86E8-9536CA6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6591E-6C7C-4440-AB76-380FCAA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181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5887A-4AE8-48F9-9C9B-E5111CE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C0779-A26B-47F9-B2E4-AD6D411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the sidebar to choose a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F0809-9DB7-4D64-BD8B-CE1759E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cb71be8314863"/>
          <a:srcRect xmlns:a="http://schemas.openxmlformats.org/drawingml/2006/main" l="8912" t="0" r="8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28750"/>
            <a:ext cx="6048375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6079-1A83-4758-AB49-A41E641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048375" cy="4762500"/>
          </a:xfrm>
          <a:prstGeom xmlns:a="http://schemas.openxmlformats.org/drawingml/2006/main" prst="roundRect">
            <a:avLst>
              <a:gd name="adj" fmla="val 2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D8229-A66D-482C-AD72-ADBBFDA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501" y="1495425"/>
            <a:ext cx="1028224" cy="333375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4E1D5-3562-457B-A0D3-6833EA4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701" y="1581150"/>
            <a:ext cx="93297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2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75589-F397-4343-AFC8-25FEDCC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62300"/>
            <a:ext cx="3981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2B8DF-342C-47CE-BAD9-3FDED048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Record data hidden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FCBA-481F-4F28-8C4B-BEECB8E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4552950" cy="4762500"/>
          </a:xfrm>
          <a:prstGeom xmlns:a="http://schemas.openxmlformats.org/drawingml/2006/main" prst="roundRect">
            <a:avLst>
              <a:gd name="adj" fmla="val 46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34708-69C0-4479-AECA-D690D95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7A074-6C2F-41D6-B1E8-481D2C2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Annealing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6720D-8BE9-4DA4-9CA2-53CF8D1C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B6B1D-6678-4F94-817F-21AC172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Temperature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BEC60-D668-4C50-B8AC-34CE7A4D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551B4-9B82-4FC3-9084-EA0D5D8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Torque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6E763-EDA8-4B63-9350-910B204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563C6-D510-4A6F-89AB-7C7751DF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Magnetism Checksheet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EC81B-0E8C-4EBF-834B-3D63B75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CFFB5-8D07-4C9E-B633-E8B1848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Welding Checksheet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6E0CC-70BD-49DC-8F9E-522C73C2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74118-EE9E-4C60-AC7A-0E336AE9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F481E-2585-4AAE-A342-397979A0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02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Tip: select Dashboard whenever you want to restart your navigation.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C2E38-B903-4EB9-9AA2-51B3116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A6BDD-99D5-451F-A90D-1AF37190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429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188F2-D4BE-469B-ABC1-4B144C18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1AB59-F15C-4B2C-9B28-018969A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Your screen follows your assigned permission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CCA0F-2987-4893-88EE-E59E89E1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a8c8d4d1c4ad3"/>
          <a:srcRect xmlns:a="http://schemas.openxmlformats.org/drawingml/2006/main" l="540" t="0" r="5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81150"/>
            <a:ext cx="5314950" cy="3476625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3C016-A8E6-41D2-83B7-C7ED1F3C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14950" cy="3476625"/>
          </a:xfrm>
          <a:prstGeom xmlns:a="http://schemas.openxmlformats.org/drawingml/2006/main" prst="roundRect">
            <a:avLst>
              <a:gd name="adj" fmla="val 38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08865-BF98-4D69-BA79-8F8910C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709" y="1647825"/>
            <a:ext cx="903542" cy="2433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B48F-6A31-4EAA-BF60-4267639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909" y="1733550"/>
            <a:ext cx="8082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5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c2c317c964036"/>
          <a:srcRect xmlns:a="http://schemas.openxmlformats.org/drawingml/2006/main" l="6459" t="0" r="6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581150"/>
            <a:ext cx="5314950" cy="3476625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B1BCD-B9A1-4BDE-A20E-C591D48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14950" cy="3476625"/>
          </a:xfrm>
          <a:prstGeom xmlns:a="http://schemas.openxmlformats.org/drawingml/2006/main" prst="roundRect">
            <a:avLst>
              <a:gd name="adj" fmla="val 38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B459D-FB90-42AD-B96B-8A3B4435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758" y="1647825"/>
            <a:ext cx="903542" cy="2433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455E7-A891-4E4E-9F51-C951CE6C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958" y="1733550"/>
            <a:ext cx="8082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5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BFE39-D034-4F20-BDD7-DF4C726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790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82841-C0E0-4783-BA24-7088624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Production records hidden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36AE7-9A51-4AEE-8AC6-BB10616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648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B7043-E8D1-41FB-9CE4-FF61698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80A64-6FD9-494D-B8AE-1482313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Daily inspection modules and only the actions assigned to you.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916AE-6791-491C-ABF7-69E70018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648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5B4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DB3E4-E1D1-4066-A590-00EA2FD0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Different 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FC3D0-66A5-4486-B517-3B76DA0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9590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May see additional menus or buttons. This is expected—not an error.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13723-B0FB-436F-B065-C38601B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483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If a required action is missing, request access—do not use another person’s account.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F50EE-B49C-4049-BF2C-B9FEC35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15EF5-0751-49E6-B9DD-BE1D6FF2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332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606AF-E275-42D0-9466-011A156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E73EC-A84E-4D8C-A0B2-5D62A61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same four-step workflow works across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881E6-33BC-4616-A8DC-43871A3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62513-3814-4B4C-9D9B-833C7B11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71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29CE6-AE1F-408D-9F77-FE009A4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571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55905-0334-499F-8CC1-A9A6FBB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2571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7DEE-05E4-4FE3-B355-C649A76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571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342E-466A-4B09-9879-067D710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Search or filter the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01BF8-AC9D-4A6C-88E5-3EFD2E2F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Enter the required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E87B5-63B9-48BF-B90E-0CCDB74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Check the saved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FE624-EA1C-4442-8B0A-D3B1409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Correct it only when permitted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EF38D-9EBF-4723-A00F-B685CA5D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191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10647-9834-422F-BDE2-9272E0C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52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Accuracy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7B8B6-20D7-44F6-A7A9-C53D561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560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 a final look before leaving the page. Correct item code, date, machine, quantity, readings, and responsible person.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BD737-A413-44B2-9270-B85D23E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C2559-D0B4-4787-B2CC-A192D68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3029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F43E3-B1C7-4D4C-9AC7-973687C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20EDA-1E98-438E-82CA-77B1808C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Find the correct record before creating another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E6B2E-C55B-4FDA-9ED0-54A54BA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747e433604f24"/>
          <a:srcRect xmlns:a="http://schemas.openxmlformats.org/drawingml/2006/main" l="0" t="20772" r="0" b="20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28750"/>
            <a:ext cx="11029950" cy="4171950"/>
          </a:xfrm>
          <a:prstGeom xmlns:a="http://schemas.openxmlformats.org/drawingml/2006/main" prst="roundRect">
            <a:avLst>
              <a:gd name="adj" fmla="val 319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07852-5228-4728-B4DC-B4584D8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1029950" cy="4171950"/>
          </a:xfrm>
          <a:prstGeom xmlns:a="http://schemas.openxmlformats.org/drawingml/2006/main" prst="roundRect">
            <a:avLst>
              <a:gd name="adj" fmla="val 319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E7D0-F2D7-4101-860E-44ADB48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95425"/>
            <a:ext cx="1447800" cy="292037"/>
          </a:xfrm>
          <a:prstGeom xmlns:a="http://schemas.openxmlformats.org/drawingml/2006/main" prst="roundRect">
            <a:avLst>
              <a:gd name="adj" fmla="val 4240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EE90E-D579-4974-97E7-24861592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811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2CF2F-9B53-46E4-BC33-17F455B1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29950" cy="2019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EF9FA-E495-46C4-B384-22C765E3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8494"/>
                </a:solidFill>
                <a:latin typeface="Aptos"/>
                <a:ea typeface="Aptos"/>
                <a:cs typeface="Aptos"/>
              </a:rPr>
              <a:t>Example record rows hidden for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5647D-AD61-4FD0-849E-9298D9A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DCA36-30DC-466D-BB18-E2FFD489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00725"/>
            <a:ext cx="290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Search for a model, item, person, or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28981-6CEF-482D-AD71-6A25395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9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65F12-B44B-403A-B856-EC7A4B0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007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date and module-specific filters.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A6310-B7B6-4C15-B01C-C8423F4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9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A2BC4-F155-4143-81A6-5AEBF60F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the matching row to review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B4574-1DE0-4DD3-A2DA-9B406768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87027-6792-4D9D-A96D-CD492E3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1344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A0CD9-3419-4415-A420-F9335562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422FD-16F5-4EC1-90DB-7930B467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 a record: complete required fields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31AE7-A060-4A1D-9D2D-5585008D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c42d961ef48f8"/>
          <a:srcRect xmlns:a="http://schemas.openxmlformats.org/drawingml/2006/main" l="0" t="4004" r="0" b="4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8001000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E5948-26F6-4B60-ABD5-5B01F9C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0" cy="4762500"/>
          </a:xfrm>
          <a:prstGeom xmlns:a="http://schemas.openxmlformats.org/drawingml/2006/main" prst="roundRect">
            <a:avLst>
              <a:gd name="adj" fmla="val 2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A6220-5ED1-468B-BEB8-4CC4AD3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1495425"/>
            <a:ext cx="1360170" cy="333375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B3ED5-2CD6-4DDE-9B43-5868543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1581150"/>
            <a:ext cx="1264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57C41-7D70-476A-8EA7-042C0B98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762250" cy="4762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484CA-551C-45D6-B156-EA879A2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AF376-7843-4A36-8DCA-7AB2576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192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73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 with fields marked 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CEE2C-A01F-4F6D-A8CA-F1A20C6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9B842-9C1C-44D2-8D7D-2D9C7E4D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43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the correct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55BE8-5B2F-4364-AFEF-DA169BEE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57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F71B3-7371-4BDE-BC5F-D366AB0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670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Match the equipment and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5A3D9-D549-466C-B4FD-8C0A889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89B2F-F88F-4F6E-9DC5-B0BB5639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814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readings exactly as measured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790EC-84B4-4D43-BE07-D2576BA6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95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Scroll to the bottom, review the full form, then save.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4D80A-8847-4D32-B14E-1109CEE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581EB-51BF-439B-895E-A403CDFB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5941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1FADC-7515-4F80-84BC-12615E2E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17318-17B6-4764-97D4-F4B61ADA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first; edit or delete only when appropriate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3887C-96BF-4F61-8E1E-5C50E43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cf43596824115"/>
          <a:srcRect xmlns:a="http://schemas.openxmlformats.org/drawingml/2006/main" l="2266" t="0" r="2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6858000" cy="4648200"/>
          </a:xfrm>
          <a:prstGeom xmlns:a="http://schemas.openxmlformats.org/drawingml/2006/main" prst="roundRect">
            <a:avLst>
              <a:gd name="adj" fmla="val 286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D6F09-1504-4FCF-97DE-F6318DE7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6858000" cy="4648200"/>
          </a:xfrm>
          <a:prstGeom xmlns:a="http://schemas.openxmlformats.org/drawingml/2006/main" prst="roundRect">
            <a:avLst>
              <a:gd name="adj" fmla="val 28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99746-CDF7-49EE-8E71-7DCD57A4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1495425"/>
            <a:ext cx="1165860" cy="325374"/>
          </a:xfrm>
          <a:prstGeom xmlns:a="http://schemas.openxmlformats.org/drawingml/2006/main" prst="roundRect">
            <a:avLst>
              <a:gd name="adj" fmla="val 380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D794-E69C-469F-9178-71C1185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81150"/>
            <a:ext cx="107061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C9F23-26CA-4D06-ACFB-A7B6C459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6858000" cy="240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3BA5E-AE6E-4F90-8B83-E4BF36D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Record values and names hidden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4A811-B234-4D95-94A6-E995219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28750"/>
            <a:ext cx="3829050" cy="4648200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A9E14-7BAD-4DCF-89D0-81CA7917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2575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FE41D-6AFA-4E9B-A32F-7FC2058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9A42E-B42C-40F7-A44F-57A9E37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574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Open the record and verify the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1952A-2C67-4218-AB2A-4504226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2575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A9339-4D88-4A10-8091-D5CCA771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EB80A-E9BB-4812-A58D-76235D8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Correct an authorized mistake; do not rewrite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60FC8-0D15-4445-A9DB-884501BE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32575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A6CF7-C869-44D5-BBF7-9A20EC0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C7A0A-29F8-45DA-BE37-B7F0BE2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339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only for an invalid or duplicate record, and confirm carefully.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17DF8-6761-4B17-AD59-BEE9A1B7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4"/>
                </a:solidFill>
                <a:latin typeface="Aptos"/>
                <a:ea typeface="Aptos"/>
                <a:cs typeface="Aptos"/>
              </a:rPr>
              <a:t>Actions may be hidden when your account does not have permission.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490E3-F96A-4219-A813-080C9F09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5209A-1A80-4A27-99C1-9C0BAAE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933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68FC02-508E-4FD5-841E-8E38D6D9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74564-956E-4E3C-8F0A-FF6C1332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Import safely: Upload → Preview → Confirm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782E-5479-471F-8C5D-4A35E9F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71dbcaef1402e"/>
          <a:srcRect xmlns:a="http://schemas.openxmlformats.org/drawingml/2006/main" l="829" t="0" r="8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7239000" cy="4705350"/>
          </a:xfrm>
          <a:prstGeom xmlns:a="http://schemas.openxmlformats.org/drawingml/2006/main" prst="roundRect">
            <a:avLst>
              <a:gd name="adj" fmla="val 283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3F23D-9722-41BD-8871-1D206B2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239000" cy="4705350"/>
          </a:xfrm>
          <a:prstGeom xmlns:a="http://schemas.openxmlformats.org/drawingml/2006/main" prst="roundRect">
            <a:avLst>
              <a:gd name="adj" fmla="val 28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C7CEE-F40A-48A0-A885-B08FB81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670" y="1495425"/>
            <a:ext cx="1230630" cy="329375"/>
          </a:xfrm>
          <a:prstGeom xmlns:a="http://schemas.openxmlformats.org/drawingml/2006/main" prst="roundRect">
            <a:avLst>
              <a:gd name="adj" fmla="val 375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A05CA-7480-4352-980C-93B3819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870" y="1581150"/>
            <a:ext cx="11353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89010-4143-4229-B71E-AC54301D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952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867F0-DFEE-4433-9F3C-B9C557E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952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E801C-62D6-49DE-A07C-8577E2E5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952750" cy="800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171450" tIns="47625" rIns="238125" bIns="47625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5F482-3371-4426-AE84-482492D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43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the correct template.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3B175-201E-4516-AA2E-882AE395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959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Read duplicate and error results before confirming.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FBD9C-1A55-42F6-8762-2677287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C1B8F-6D4B-4A01-B9C7-382A636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727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BF87D-CBC4-4E8E-BF9D-B9B897E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0B03A-1501-458D-A691-B0BF981D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Annealing, Temperature, and Torque use the shared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83BD6-685E-4792-90F8-22B1F2B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6FBF0-98C8-4071-AF87-3020C913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505200" cy="428625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480cbeb4f4d15"/>
          <a:srcRect xmlns:a="http://schemas.openxmlformats.org/drawingml/2006/main" l="0" t="11111" r="0" b="1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70F27-9847-43DD-9A1B-7760B27E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5A23C-76B7-4CD2-B1B1-478118F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555" y="1743075"/>
            <a:ext cx="550545" cy="1466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8D274-72B6-45AF-8FC3-0ECBF55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1828800"/>
            <a:ext cx="45529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15A9-566D-4F37-AEA1-3C1C7BE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38500" cy="819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20EE4-9C33-45A7-8505-06E097C9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Sample rows hidden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6941B-8696-4446-A64C-213C34E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ANNEALING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6FCE9-33E3-4990-B33E-9A29AEAB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Item, supplier lot, machine, temperature, and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684E0-7A44-42F0-9F63-4005B45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911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474"/>
                </a:solidFill>
                <a:latin typeface="Aptos"/>
                <a:ea typeface="Aptos"/>
                <a:cs typeface="Aptos"/>
              </a:rPr>
              <a:t>Search • Create • Review •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1E0DC-E0E6-4007-B5BD-6A980F5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505200" cy="428625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ea470be9b4179"/>
          <a:srcRect xmlns:a="http://schemas.openxmlformats.org/drawingml/2006/main" l="0" t="11111" r="0" b="1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FA34E-07DE-48E0-AA31-5A50C3E2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FF144-835A-4BED-B8C9-BEA5D86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1743075"/>
            <a:ext cx="550545" cy="1466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F96DE-9893-4924-A352-247DE414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905" y="1828800"/>
            <a:ext cx="45529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B06CD-1525-4E2F-9840-A63C81DB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238500" cy="819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114EF-4AFF-48B5-B78E-0E5C9B90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Sample rows hidden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04B1A-43C7-4FEF-B0C9-83EB3697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F8D0E-AA33-41B2-BB9A-BF6B8034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7675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Equipment, person in charge, AM/PM readings, and 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35F21-1E72-47BD-883C-6C03F0B8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911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474"/>
                </a:solidFill>
                <a:latin typeface="Aptos"/>
                <a:ea typeface="Aptos"/>
                <a:cs typeface="Aptos"/>
              </a:rPr>
              <a:t>Search • Create • Review •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7EFD0-B8B0-44DF-A6C9-663065E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505200" cy="428625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e0da97efc4724"/>
          <a:srcRect xmlns:a="http://schemas.openxmlformats.org/drawingml/2006/main" l="0" t="11111" r="0" b="1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9DC4D-151D-4154-8E52-CCDAA602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238500" cy="2095500"/>
          </a:xfrm>
          <a:prstGeom xmlns:a="http://schemas.openxmlformats.org/drawingml/2006/main" prst="roundRect">
            <a:avLst>
              <a:gd name="adj" fmla="val 63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0EC7A-9056-452B-8BF7-E1CBAD3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855" y="1743075"/>
            <a:ext cx="550545" cy="1466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1C2B9-0CEB-4B28-A553-5E8019F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055" y="1828800"/>
            <a:ext cx="45529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F2E5A-6A71-40EE-AE60-6AA7500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3238500" cy="819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9DD01-7688-48CE-A437-A490D80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Sample rows hidden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1062B-FAD6-455F-B96E-F671A3AC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TORQUE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97EAB-3177-413A-B0A0-C3CF210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Driver details, line, screw type, process, and readings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2B756-5F55-4332-BEE8-3E9CDBFB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911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474"/>
                </a:solidFill>
                <a:latin typeface="Aptos"/>
                <a:ea typeface="Aptos"/>
                <a:cs typeface="Aptos"/>
              </a:rPr>
              <a:t>Search • Create • Review • Update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05563-9EFC-4153-8DA1-9AC53238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6408F-ACA0-4344-AE5F-6AF443D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4634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F218D-54F7-4DA7-A2AB-9BCE0B5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91756-B2F1-443D-883A-BAEE966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Magnetism adds batches and inspection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073D7-8A60-4537-9C87-951655A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6a4f3f2f1481a"/>
          <a:srcRect xmlns:a="http://schemas.openxmlformats.org/drawingml/2006/main" l="5448" t="0" r="54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6572250" cy="4714875"/>
          </a:xfrm>
          <a:prstGeom xmlns:a="http://schemas.openxmlformats.org/drawingml/2006/main" prst="roundRect">
            <a:avLst>
              <a:gd name="adj" fmla="val 28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7CB5F-8D5C-433B-ABB5-068DDCD7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572250" cy="4714875"/>
          </a:xfrm>
          <a:prstGeom xmlns:a="http://schemas.openxmlformats.org/drawingml/2006/main" prst="roundRect">
            <a:avLst>
              <a:gd name="adj" fmla="val 282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88D86-507F-420C-A214-6F1174A7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1495425"/>
            <a:ext cx="1117283" cy="330041"/>
          </a:xfrm>
          <a:prstGeom xmlns:a="http://schemas.openxmlformats.org/drawingml/2006/main" prst="roundRect">
            <a:avLst>
              <a:gd name="adj" fmla="val 3751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D9BB4-AD22-4C0B-935F-AE21C0E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418" y="1581150"/>
            <a:ext cx="10220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8549B-2131-4C20-8087-2D96662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095750" cy="47148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BCA1-A0FA-43E0-B379-AEA2C90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333E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9333EA"/>
                </a:solidFill>
                <a:latin typeface="Aptos"/>
                <a:ea typeface="Aptos"/>
                <a:cs typeface="Aptos"/>
              </a:rPr>
              <a:t>Magnetism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5E866-B903-40D2-8862-1976424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21237-9D5A-4668-9745-CDD75811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 the checksheet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76873-041B-45ED-8BC1-35A1420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B5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FE676-C84F-4CEA-AFAD-6894E294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47E54-5A00-4507-AF29-6B57F685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 the production batch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6011D-8105-42F2-ACF8-FF0D576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B5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5CD23-36A2-410D-97C0-BFFA83E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3B118-BB77-4642-99F0-7870D12F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inspection checkpoints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98D31-E1D4-49BB-BE26-F8B86854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B5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2A265-CE19-42F5-92DB-8EF164D5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D0CFF-4973-4937-BBE4-513DA40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and review the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0BB8A-7A6F-455F-AA8A-BBA3E53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524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16BA3-33BF-4B2D-8FF6-63FED5B3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6007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333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33EA"/>
                </a:solidFill>
                <a:latin typeface="Aptos"/>
                <a:ea typeface="Aptos"/>
                <a:cs typeface="Aptos"/>
              </a:rPr>
              <a:t>One checksheet can contain multiple batches.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94D43-4438-4D97-9866-446D5AA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37650-AC5D-45F1-A478-49CBE59F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1666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D251D-7C94-449A-B0EA-D51BEFBE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D5AD3-6BA6-451E-8C92-4B52EC36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Welding is driven by checksheet type and item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64A26-D42D-4DEB-AC78-F711035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4236e01dc4bd6"/>
          <a:srcRect xmlns:a="http://schemas.openxmlformats.org/drawingml/2006/main" l="0" t="5590" r="0" b="5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8286750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6AFBA-73CA-44FD-B7F6-E6FEC00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8286750" cy="4762500"/>
          </a:xfrm>
          <a:prstGeom xmlns:a="http://schemas.openxmlformats.org/drawingml/2006/main" prst="roundRect">
            <a:avLst>
              <a:gd name="adj" fmla="val 2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AD9C-40F9-44E7-8A6A-03006A70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153" y="1495425"/>
            <a:ext cx="1408748" cy="333375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6DB50-7AE4-4314-9B7D-474A1B2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353" y="1581150"/>
            <a:ext cx="1313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1925-D392-481C-B71D-5AC9235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2552700" cy="47625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DD798-1D46-4FDF-A198-6958BC44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B4BAD-8251-4C82-B4C8-F7B3BC0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240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Choose the checksheet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DAFB0-4B4A-48A2-A663-286FF70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A4C40-83D6-4EF6-AD7F-B32C10A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66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 the correct item code.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0F921-EE0E-42AF-AAC2-6A040B5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7E973-87B1-4E74-B0BD-ABC89190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99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 the validation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F1A59-08C4-4D17-BD2E-5BF48B2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43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78CAC-9E83-4637-AEE0-819CD9C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52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Complete production and material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1762E-76BF-496D-BE93-8D35A52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76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50AB5-50BA-4E08-9F4C-520F3DB8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863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samples, personnel, and remarks.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BC9F2-9560-4665-8734-BA45F6CA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5B3BE-FE3F-4566-AA4F-952A9036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6960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A0A61-A766-4E7E-BCB3-BBC72D19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D40B6-A36E-4360-A6BE-2AB695CA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 Monitoring organizes main lots and sub-lots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5D8A4-2608-4A72-9150-B9BE4D7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5934930b4efe"/>
          <a:srcRect xmlns:a="http://schemas.openxmlformats.org/drawingml/2006/main" l="0" t="5557" r="0" b="55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8382000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C10E-9BFD-4B34-93A7-E49C13D7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382000" cy="4762500"/>
          </a:xfrm>
          <a:prstGeom xmlns:a="http://schemas.openxmlformats.org/drawingml/2006/main" prst="roundRect">
            <a:avLst>
              <a:gd name="adj" fmla="val 2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4B3C3-3D22-4541-9D9C-8E13D34B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495425"/>
            <a:ext cx="1424940" cy="333375"/>
          </a:xfrm>
          <a:prstGeom xmlns:a="http://schemas.openxmlformats.org/drawingml/2006/main" prst="roundRect">
            <a:avLst>
              <a:gd name="adj" fmla="val 3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BAB7-9747-4FC6-84E6-67930C8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581150"/>
            <a:ext cx="132969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D08A7-8E89-435E-A494-CEAA0534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2419350" cy="4762500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309C9-FAF8-4B9C-8F70-8282567D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6A2D-CA5B-4F15-90F7-13690BAD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022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 Material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EC32C-E3B3-494F-AF99-E7B5485A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15908-BD3A-48A9-9FB1-D64C3BA7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8127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the main 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24815-5C32-4565-810B-87682A6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018F7-89F9-4346-8976-6490D4E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623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1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Confirm the auto-generated letter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19305-FF3A-42D6-8064-3993CDD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24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FE582-A948-4934-89E3-4CC16A5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33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the displayed sub-lot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AE03B-5067-4A25-9760-FD1DB9D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4830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5B4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74270-DCBB-4A20-BB0F-E925E405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Sub-lot fields appear after Material Type is selected.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49291-D740-48C8-BD30-16E4F4E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4B3DF-9F5E-4348-9967-6A1F2DDD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6518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1E9A7-2AFE-41F7-900E-7A2F76A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ICRS USER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4A91E-0E24-40C9-A103-2D386C69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Prevent the mistakes that create bad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430BC-A377-436A-89E1-2168BC47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cba3d89a946f7"/>
          <a:srcRect xmlns:a="http://schemas.openxmlformats.org/drawingml/2006/main" l="7083" t="0" r="7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6191250" cy="46672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84389-0091-4C84-82C5-E69C212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466725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F6AF4-570E-4AA1-8129-950B089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1495425"/>
            <a:ext cx="1052513" cy="326708"/>
          </a:xfrm>
          <a:prstGeom xmlns:a="http://schemas.openxmlformats.org/drawingml/2006/main" prst="roundRect">
            <a:avLst>
              <a:gd name="adj" fmla="val 3790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C923-1F91-4344-8FCD-A9E71C2A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1581150"/>
            <a:ext cx="9572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0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A6D35-1A7B-4472-AA23-E8352846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4476750" cy="4667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BCFBF-C7BC-40FC-87CA-FD98113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716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CAD31-E9D4-438A-8D5E-DBF50B59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DO NOT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18D92-CFC6-4D71-BE45-F5DF625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526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 before searching for an existing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685CE-E3BB-4B0C-9C3E-72227C5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1AE97-8007-46DA-A61E-7692B86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DO 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4E8EB-5D7F-4289-827D-CDE758C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Ignore required fields or validation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4622-9C1C-45EE-AD20-10132F5D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D8693-07FA-4AA5-A059-D194099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99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DO NOT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758A5-2F94-465E-838D-AB00FF7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147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Confirm an import without reviewing duplicates and errors.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341CA-79F4-4318-B220-0D6B03BD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A4F22-B473-4AE1-ACF9-84804E6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DO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DB514-4161-42B7-8962-C53E9514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“0” when the instruction means blank or not recorded.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BB96C-94A0-45E7-9A63-959E4098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958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9EF90-5CD8-447B-90E1-DB9DAE72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72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F0D10-51BB-417F-859E-1EE88D1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768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the saved record before moving to the next task.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5F890-52B5-4A03-A828-7545BC7B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0AC99-5345-41E9-A985-3205A913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34286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312E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6E73F-760C-45A7-834F-BC946A2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D2FE"/>
                </a:solidFill>
                <a:latin typeface="Aptos"/>
                <a:ea typeface="Aptos"/>
                <a:cs typeface="Aptos"/>
              </a:rPr>
              <a:t>PRACTICE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4E10E-55C1-4736-A34B-E975D8D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 a sample Torque record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2b237674847de"/>
          <a:srcRect xmlns:a="http://schemas.openxmlformats.org/drawingml/2006/main" l="4325" t="0" r="4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781050"/>
            <a:ext cx="5334000" cy="4857750"/>
          </a:xfrm>
          <a:prstGeom xmlns:a="http://schemas.openxmlformats.org/drawingml/2006/main" prst="roundRect">
            <a:avLst>
              <a:gd name="adj" fmla="val 274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C473-0157-4C48-8AC3-F5BD741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81050"/>
            <a:ext cx="5334000" cy="4857750"/>
          </a:xfrm>
          <a:prstGeom xmlns:a="http://schemas.openxmlformats.org/drawingml/2006/main" prst="roundRect">
            <a:avLst>
              <a:gd name="adj" fmla="val 27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938C5-224D-4096-B2A7-95DE9B7C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847725"/>
            <a:ext cx="906780" cy="340043"/>
          </a:xfrm>
          <a:prstGeom xmlns:a="http://schemas.openxmlformats.org/drawingml/2006/main" prst="roundRect">
            <a:avLst>
              <a:gd name="adj" fmla="val 364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FC306-1D54-4020-80D9-8F82E76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0" y="933450"/>
            <a:ext cx="81153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15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B0D3-7257-4E5C-890C-49BEC9B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1435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5077F-0119-4F10-9429-0D97DD1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68108-27AD-41FD-962E-B3544D61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Torque Records → New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4F34A-A2D2-490F-AEBD-9282DB7C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A9EFC-1CCB-4A48-B924-59CB873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trainer’s sample date and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B4533-41E8-448B-ADAB-E0C42D57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BDE11-0B75-44E0-AD09-2396D473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 every required field.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33A98-8E0A-4DE7-BFB7-99F99750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FB64-5727-4709-8D81-866A38C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the form before saving.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B51B9-87E3-4025-A46B-0CA1041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514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8A8E7-5CC6-471E-87A7-783618F9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972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Expected result: a saved record that opens without validation errors.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B3610-84BE-4350-90CC-D5E43ACB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Use a trainer-approved sample only. Do not enter a fake record into production.</a:t>
            </a:r>
          </a:p>
        </p:txBody>
      </p:sp>
    </p:spTree>
    <p:extLst>
      <p:ext uri="{BB962C8B-B14F-4D97-AF65-F5344CB8AC3E}">
        <p14:creationId xmlns:p14="http://schemas.microsoft.com/office/powerpoint/2010/main" val="1160609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312E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AC963-CD9D-427B-B1B6-E75177A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D2FE"/>
                </a:solidFill>
                <a:latin typeface="Aptos"/>
                <a:ea typeface="Aptos"/>
                <a:cs typeface="Aptos"/>
              </a:rPr>
              <a:t>PRACTICE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DE0F4-81AD-45B6-9971-F150205A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Locate and review an existing record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214c66c2341f5"/>
          <a:srcRect xmlns:a="http://schemas.openxmlformats.org/drawingml/2006/main" l="6448" t="0" r="64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428750"/>
            <a:ext cx="5905500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CF394-77E9-40EF-A934-30B27902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5905500" cy="4333875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BD2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4DD41-7514-4747-848E-988DF02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0365" y="1495425"/>
            <a:ext cx="1003935" cy="303371"/>
          </a:xfrm>
          <a:prstGeom xmlns:a="http://schemas.openxmlformats.org/drawingml/2006/main" prst="roundRect">
            <a:avLst>
              <a:gd name="adj" fmla="val 408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39C46-2802-4BC1-8388-62A2EF0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565" y="1581150"/>
            <a:ext cx="90868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Operator / Inspector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1914B-0A5D-47D8-B7EF-E75C8B6B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905500" cy="2428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AF7AA-542F-484E-8C90-A18EB99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62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93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93A3"/>
                </a:solidFill>
                <a:latin typeface="Aptos"/>
                <a:ea typeface="Aptos"/>
                <a:cs typeface="Aptos"/>
              </a:rPr>
              <a:t>Training record details hidden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8B020-B6C5-409E-B09D-38C1668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466725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FA0C4-9707-4D72-9983-145908A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5E932-8FAE-4761-B7C0-86E32D39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the assigned inspection module.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FC2B2-95E1-4A80-9BB1-63E3A9D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38210-80EA-47D6-937E-7256AE5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 using the trainer’s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88D4-B90F-4814-B20B-8D135D7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BB2E5-EF84-4AB7-B58D-65DAB2D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the matching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49C1F-8639-4A7E-96B8-35FF5780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54B82-D5FB-438B-8641-1EAC663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 date, code/lot, equipment, values, and responsible person.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CEEC7-104F-4EDB-97AA-5C32B44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4667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34467-1E21-4344-9221-A1C425BA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Expected result: the correct record is identified and its key fields are verified.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79817-4C96-4FAF-AC33-D497EBD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6265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Do not edit the record during this exercise.</a:t>
            </a:r>
          </a:p>
        </p:txBody>
      </p:sp>
    </p:spTree>
    <p:extLst>
      <p:ext uri="{BB962C8B-B14F-4D97-AF65-F5344CB8AC3E}">
        <p14:creationId xmlns:p14="http://schemas.microsoft.com/office/powerpoint/2010/main" val="173116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D936D-CA32-4C0A-AAF9-A382E70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9FEE8-EEF9-430D-BFDE-F9BAF27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five habits of reliable ICRS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5EFFB-6D38-43E6-A491-09BD81DC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7B1D-1099-4719-8FE6-8ED5B49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572750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5C38-7A6F-41AA-9151-0AB3226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32AD6-5BCE-4876-ADB2-DB3B411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57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E2F61-3C3C-481C-ADD2-33460016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Avoid duplicate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DE3AF-F61D-435A-B8FD-148DE45C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0572750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64859-4956-4A29-AAE6-A7D17AC5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5A4B3-9474-42E5-96D8-3B09CBA0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 the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AD8C8-9E84-4DB3-A5A3-382FA3D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Follow required fields and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87679-BFDA-40D0-A604-0C28C927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572750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226E7-172C-463C-9C20-385546C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76BEA-0999-4E18-9D54-28F1E1F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actual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6FECC-9C91-47F6-B465-FCA5312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194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Never copy unverified values.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F1DD2-1264-4106-8E82-2D36D481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572750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9B422-C3AE-4EA7-BA41-579AABC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376E5-09C4-454A-945A-8F64D057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Preview imports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3CACA-5B0C-46C8-8295-692C58F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Resolve errors before confirming.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D0C8E-652C-4051-A6DD-4DD4B1B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0572750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56FD8-7BFC-476C-B607-72E0EF2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1E727-4A7A-49A6-968E-532BD81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after saving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25B63-17B7-46F7-8EC3-393CFD7F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720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4"/>
                </a:solidFill>
                <a:latin typeface="Aptos"/>
                <a:ea typeface="Aptos"/>
                <a:cs typeface="Aptos"/>
              </a:rPr>
              <a:t>Verify the record while the work is fresh.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DEB05-BFB1-4E95-B723-68DD5132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60960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91E57-5043-4B5B-B87D-8B6DA61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00775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unsure: stop, review, and ask the responsible supervisor or inspector.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7560A-5E9E-4809-AEF1-4826330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49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494"/>
                </a:solidFill>
                <a:latin typeface="Aptos"/>
                <a:ea typeface="Aptos"/>
                <a:cs typeface="Aptos"/>
              </a:rPr>
              <a:t>Inspection Checksheet Recording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83B46-D692-4D19-8F98-BA22051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92228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2026-06-23T04:21:41.2900000Z</dcterms:created>
  <dcterms:modified xsi:type="dcterms:W3CDTF">2026-06-23T04:21:41.2900000Z</dcterms:modified>
</coreProperties>
</file>